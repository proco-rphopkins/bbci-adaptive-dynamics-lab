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90285d8cf64bb8" /><Relationship Type="http://schemas.openxmlformats.org/officeDocument/2006/relationships/extended-properties" Target="/docProps/app.xml" Id="R92a754a51ba54e08" /><Relationship Type="http://schemas.openxmlformats.org/officeDocument/2006/relationships/officeDocument" Target="/ppt/presentation.xml" Id="R86512a0576434934" /></Relationships>
</file>

<file path=ppt/presentation.xml><?xml version="1.0" encoding="utf-8"?>
<p:presentation xmlns:p="http://schemas.openxmlformats.org/presentationml/2006/main">
  <p:sldMasterIdLst>
    <p:sldMasterId xmlns:r="http://schemas.openxmlformats.org/officeDocument/2006/relationships" id="2147483648" r:id="R0ddaf43175604562"/>
  </p:sldMasterIdLst>
  <p:notesMasterIdLst>
    <p:notesMasterId xmlns:r="http://schemas.openxmlformats.org/officeDocument/2006/relationships" r:id="Rf50f3dd4403b48c8"/>
  </p:notesMasterIdLst>
  <p:sldIdLst>
    <p:sldId xmlns:r="http://schemas.openxmlformats.org/officeDocument/2006/relationships" id="256" r:id="R4795e4699a3540b1"/>
    <p:sldId xmlns:r="http://schemas.openxmlformats.org/officeDocument/2006/relationships" id="257" r:id="R96752a5c110d4663"/>
    <p:sldId xmlns:r="http://schemas.openxmlformats.org/officeDocument/2006/relationships" id="258" r:id="R76a0f37f4796468c"/>
    <p:sldId xmlns:r="http://schemas.openxmlformats.org/officeDocument/2006/relationships" id="259" r:id="R718c8a50cc134c0e"/>
    <p:sldId xmlns:r="http://schemas.openxmlformats.org/officeDocument/2006/relationships" id="260" r:id="R43e3ec602f23470d"/>
    <p:sldId xmlns:r="http://schemas.openxmlformats.org/officeDocument/2006/relationships" id="261" r:id="R746e37362e63488b"/>
    <p:sldId xmlns:r="http://schemas.openxmlformats.org/officeDocument/2006/relationships" id="262" r:id="R3d676576b88e49c4"/>
    <p:sldId xmlns:r="http://schemas.openxmlformats.org/officeDocument/2006/relationships" id="263" r:id="Ra9e02a694210411c"/>
    <p:sldId xmlns:r="http://schemas.openxmlformats.org/officeDocument/2006/relationships" id="264" r:id="R7d81f2a1eb004a78"/>
    <p:sldId xmlns:r="http://schemas.openxmlformats.org/officeDocument/2006/relationships" id="265" r:id="R005f65b06b054466"/>
    <p:sldId xmlns:r="http://schemas.openxmlformats.org/officeDocument/2006/relationships" id="266" r:id="R345fd9681ab4465b"/>
    <p:sldId xmlns:r="http://schemas.openxmlformats.org/officeDocument/2006/relationships" id="267" r:id="R465ecfdde6af4c34"/>
    <p:sldId xmlns:r="http://schemas.openxmlformats.org/officeDocument/2006/relationships" id="268" r:id="Ra984d31611524eec"/>
    <p:sldId xmlns:r="http://schemas.openxmlformats.org/officeDocument/2006/relationships" id="269" r:id="R22b42d2d578e451d"/>
    <p:sldId xmlns:r="http://schemas.openxmlformats.org/officeDocument/2006/relationships" id="270" r:id="R69b1ec2bc5a644a0"/>
    <p:sldId xmlns:r="http://schemas.openxmlformats.org/officeDocument/2006/relationships" id="271" r:id="R0d5459b24cd94a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77c4d7697044fd" /><Relationship Type="http://schemas.openxmlformats.org/officeDocument/2006/relationships/slideMaster" Target="/ppt/slideMasters/slideMaster1.xml" Id="R0ddaf43175604562" /><Relationship Type="http://schemas.openxmlformats.org/officeDocument/2006/relationships/notesMaster" Target="/ppt/notesMasters/notesMaster1.xml" Id="Rf50f3dd4403b48c8" /><Relationship Type="http://schemas.openxmlformats.org/officeDocument/2006/relationships/presProps" Target="/ppt/presProps.xml" Id="Rf8b8bafcee2d44cd" /><Relationship Type="http://schemas.openxmlformats.org/officeDocument/2006/relationships/tableStyles" Target="/ppt/tableStyles.xml" Id="R6fbdb7923fe1457a" /><Relationship Type="http://schemas.openxmlformats.org/officeDocument/2006/relationships/slide" Target="/ppt/slides/slide1.xml" Id="R4795e4699a3540b1" /><Relationship Type="http://schemas.openxmlformats.org/officeDocument/2006/relationships/slide" Target="/ppt/slides/slide2.xml" Id="R96752a5c110d4663" /><Relationship Type="http://schemas.openxmlformats.org/officeDocument/2006/relationships/slide" Target="/ppt/slides/slide3.xml" Id="R76a0f37f4796468c" /><Relationship Type="http://schemas.openxmlformats.org/officeDocument/2006/relationships/slide" Target="/ppt/slides/slide4.xml" Id="R718c8a50cc134c0e" /><Relationship Type="http://schemas.openxmlformats.org/officeDocument/2006/relationships/slide" Target="/ppt/slides/slide5.xml" Id="R43e3ec602f23470d" /><Relationship Type="http://schemas.openxmlformats.org/officeDocument/2006/relationships/slide" Target="/ppt/slides/slide6.xml" Id="R746e37362e63488b" /><Relationship Type="http://schemas.openxmlformats.org/officeDocument/2006/relationships/slide" Target="/ppt/slides/slide7.xml" Id="R3d676576b88e49c4" /><Relationship Type="http://schemas.openxmlformats.org/officeDocument/2006/relationships/slide" Target="/ppt/slides/slide8.xml" Id="Ra9e02a694210411c" /><Relationship Type="http://schemas.openxmlformats.org/officeDocument/2006/relationships/slide" Target="/ppt/slides/slide9.xml" Id="R7d81f2a1eb004a78" /><Relationship Type="http://schemas.openxmlformats.org/officeDocument/2006/relationships/slide" Target="/ppt/slides/slide10.xml" Id="R005f65b06b054466" /><Relationship Type="http://schemas.openxmlformats.org/officeDocument/2006/relationships/slide" Target="/ppt/slides/slide11.xml" Id="R345fd9681ab4465b" /><Relationship Type="http://schemas.openxmlformats.org/officeDocument/2006/relationships/slide" Target="/ppt/slides/slide12.xml" Id="R465ecfdde6af4c34" /><Relationship Type="http://schemas.openxmlformats.org/officeDocument/2006/relationships/slide" Target="/ppt/slides/slide13.xml" Id="Ra984d31611524eec" /><Relationship Type="http://schemas.openxmlformats.org/officeDocument/2006/relationships/slide" Target="/ppt/slides/slide14.xml" Id="R22b42d2d578e451d" /><Relationship Type="http://schemas.openxmlformats.org/officeDocument/2006/relationships/slide" Target="/ppt/slides/slide15.xml" Id="R69b1ec2bc5a644a0" /><Relationship Type="http://schemas.openxmlformats.org/officeDocument/2006/relationships/slide" Target="/ppt/slides/slide16.xml" Id="R0d5459b24cd94a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7c67e0373a47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5f86ca2ebb4d07" /><Relationship Type="http://schemas.openxmlformats.org/officeDocument/2006/relationships/notesMaster" Target="/ppt/notesMasters/notesMaster1.xml" Id="R69e4a866d5d144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9aa80b662a4029" /><Relationship Type="http://schemas.openxmlformats.org/officeDocument/2006/relationships/notesMaster" Target="/ppt/notesMasters/notesMaster1.xml" Id="Ra70955a8b0c144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8e7ae8e9784f1d" /><Relationship Type="http://schemas.openxmlformats.org/officeDocument/2006/relationships/notesMaster" Target="/ppt/notesMasters/notesMaster1.xml" Id="R5303488341f343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904e6600cac4548" /><Relationship Type="http://schemas.openxmlformats.org/officeDocument/2006/relationships/notesMaster" Target="/ppt/notesMasters/notesMaster1.xml" Id="Rfc9672cd1e324e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4d5efddacf4980" /><Relationship Type="http://schemas.openxmlformats.org/officeDocument/2006/relationships/notesMaster" Target="/ppt/notesMasters/notesMaster1.xml" Id="R509e580ba14147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8dd1f56ad64735" /><Relationship Type="http://schemas.openxmlformats.org/officeDocument/2006/relationships/notesMaster" Target="/ppt/notesMasters/notesMaster1.xml" Id="R3a22356fdf2541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6ab0b3edc54e8b" /><Relationship Type="http://schemas.openxmlformats.org/officeDocument/2006/relationships/notesMaster" Target="/ppt/notesMasters/notesMaster1.xml" Id="R0cfca21b064d47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bebc58af084bef" /><Relationship Type="http://schemas.openxmlformats.org/officeDocument/2006/relationships/notesMaster" Target="/ppt/notesMasters/notesMaster1.xml" Id="R71ecc7d7fba046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c1e8c504584fdc" /><Relationship Type="http://schemas.openxmlformats.org/officeDocument/2006/relationships/notesMaster" Target="/ppt/notesMasters/notesMaster1.xml" Id="R7c1eb426f70344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9bf74abb3648d0" /><Relationship Type="http://schemas.openxmlformats.org/officeDocument/2006/relationships/notesMaster" Target="/ppt/notesMasters/notesMaster1.xml" Id="Rf97b02b9005c4c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e518fad95a4f34" /><Relationship Type="http://schemas.openxmlformats.org/officeDocument/2006/relationships/notesMaster" Target="/ppt/notesMasters/notesMaster1.xml" Id="Rfd436bdef5e54f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5f5f890a954b1a" /><Relationship Type="http://schemas.openxmlformats.org/officeDocument/2006/relationships/notesMaster" Target="/ppt/notesMasters/notesMaster1.xml" Id="R93857e6282794d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4c087524364b49" /><Relationship Type="http://schemas.openxmlformats.org/officeDocument/2006/relationships/notesMaster" Target="/ppt/notesMasters/notesMaster1.xml" Id="Rf4fbdd44f8c4492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2122dfab4b4793" /><Relationship Type="http://schemas.openxmlformats.org/officeDocument/2006/relationships/notesMaster" Target="/ppt/notesMasters/notesMaster1.xml" Id="Re342001ae0764a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f8c016893974151" /><Relationship Type="http://schemas.openxmlformats.org/officeDocument/2006/relationships/notesMaster" Target="/ppt/notesMasters/notesMaster1.xml" Id="Rfb0d4bf29f4847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e5acb8a0214e9f" /><Relationship Type="http://schemas.openxmlformats.org/officeDocument/2006/relationships/notesMaster" Target="/ppt/notesMasters/notesMaster1.xml" Id="Rb6223cd6421f4d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explains a research idea and the experiment built to challenge it. A brain–computer interface can measure activity, and a bidirectional system can also send a signal back. The question is whether information about the variety of brain activity helps that feedback support something useful. We tested a simplified computer model and updated the clinical literature through September 2026. The results are mixed in an informative way. This is a research program, and the simulation does not demonstrate a therapy for autistic people.</a:t>
            </a:r>
          </a:p>
          <a:p xmlns:a="http://schemas.openxmlformats.org/drawingml/2006/main">
            <a:r>
              <a:t/>
            </a:r>
          </a:p>
          <a:p xmlns:a="http://schemas.openxmlformats.org/drawingml/2006/main">
            <a:r>
              <a:t>Visual: AI-generated conceptual brain illustration created for this presentation. It is not a scan or an empirical connectivity map.</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starting point is a person’s priorities. A future intervention might be judged by a communication goal, sensory comfort or another outcome the participant chooses. Atypical brain activity is not automatically a problem to correct. Recent large-scale work also shows that heterogeneity depends on the scale at which we look. The practical implication is to measure individuals carefully and to develop the research with autistic partners. Our model uses an engineering task because it has no participants; that task must never be confused with a measure of wellbeing.</a:t>
            </a:r>
          </a:p>
          <a:p xmlns:a="http://schemas.openxmlformats.org/drawingml/2006/main">
            <a:r>
              <a:t/>
            </a:r>
          </a:p>
          <a:p xmlns:a="http://schemas.openxmlformats.org/drawingml/2006/main">
            <a:r>
              <a:t>[Sources]</a:t>
            </a:r>
          </a:p>
          <a:p xmlns:a="http://schemas.openxmlformats.org/drawingml/2006/main">
            <a:r>
              <a:t>- https://doi.org/10.1177/1362361318786721</a:t>
            </a:r>
          </a:p>
          <a:p xmlns:a="http://schemas.openxmlformats.org/drawingml/2006/main">
            <a:r>
              <a:t>- https://doi.org/10.1038/s44220-026-00656-y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entropy describes the predictability of short patterns in a signal. It does not score how healthy, intelligent or useful a brain is. Different complexity measures can even move in different directions in the same research setting. Our benchmark specifies one estimator, permutation entropy, and measures an independent task outcome. Think of a microphone: adding static makes a recording less predictable, but it does not improve the message. That analogy illustrates why a controller must know whether its measurement contains useful information or contamination.</a:t>
            </a:r>
          </a:p>
          <a:p xmlns:a="http://schemas.openxmlformats.org/drawingml/2006/main">
            <a:r>
              <a:t/>
            </a:r>
          </a:p>
          <a:p xmlns:a="http://schemas.openxmlformats.org/drawingml/2006/main">
            <a:r>
              <a:t>[Sources]</a:t>
            </a:r>
          </a:p>
          <a:p xmlns:a="http://schemas.openxmlformats.org/drawingml/2006/main">
            <a:r>
              <a:t>- https://doi.org/10.1103/PhysRevLett.88.174102</a:t>
            </a:r>
          </a:p>
          <a:p xmlns:a="http://schemas.openxmlformats.org/drawingml/2006/main">
            <a:r>
              <a:t>- https://doi.org/10.3389/fpsyt.2025.1505297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developments change how this research should be framed. Individual differences remain substantial, with more shared structure at some scales than others. New psychedelic research challenges the idea that a more varied signal is simply random disorder. And a recent autism stimulation trial reported a positive result for a specific protocol. These are useful developments, but they do not combine into proof of our proposed therapy. The bridge between a measured state, a feedback action and a meaningful outcome still has to be tested directly.</a:t>
            </a:r>
          </a:p>
          <a:p xmlns:a="http://schemas.openxmlformats.org/drawingml/2006/main">
            <a:r>
              <a:t/>
            </a:r>
          </a:p>
          <a:p xmlns:a="http://schemas.openxmlformats.org/drawingml/2006/main">
            <a:r>
              <a:t>[Sources]</a:t>
            </a:r>
          </a:p>
          <a:p xmlns:a="http://schemas.openxmlformats.org/drawingml/2006/main">
            <a:r>
              <a:t>- https://doi.org/10.1038/s44220-026-00656-y</a:t>
            </a:r>
          </a:p>
          <a:p xmlns:a="http://schemas.openxmlformats.org/drawingml/2006/main">
            <a:r>
              <a:t>- https://doi.org/10.1038/s41586-026-10910-z</a:t>
            </a:r>
          </a:p>
          <a:p xmlns:a="http://schemas.openxmlformats.org/drawingml/2006/main">
            <a:r>
              <a:t>- https://doi.org/10.1136/bmj-2025-086295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focuses on the added value of one ingredient. Rate feedback already responds to mean activity. We then add a calibrated entropy term and ask whether the circuit preserves a separate input signal more accurately. We do not tell the model that higher entropy is better. Instead, the target comes from an individual reference session, and the entropy term uses a measured local response to input. This is an exploratory engineering comparison. Its outcome cannot establish which state would be desirable for a real person.</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contains interacting excitatory and inhibitory populations. Their activity produces a measurement, which can include noise and an input-related artifact. The feedback rule uses activity and entropy errors to propose an input. Numerical constraints limit that input before it returns to the circuit. A separate readout, trained on a different session, checks task performance. The distinction is essential: making the measured statistic match a reference is not the same as improving the task. These units are dimensionless and do not specify a human stimulation setting.</a:t>
            </a:r>
          </a:p>
          <a:p xmlns:a="http://schemas.openxmlformats.org/drawingml/2006/main">
            <a:r>
              <a:t/>
            </a:r>
          </a:p>
          <a:p xmlns:a="http://schemas.openxmlformats.org/drawingml/2006/main">
            <a:r>
              <a:t>[Sources]</a:t>
            </a:r>
          </a:p>
          <a:p xmlns:a="http://schemas.openxmlformats.org/drawingml/2006/main">
            <a:r>
              <a:t>- https://doi.org/10.1016/S0006-3495(72)86068-5</a:t>
            </a:r>
          </a:p>
          <a:p xmlns:a="http://schemas.openxmlformats.org/drawingml/2006/main">
            <a:r>
              <a:t>- https://doi.org/10.1103/PhysRevLett.88.174102</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comparison needs more than a no-input control. Fixed input tests whether adaptation is necessary, although it receives a different calibration opportunity in this benchmark. Activity feedback tests a simpler adaptive explanation. Entropy alone shows what the additional term can do without rate correction. The combined strategy is the main experimental arm. Yoked replay uses another individual’s input sequence, so the complete group receives matched aggregate energy without each person’s current-state feedback. No single comparator settles every explanation; together they expose several important alternatives.</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study evaluates 24 synthetic individuals across three random seeds. Six nominal strategies produce 432 runs. Four additional stress conditions each compare three strategies, bringing the evaluation total to 1,296. Calibration and diagnostic simulations are additional. The uncertainty intervals resample synthetic individuals after averaging their seeds. They describe this chosen ensemble, not uncertainty in a human treatment effect. The project also includes reproducibility checks and a notebook, so the result can be inspected and challenged rather than accepted from a figure alone.</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deliberately clean measurement condition, adding entropy reduced the average continuous tracking error by about four and a half model units relative to activity feedback. The synthetic-ensemble interval was below zero. That improvement came with greater input energy. The fixed-input comparator had a lower mean error than either adaptive approach, although it had been calibrated on the disturbance distribution. This is evidence of conditional performance in a defined model. It is not a percentage improvement in a symptom score, and it does not establish that adaptive control is generally better.</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result that prevents an overly positive interpretation. A fresh unperturbed session reached about 80 percent accuracy on the simple binary task. Under disturbance, both activity and combined feedback were close to 50 percent. The entropy term improved the continuous readout’s error without restoring useful sign decisions. A linear readout can change its offset or scale while making almost the same choices. Reporting only the favorable tracking score would therefore hide a major limitation. We need both measures to understand what the controller actually accomplished.</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horizontal intervals show the extra effect of the entropy term under different observation conditions. Clean measurements favor the combined rule. With added sensor noise, the sign reverses and the combined rule has higher tracking error. Extra delay and an input-related artifact produce intervals that cross zero. These conditions were tested separately, so they are not a complete model of real recordings. The lesson is practical: a controller can respond to contamination in its measurement. Reliable sensing and a way to abstain when uncertain are part of the hypothesis, not optional refinements.</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includes an optional plasticity rule, which changes connection weights according to recent activity. This is more explicit than simply forcing two traces to become similar. However, the rule also contains an imposed relaxation toward the original weights. In a verification example, washout follows the expected decay almost exactly. That is a successful software check, but it is not evidence of lasting biological rewiring. A stronger learning claim would require an independent task improvement that persists beyond the imposed adaptation dynamics and is supported by an appropriate biological model.</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lab lets you rotate a cortical surface, inspect synthetic populations and compare strategies. You can change measurement noise or feedback delay, rerun the same model and look at the task outcome as well as the animation. The anatomical surface is a real public template, but the connections and activity are simulated and are not a patient brain map. The artwork on this slide is conceptual; the live application contains the interactive cortical mesh. The Python package remains the main reproducible scientific record, with the browser serving as an exploratory view.</a:t>
            </a:r>
          </a:p>
          <a:p xmlns:a="http://schemas.openxmlformats.org/drawingml/2006/main">
            <a:r>
              <a:t/>
            </a:r>
          </a:p>
          <a:p xmlns:a="http://schemas.openxmlformats.org/drawingml/2006/main">
            <a:r>
              <a:t>Slide artwork is AI-generated and is not a screenshot of the application.</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empirical step should establish whether a candidate measurement is useful for an individual across time and context. It should be designed with autistic participants, with a prospectively agreed outcome and a clear way to stop if the measurement is uninformative. Model fitting would then need realistic sensing and actuation, along with comparisons against simpler controllers. A clinically governed intervention study would be a later, separate step. This sequence is a proposed research agenda, not an approved protocol, and the current simulation provides no device settings or treatment regimen.</a:t>
            </a:r>
          </a:p>
          <a:p xmlns:a="http://schemas.openxmlformats.org/drawingml/2006/main">
            <a:r>
              <a:t/>
            </a:r>
          </a:p>
          <a:p xmlns:a="http://schemas.openxmlformats.org/drawingml/2006/main">
            <a:r>
              <a:t>[Sources]</a:t>
            </a:r>
          </a:p>
          <a:p xmlns:a="http://schemas.openxmlformats.org/drawingml/2006/main">
            <a:r>
              <a:t>- https://doi.org/10.1177/1362361318786721</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selected entry points into the evidence and methods. The complete manuscript contains 22 references and the research package includes a BibTeX file and an evidence ledger describing what each source can and cannot support. The literature update used Consensus discovery followed by record retrieval and primary-source checking. It was a targeted narrative update, not a systematic review. The model findings are new synthetic outputs from the accompanying code and should be assessed separately from the clinical literature.</a:t>
            </a:r>
          </a:p>
          <a:p xmlns:a="http://schemas.openxmlformats.org/drawingml/2006/main">
            <a:r>
              <a:t/>
            </a:r>
          </a:p>
          <a:p xmlns:a="http://schemas.openxmlformats.org/drawingml/2006/main">
            <a:r>
              <a:t>[Sources]</a:t>
            </a:r>
          </a:p>
          <a:p xmlns:a="http://schemas.openxmlformats.org/drawingml/2006/main">
            <a:r>
              <a:t>- https://doi.org/10.1038/s44220-026-00656-y</a:t>
            </a:r>
          </a:p>
          <a:p xmlns:a="http://schemas.openxmlformats.org/drawingml/2006/main">
            <a:r>
              <a:t>- https://doi.org/10.1038/s41586-026-10910-z</a:t>
            </a:r>
          </a:p>
          <a:p xmlns:a="http://schemas.openxmlformats.org/drawingml/2006/main">
            <a:r>
              <a:t>- https://doi.org/10.1136/bmj-2025-086295</a:t>
            </a:r>
          </a:p>
          <a:p xmlns:a="http://schemas.openxmlformats.org/drawingml/2006/main">
            <a:r>
              <a:t>- https://doi.org/10.3389/fpsyt.2025.1505297</a:t>
            </a:r>
          </a:p>
          <a:p xmlns:a="http://schemas.openxmlformats.org/drawingml/2006/main">
            <a:r>
              <a:t>- https://doi.org/10.1016/S0006-3495(72)86068-5</a:t>
            </a:r>
          </a:p>
          <a:p xmlns:a="http://schemas.openxmlformats.org/drawingml/2006/main">
            <a:r>
              <a:t>- https://doi.org/10.1103/PhysRevLett.88.174102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question was whether a more informative feedback loop could support a useful outcome. Our answer is conditional: entropy helped one score under clean observation, but did not restore the task and became counterproductive with greater measurement noise. That result improves the research question by making its assumptions visible. The way forward is to test reliable individual measurements, compare against simpler approaches and use outcomes chosen with the people the research hopes to support. The code and interactive model make those questions concrete enough to challenge.</a:t>
            </a:r>
          </a:p>
          <a:p xmlns:a="http://schemas.openxmlformats.org/drawingml/2006/main">
            <a:r>
              <a:t/>
            </a:r>
          </a:p>
          <a:p xmlns:a="http://schemas.openxmlformats.org/drawingml/2006/main">
            <a:r>
              <a:t>[Sources]</a:t>
            </a:r>
          </a:p>
          <a:p xmlns:a="http://schemas.openxmlformats.org/drawingml/2006/main">
            <a:r>
              <a:t>- https://bbci-entropic-research-lab.ryan-hopkins.chatgpt.site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9cdc84776a4b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fab9ffa27a4909" /><Relationship Type="http://schemas.openxmlformats.org/officeDocument/2006/relationships/slideLayout" Target="/ppt/slideLayouts/slideLayout1.xml" Id="R32c133c73c6d4e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c133c73c6d4e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2f1577c3f64585" /><Relationship Type="http://schemas.openxmlformats.org/officeDocument/2006/relationships/image" Target="/ppt/media/image.png" Id="Rd171b5a3424d4687" /><Relationship Type="http://schemas.openxmlformats.org/officeDocument/2006/relationships/notesSlide" Target="/ppt/notesSlides/notesSlide1.xml" Id="R65a5961de86649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b0d3b568f14652" /><Relationship Type="http://schemas.openxmlformats.org/officeDocument/2006/relationships/notesSlide" Target="/ppt/notesSlides/notesSlide2.xml" Id="R4d34f91508794a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4480209c03544c0" /><Relationship Type="http://schemas.openxmlformats.org/officeDocument/2006/relationships/notesSlide" Target="/ppt/notesSlides/notesSlide3.xml" Id="Rb68661bc27174c5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1a70f3735f4646" /><Relationship Type="http://schemas.openxmlformats.org/officeDocument/2006/relationships/notesSlide" Target="/ppt/notesSlides/notesSlide4.xml" Id="R266c179f0bbb4b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da3677f2fb4ed2" /><Relationship Type="http://schemas.openxmlformats.org/officeDocument/2006/relationships/notesSlide" Target="/ppt/notesSlides/notesSlide5.xml" Id="R10cb03392e804a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59e04a8ce73411d" /><Relationship Type="http://schemas.openxmlformats.org/officeDocument/2006/relationships/notesSlide" Target="/ppt/notesSlides/notesSlide6.xml" Id="R04183debefd14e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54cfb70a4d0447f" /><Relationship Type="http://schemas.openxmlformats.org/officeDocument/2006/relationships/notesSlide" Target="/ppt/notesSlides/notesSlide7.xml" Id="Rc8a1315a6d2547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cc8dc0579324bc9" /><Relationship Type="http://schemas.openxmlformats.org/officeDocument/2006/relationships/notesSlide" Target="/ppt/notesSlides/notesSlide8.xml" Id="R09db6a2100af42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0a16f2fe9584db5" /><Relationship Type="http://schemas.openxmlformats.org/officeDocument/2006/relationships/notesSlide" Target="/ppt/notesSlides/notesSlide9.xml" Id="R43cc0220df9b43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bb58f30e3d431d" /><Relationship Type="http://schemas.openxmlformats.org/officeDocument/2006/relationships/notesSlide" Target="/ppt/notesSlides/notesSlide10.xml" Id="Rb0899505bc2c49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072479fa664723" /><Relationship Type="http://schemas.openxmlformats.org/officeDocument/2006/relationships/image" Target="/ppt/media/image2.png" Id="Raa5facda66b14fa3" /><Relationship Type="http://schemas.openxmlformats.org/officeDocument/2006/relationships/notesSlide" Target="/ppt/notesSlides/notesSlide11.xml" Id="R6bb73646dc404d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689186fb71455c" /><Relationship Type="http://schemas.openxmlformats.org/officeDocument/2006/relationships/notesSlide" Target="/ppt/notesSlides/notesSlide12.xml" Id="Ree28b565e5864b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ce4e5dbb27f424b" /><Relationship Type="http://schemas.openxmlformats.org/officeDocument/2006/relationships/image" Target="/ppt/media/image3.png" Id="Rc1bd99c047c54724" /><Relationship Type="http://schemas.openxmlformats.org/officeDocument/2006/relationships/hyperlink" Target="https://bbci-entropic-research-lab.ryan-hopkins.chatgpt.site" TargetMode="External" Id="R7f86f803c8bc4a6a" /><Relationship Type="http://schemas.openxmlformats.org/officeDocument/2006/relationships/notesSlide" Target="/ppt/notesSlides/notesSlide13.xml" Id="Rec2c29f00f5f4f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327fac0b81743f2" /><Relationship Type="http://schemas.openxmlformats.org/officeDocument/2006/relationships/notesSlide" Target="/ppt/notesSlides/notesSlide14.xml" Id="Rcefdeb9c297d4f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25c1b4d6c0b4e34" /><Relationship Type="http://schemas.openxmlformats.org/officeDocument/2006/relationships/hyperlink" Target="https://doi.org/10.1038/s44220-026-00656-y" TargetMode="External" Id="R2e9645ea3555453d" /><Relationship Type="http://schemas.openxmlformats.org/officeDocument/2006/relationships/hyperlink" Target="https://doi.org/10.1038/s41586-026-10910-z" TargetMode="External" Id="R57c381d68c094e53" /><Relationship Type="http://schemas.openxmlformats.org/officeDocument/2006/relationships/hyperlink" Target="https://doi.org/10.1136/bmj-2025-086295" TargetMode="External" Id="R2c286ecefefa4c67" /><Relationship Type="http://schemas.openxmlformats.org/officeDocument/2006/relationships/hyperlink" Target="https://doi.org/10.3389/fpsyt.2025.1505297" TargetMode="External" Id="R1561ab63ae6d40a4" /><Relationship Type="http://schemas.openxmlformats.org/officeDocument/2006/relationships/hyperlink" Target="https://doi.org/10.1016/S0006-3495(72)86068-5" TargetMode="External" Id="Re2b8f7d85f09451d" /><Relationship Type="http://schemas.openxmlformats.org/officeDocument/2006/relationships/hyperlink" Target="https://doi.org/10.1103/PhysRevLett.88.174102" TargetMode="External" Id="R31d5d5ecaa7e468c" /><Relationship Type="http://schemas.openxmlformats.org/officeDocument/2006/relationships/notesSlide" Target="/ppt/notesSlides/notesSlide15.xml" Id="Rd3dd6a845f1244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d659b3689a348ef" /><Relationship Type="http://schemas.openxmlformats.org/officeDocument/2006/relationships/notesSlide" Target="/ppt/notesSlides/notesSlide16.xml" Id="R8a844e348bf64cc0" /></Relationships>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171b5a3424d468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4507080-B1DE-4507-B9ED-6A646E8FEF40}"/>
              </a:ext>
            </a:extLst>
          </p:cNvPr>
          <p:cNvSpPr>
            <a:spLocks xmlns:a="http://schemas.openxmlformats.org/drawingml/2006/main" noGrp="1"/>
          </p:cNvSpPr>
          <p:nvPr/>
        </p:nvSpPr>
        <p:spPr>
          <a:xfrm xmlns:a="http://schemas.openxmlformats.org/drawingml/2006/main">
            <a:off x="609600" y="4857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89D8DB"/>
                </a:solidFill>
                <a:latin typeface="Aptos"/>
                <a:ea typeface="Aptos"/>
                <a:cs typeface="Aptos"/>
              </a:defRPr>
            </a:pPr>
            <a:r>
              <a:rPr sz="1350" b="1">
                <a:solidFill>
                  <a:srgbClr val="89D8DB"/>
                </a:solidFill>
                <a:latin typeface="Aptos"/>
                <a:ea typeface="Aptos"/>
                <a:cs typeface="Aptos"/>
              </a:rPr>
              <a:t>RYAN HOPKINS / SEPTEMBER 2026</a:t>
            </a:r>
          </a:p>
        </p:txBody>
      </p:sp>
      <p:sp>
        <p:nvSpPr>
          <p:cNvPr id="3" name="">
            <a:extLst xmlns:a="http://schemas.openxmlformats.org/drawingml/2006/main">
              <a:ext uri="{FF2B5EF4-FFF2-40B4-BE49-F238E27FC236}">
                <a16:creationId xmlns:a16="http://schemas.microsoft.com/office/drawing/2014/main" id="{5F2E8C5D-72F8-4121-A68F-CA23A6039064}"/>
              </a:ext>
            </a:extLst>
          </p:cNvPr>
          <p:cNvSpPr>
            <a:spLocks xmlns:a="http://schemas.openxmlformats.org/drawingml/2006/main" noGrp="1"/>
          </p:cNvSpPr>
          <p:nvPr/>
        </p:nvSpPr>
        <p:spPr>
          <a:xfrm xmlns:a="http://schemas.openxmlformats.org/drawingml/2006/main">
            <a:off x="609600" y="1647825"/>
            <a:ext cx="5857875"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75" b="1">
                <a:solidFill>
                  <a:srgbClr val="F8FBFF"/>
                </a:solidFill>
                <a:latin typeface="Aptos"/>
                <a:ea typeface="Aptos"/>
                <a:cs typeface="Aptos"/>
              </a:defRPr>
            </a:pPr>
            <a:r>
              <a:rPr sz="5175" b="1">
                <a:solidFill>
                  <a:srgbClr val="F8FBFF"/>
                </a:solidFill>
                <a:latin typeface="Aptos"/>
                <a:ea typeface="Aptos"/>
                <a:cs typeface="Aptos"/>
              </a:rPr>
              <a:t>A brain</a:t>
            </a:r>
          </a:p>
          <a:p xmlns:a="http://schemas.openxmlformats.org/drawingml/2006/main">
            <a:pPr algn="l">
              <a:defRPr sz="5175" b="1">
                <a:solidFill>
                  <a:srgbClr val="F8FBFF"/>
                </a:solidFill>
                <a:latin typeface="Aptos"/>
                <a:ea typeface="Aptos"/>
                <a:cs typeface="Aptos"/>
              </a:defRPr>
            </a:pPr>
            <a:r>
              <a:rPr sz="5175" b="1">
                <a:solidFill>
                  <a:srgbClr val="F8FBFF"/>
                </a:solidFill>
                <a:latin typeface="Aptos"/>
                <a:ea typeface="Aptos"/>
                <a:cs typeface="Aptos"/>
              </a:rPr>
              <a:t>in the loop</a:t>
            </a:r>
          </a:p>
        </p:txBody>
      </p:sp>
      <p:sp>
        <p:nvSpPr>
          <p:cNvPr id="4" name="">
            <a:extLst xmlns:a="http://schemas.openxmlformats.org/drawingml/2006/main">
              <a:ext uri="{FF2B5EF4-FFF2-40B4-BE49-F238E27FC236}">
                <a16:creationId xmlns:a16="http://schemas.microsoft.com/office/drawing/2014/main" id="{8310A8B7-0F88-434C-B71D-4A2F5B20C631}"/>
              </a:ext>
            </a:extLst>
          </p:cNvPr>
          <p:cNvSpPr>
            <a:spLocks xmlns:a="http://schemas.openxmlformats.org/drawingml/2006/main" noGrp="1"/>
          </p:cNvSpPr>
          <p:nvPr/>
        </p:nvSpPr>
        <p:spPr>
          <a:xfrm xmlns:a="http://schemas.openxmlformats.org/drawingml/2006/main">
            <a:off x="609600" y="4572000"/>
            <a:ext cx="4953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6D7E3"/>
                </a:solidFill>
                <a:latin typeface="Aptos"/>
                <a:ea typeface="Aptos"/>
                <a:cs typeface="Aptos"/>
              </a:defRPr>
            </a:pPr>
            <a:r>
              <a:rPr sz="2025" b="0">
                <a:solidFill>
                  <a:srgbClr val="C6D7E3"/>
                </a:solidFill>
                <a:latin typeface="Aptos"/>
                <a:ea typeface="Aptos"/>
                <a:cs typeface="Aptos"/>
              </a:rPr>
              <a:t>Testing entropy-informed feedback</a:t>
            </a:r>
          </a:p>
          <a:p xmlns:a="http://schemas.openxmlformats.org/drawingml/2006/main">
            <a:pPr algn="l">
              <a:defRPr sz="2025" b="0">
                <a:solidFill>
                  <a:srgbClr val="C6D7E3"/>
                </a:solidFill>
                <a:latin typeface="Aptos"/>
                <a:ea typeface="Aptos"/>
                <a:cs typeface="Aptos"/>
              </a:defRPr>
            </a:pPr>
            <a:r>
              <a:rPr sz="2025" b="0">
                <a:solidFill>
                  <a:srgbClr val="C6D7E3"/>
                </a:solidFill>
                <a:latin typeface="Aptos"/>
                <a:ea typeface="Aptos"/>
                <a:cs typeface="Aptos"/>
              </a:rPr>
              <a:t>for autism neuromodulation research</a:t>
            </a:r>
          </a:p>
        </p:txBody>
      </p:sp>
      <p:sp>
        <p:nvSpPr>
          <p:cNvPr id="5" name="">
            <a:extLst xmlns:a="http://schemas.openxmlformats.org/drawingml/2006/main">
              <a:ext uri="{FF2B5EF4-FFF2-40B4-BE49-F238E27FC236}">
                <a16:creationId xmlns:a16="http://schemas.microsoft.com/office/drawing/2014/main" id="{F3EDD9B9-2344-4A32-88F0-E47932044524}"/>
              </a:ext>
            </a:extLst>
          </p:cNvPr>
          <p:cNvSpPr>
            <a:spLocks xmlns:a="http://schemas.openxmlformats.org/drawingml/2006/main" noGrp="1"/>
          </p:cNvSpPr>
          <p:nvPr/>
        </p:nvSpPr>
        <p:spPr>
          <a:xfrm xmlns:a="http://schemas.openxmlformats.org/drawingml/2006/main">
            <a:off x="609600" y="628650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BC0CD"/>
                </a:solidFill>
                <a:latin typeface="Aptos"/>
                <a:ea typeface="Aptos"/>
                <a:cs typeface="Aptos"/>
              </a:defRPr>
            </a:pPr>
            <a:r>
              <a:rPr sz="1200" b="0">
                <a:solidFill>
                  <a:srgbClr val="ABC0CD"/>
                </a:solidFill>
                <a:latin typeface="Aptos"/>
                <a:ea typeface="Aptos"/>
                <a:cs typeface="Aptos"/>
              </a:rPr>
              <a:t>Scientific explanation · Synthetic findings, clinical context and next steps</a:t>
            </a:r>
          </a:p>
        </p:txBody>
      </p:sp>
    </p:spTree>
    <p:extLst>
      <p:ext uri="{BB962C8B-B14F-4D97-AF65-F5344CB8AC3E}">
        <p14:creationId xmlns:p14="http://schemas.microsoft.com/office/powerpoint/2010/main" val="1742479743"/>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E4E7454-AD32-47D1-BE48-AF1304DCDF4C}"/>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THE PURPOSE</a:t>
            </a:r>
          </a:p>
        </p:txBody>
      </p:sp>
      <p:sp>
        <p:nvSpPr>
          <p:cNvPr id="2" name="">
            <a:extLst xmlns:a="http://schemas.openxmlformats.org/drawingml/2006/main">
              <a:ext uri="{FF2B5EF4-FFF2-40B4-BE49-F238E27FC236}">
                <a16:creationId xmlns:a16="http://schemas.microsoft.com/office/drawing/2014/main" id="{D1BB7570-EA68-4EC0-ACA9-6675F2B7A16F}"/>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Start with an outcome a person values</a:t>
            </a:r>
          </a:p>
        </p:txBody>
      </p:sp>
      <p:sp>
        <p:nvSpPr>
          <p:cNvPr id="3" name="">
            <a:extLst xmlns:a="http://schemas.openxmlformats.org/drawingml/2006/main">
              <a:ext uri="{FF2B5EF4-FFF2-40B4-BE49-F238E27FC236}">
                <a16:creationId xmlns:a16="http://schemas.microsoft.com/office/drawing/2014/main" id="{7287C8AD-1DFC-4228-A67C-74B544F66431}"/>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6F511E9-E057-4610-93EC-80D8BB00948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Fletcher-Watson et al., 2019 · Ilioska et al., 2026</a:t>
            </a:r>
          </a:p>
        </p:txBody>
      </p:sp>
      <p:sp>
        <p:nvSpPr>
          <p:cNvPr id="5" name="">
            <a:extLst xmlns:a="http://schemas.openxmlformats.org/drawingml/2006/main">
              <a:ext uri="{FF2B5EF4-FFF2-40B4-BE49-F238E27FC236}">
                <a16:creationId xmlns:a16="http://schemas.microsoft.com/office/drawing/2014/main" id="{FC8819BA-B55E-4445-B53B-4AC9311BC4DE}"/>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02</a:t>
            </a:r>
          </a:p>
        </p:txBody>
      </p:sp>
      <p:sp>
        <p:nvSpPr>
          <p:cNvPr id="6" name="">
            <a:extLst xmlns:a="http://schemas.openxmlformats.org/drawingml/2006/main">
              <a:ext uri="{FF2B5EF4-FFF2-40B4-BE49-F238E27FC236}">
                <a16:creationId xmlns:a16="http://schemas.microsoft.com/office/drawing/2014/main" id="{12B8BF52-DE92-4A39-8C05-06851577ACE1}"/>
              </a:ext>
            </a:extLst>
          </p:cNvPr>
          <p:cNvSpPr>
            <a:spLocks xmlns:a="http://schemas.openxmlformats.org/drawingml/2006/main" noGrp="1"/>
          </p:cNvSpPr>
          <p:nvPr/>
        </p:nvSpPr>
        <p:spPr>
          <a:xfrm xmlns:a="http://schemas.openxmlformats.org/drawingml/2006/main">
            <a:off x="60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8C94"/>
                </a:solidFill>
                <a:latin typeface="Aptos"/>
                <a:ea typeface="Aptos"/>
                <a:cs typeface="Aptos"/>
              </a:defRPr>
            </a:pPr>
            <a:r>
              <a:rPr sz="3600" b="0">
                <a:solidFill>
                  <a:srgbClr val="008C94"/>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23059869-2E7B-4D3D-906B-44C773AA9549}"/>
              </a:ext>
            </a:extLst>
          </p:cNvPr>
          <p:cNvSpPr>
            <a:spLocks xmlns:a="http://schemas.openxmlformats.org/drawingml/2006/main" noGrp="1"/>
          </p:cNvSpPr>
          <p:nvPr/>
        </p:nvSpPr>
        <p:spPr>
          <a:xfrm xmlns:a="http://schemas.openxmlformats.org/drawingml/2006/main">
            <a:off x="609600" y="3114675"/>
            <a:ext cx="333375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1FBD7B-5A47-4908-B2A8-46A6223E851B}"/>
              </a:ext>
            </a:extLst>
          </p:cNvPr>
          <p:cNvSpPr>
            <a:spLocks xmlns:a="http://schemas.openxmlformats.org/drawingml/2006/main" noGrp="1"/>
          </p:cNvSpPr>
          <p:nvPr/>
        </p:nvSpPr>
        <p:spPr>
          <a:xfrm xmlns:a="http://schemas.openxmlformats.org/drawingml/2006/main">
            <a:off x="60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283A"/>
                </a:solidFill>
                <a:latin typeface="Aptos"/>
                <a:ea typeface="Aptos"/>
                <a:cs typeface="Aptos"/>
              </a:defRPr>
            </a:pPr>
            <a:r>
              <a:rPr sz="2400" b="1">
                <a:solidFill>
                  <a:srgbClr val="11283A"/>
                </a:solidFill>
                <a:latin typeface="Aptos"/>
                <a:ea typeface="Aptos"/>
                <a:cs typeface="Aptos"/>
              </a:rPr>
              <a:t>A chosen goal</a:t>
            </a:r>
          </a:p>
        </p:txBody>
      </p:sp>
      <p:sp>
        <p:nvSpPr>
          <p:cNvPr id="9" name="">
            <a:extLst xmlns:a="http://schemas.openxmlformats.org/drawingml/2006/main">
              <a:ext uri="{FF2B5EF4-FFF2-40B4-BE49-F238E27FC236}">
                <a16:creationId xmlns:a16="http://schemas.microsoft.com/office/drawing/2014/main" id="{AF4C8E5C-B98C-4E98-A958-DA00B6BDE6FC}"/>
              </a:ext>
            </a:extLst>
          </p:cNvPr>
          <p:cNvSpPr>
            <a:spLocks xmlns:a="http://schemas.openxmlformats.org/drawingml/2006/main" noGrp="1"/>
          </p:cNvSpPr>
          <p:nvPr/>
        </p:nvSpPr>
        <p:spPr>
          <a:xfrm xmlns:a="http://schemas.openxmlformats.org/drawingml/2006/main">
            <a:off x="60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The participant helps define what support would be useful.</a:t>
            </a:r>
          </a:p>
        </p:txBody>
      </p:sp>
      <p:sp>
        <p:nvSpPr>
          <p:cNvPr id="10" name="">
            <a:extLst xmlns:a="http://schemas.openxmlformats.org/drawingml/2006/main">
              <a:ext uri="{FF2B5EF4-FFF2-40B4-BE49-F238E27FC236}">
                <a16:creationId xmlns:a16="http://schemas.microsoft.com/office/drawing/2014/main" id="{066E65DF-2F25-4467-917E-7BC211B6BABE}"/>
              </a:ext>
            </a:extLst>
          </p:cNvPr>
          <p:cNvSpPr>
            <a:spLocks xmlns:a="http://schemas.openxmlformats.org/drawingml/2006/main" noGrp="1"/>
          </p:cNvSpPr>
          <p:nvPr/>
        </p:nvSpPr>
        <p:spPr>
          <a:xfrm xmlns:a="http://schemas.openxmlformats.org/drawingml/2006/main">
            <a:off x="441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8C94"/>
                </a:solidFill>
                <a:latin typeface="Aptos"/>
                <a:ea typeface="Aptos"/>
                <a:cs typeface="Aptos"/>
              </a:defRPr>
            </a:pPr>
            <a:r>
              <a:rPr sz="3600" b="0">
                <a:solidFill>
                  <a:srgbClr val="008C94"/>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4D298473-5EDC-4408-ACB8-F247025E221C}"/>
              </a:ext>
            </a:extLst>
          </p:cNvPr>
          <p:cNvSpPr>
            <a:spLocks xmlns:a="http://schemas.openxmlformats.org/drawingml/2006/main" noGrp="1"/>
          </p:cNvSpPr>
          <p:nvPr/>
        </p:nvSpPr>
        <p:spPr>
          <a:xfrm xmlns:a="http://schemas.openxmlformats.org/drawingml/2006/main">
            <a:off x="4419600" y="3114675"/>
            <a:ext cx="333375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7722D42-8F8A-4066-8E34-2AE42525E571}"/>
              </a:ext>
            </a:extLst>
          </p:cNvPr>
          <p:cNvSpPr>
            <a:spLocks xmlns:a="http://schemas.openxmlformats.org/drawingml/2006/main" noGrp="1"/>
          </p:cNvSpPr>
          <p:nvPr/>
        </p:nvSpPr>
        <p:spPr>
          <a:xfrm xmlns:a="http://schemas.openxmlformats.org/drawingml/2006/main">
            <a:off x="441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283A"/>
                </a:solidFill>
                <a:latin typeface="Aptos"/>
                <a:ea typeface="Aptos"/>
                <a:cs typeface="Aptos"/>
              </a:defRPr>
            </a:pPr>
            <a:r>
              <a:rPr sz="2400" b="1">
                <a:solidFill>
                  <a:srgbClr val="11283A"/>
                </a:solidFill>
                <a:latin typeface="Aptos"/>
                <a:ea typeface="Aptos"/>
                <a:cs typeface="Aptos"/>
              </a:rPr>
              <a:t>An individual context</a:t>
            </a:r>
          </a:p>
        </p:txBody>
      </p:sp>
      <p:sp>
        <p:nvSpPr>
          <p:cNvPr id="13" name="">
            <a:extLst xmlns:a="http://schemas.openxmlformats.org/drawingml/2006/main">
              <a:ext uri="{FF2B5EF4-FFF2-40B4-BE49-F238E27FC236}">
                <a16:creationId xmlns:a16="http://schemas.microsoft.com/office/drawing/2014/main" id="{07D770A7-1CC4-41D3-AE6F-913D06F36349}"/>
              </a:ext>
            </a:extLst>
          </p:cNvPr>
          <p:cNvSpPr>
            <a:spLocks xmlns:a="http://schemas.openxmlformats.org/drawingml/2006/main" noGrp="1"/>
          </p:cNvSpPr>
          <p:nvPr/>
        </p:nvSpPr>
        <p:spPr>
          <a:xfrm xmlns:a="http://schemas.openxmlformats.org/drawingml/2006/main">
            <a:off x="441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Patterns can differ across people, settings and measurement scales.</a:t>
            </a:r>
          </a:p>
        </p:txBody>
      </p:sp>
      <p:sp>
        <p:nvSpPr>
          <p:cNvPr id="14" name="">
            <a:extLst xmlns:a="http://schemas.openxmlformats.org/drawingml/2006/main">
              <a:ext uri="{FF2B5EF4-FFF2-40B4-BE49-F238E27FC236}">
                <a16:creationId xmlns:a16="http://schemas.microsoft.com/office/drawing/2014/main" id="{B4A1503F-879B-4693-BAF3-3786D0B85EAD}"/>
              </a:ext>
            </a:extLst>
          </p:cNvPr>
          <p:cNvSpPr>
            <a:spLocks xmlns:a="http://schemas.openxmlformats.org/drawingml/2006/main" noGrp="1"/>
          </p:cNvSpPr>
          <p:nvPr/>
        </p:nvSpPr>
        <p:spPr>
          <a:xfrm xmlns:a="http://schemas.openxmlformats.org/drawingml/2006/main">
            <a:off x="822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8C94"/>
                </a:solidFill>
                <a:latin typeface="Aptos"/>
                <a:ea typeface="Aptos"/>
                <a:cs typeface="Aptos"/>
              </a:defRPr>
            </a:pPr>
            <a:r>
              <a:rPr sz="3600" b="0">
                <a:solidFill>
                  <a:srgbClr val="008C94"/>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855A0357-684A-43C7-A1E1-0463BF400AE5}"/>
              </a:ext>
            </a:extLst>
          </p:cNvPr>
          <p:cNvSpPr>
            <a:spLocks xmlns:a="http://schemas.openxmlformats.org/drawingml/2006/main" noGrp="1"/>
          </p:cNvSpPr>
          <p:nvPr/>
        </p:nvSpPr>
        <p:spPr>
          <a:xfrm xmlns:a="http://schemas.openxmlformats.org/drawingml/2006/main">
            <a:off x="8229600" y="3114675"/>
            <a:ext cx="333375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0368560-8B6F-4DD4-875A-82C93C940843}"/>
              </a:ext>
            </a:extLst>
          </p:cNvPr>
          <p:cNvSpPr>
            <a:spLocks xmlns:a="http://schemas.openxmlformats.org/drawingml/2006/main" noGrp="1"/>
          </p:cNvSpPr>
          <p:nvPr/>
        </p:nvSpPr>
        <p:spPr>
          <a:xfrm xmlns:a="http://schemas.openxmlformats.org/drawingml/2006/main">
            <a:off x="822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283A"/>
                </a:solidFill>
                <a:latin typeface="Aptos"/>
                <a:ea typeface="Aptos"/>
                <a:cs typeface="Aptos"/>
              </a:defRPr>
            </a:pPr>
            <a:r>
              <a:rPr sz="2400" b="1">
                <a:solidFill>
                  <a:srgbClr val="11283A"/>
                </a:solidFill>
                <a:latin typeface="Aptos"/>
                <a:ea typeface="Aptos"/>
                <a:cs typeface="Aptos"/>
              </a:rPr>
              <a:t>A meaningful test</a:t>
            </a:r>
          </a:p>
        </p:txBody>
      </p:sp>
      <p:sp>
        <p:nvSpPr>
          <p:cNvPr id="17" name="">
            <a:extLst xmlns:a="http://schemas.openxmlformats.org/drawingml/2006/main">
              <a:ext uri="{FF2B5EF4-FFF2-40B4-BE49-F238E27FC236}">
                <a16:creationId xmlns:a16="http://schemas.microsoft.com/office/drawing/2014/main" id="{47398885-276A-43CE-856A-DED7ECCD7C9A}"/>
              </a:ext>
            </a:extLst>
          </p:cNvPr>
          <p:cNvSpPr>
            <a:spLocks xmlns:a="http://schemas.openxmlformats.org/drawingml/2006/main" noGrp="1"/>
          </p:cNvSpPr>
          <p:nvPr/>
        </p:nvSpPr>
        <p:spPr>
          <a:xfrm xmlns:a="http://schemas.openxmlformats.org/drawingml/2006/main">
            <a:off x="822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A signal change matters only if the agreed outcome improves.</a:t>
            </a:r>
          </a:p>
        </p:txBody>
      </p:sp>
    </p:spTree>
    <p:extLst>
      <p:ext uri="{BB962C8B-B14F-4D97-AF65-F5344CB8AC3E}">
        <p14:creationId xmlns:p14="http://schemas.microsoft.com/office/powerpoint/2010/main" val="1057027386"/>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9D85D1D-75DC-4695-95B8-A28AD81A6AF4}"/>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THE CORE IDEA</a:t>
            </a:r>
          </a:p>
        </p:txBody>
      </p:sp>
      <p:sp>
        <p:nvSpPr>
          <p:cNvPr id="2" name="">
            <a:extLst xmlns:a="http://schemas.openxmlformats.org/drawingml/2006/main">
              <a:ext uri="{FF2B5EF4-FFF2-40B4-BE49-F238E27FC236}">
                <a16:creationId xmlns:a16="http://schemas.microsoft.com/office/drawing/2014/main" id="{9B6E6EBE-4D9F-410C-8BA8-D725FD245311}"/>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Entropy needs a separate success measure</a:t>
            </a:r>
          </a:p>
        </p:txBody>
      </p:sp>
      <p:sp>
        <p:nvSpPr>
          <p:cNvPr id="3" name="">
            <a:extLst xmlns:a="http://schemas.openxmlformats.org/drawingml/2006/main">
              <a:ext uri="{FF2B5EF4-FFF2-40B4-BE49-F238E27FC236}">
                <a16:creationId xmlns:a16="http://schemas.microsoft.com/office/drawing/2014/main" id="{9142036B-8513-46C0-AE1A-A3FE1B4EC40C}"/>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F5AFE2-BDB7-46DE-B2A2-19D0CF7BD50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Bandt &amp; Pompe, 2002 · Tenev et al., 2025</a:t>
            </a:r>
          </a:p>
        </p:txBody>
      </p:sp>
      <p:sp>
        <p:nvSpPr>
          <p:cNvPr id="5" name="">
            <a:extLst xmlns:a="http://schemas.openxmlformats.org/drawingml/2006/main">
              <a:ext uri="{FF2B5EF4-FFF2-40B4-BE49-F238E27FC236}">
                <a16:creationId xmlns:a16="http://schemas.microsoft.com/office/drawing/2014/main" id="{5F9ABD68-0ADF-4C33-9B39-0C51D11A9013}"/>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03</a:t>
            </a:r>
          </a:p>
        </p:txBody>
      </p:sp>
      <p:sp>
        <p:nvSpPr>
          <p:cNvPr id="6" name="">
            <a:extLst xmlns:a="http://schemas.openxmlformats.org/drawingml/2006/main">
              <a:ext uri="{FF2B5EF4-FFF2-40B4-BE49-F238E27FC236}">
                <a16:creationId xmlns:a16="http://schemas.microsoft.com/office/drawing/2014/main" id="{FFD6B5EF-2EAC-4C1F-B5EC-F44F3CF2DB59}"/>
              </a:ext>
            </a:extLst>
          </p:cNvPr>
          <p:cNvSpPr>
            <a:spLocks xmlns:a="http://schemas.openxmlformats.org/drawingml/2006/main" noGrp="1"/>
          </p:cNvSpPr>
          <p:nvPr/>
        </p:nvSpPr>
        <p:spPr>
          <a:xfrm xmlns:a="http://schemas.openxmlformats.org/drawingml/2006/main">
            <a:off x="609600" y="2276475"/>
            <a:ext cx="4762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008C94"/>
                </a:solidFill>
                <a:latin typeface="Aptos"/>
                <a:ea typeface="Aptos"/>
                <a:cs typeface="Aptos"/>
              </a:defRPr>
            </a:pPr>
            <a:r>
              <a:rPr sz="3975" b="1">
                <a:solidFill>
                  <a:srgbClr val="008C94"/>
                </a:solidFill>
                <a:latin typeface="Aptos"/>
                <a:ea typeface="Aptos"/>
                <a:cs typeface="Aptos"/>
              </a:rPr>
              <a:t>How varied is</a:t>
            </a:r>
          </a:p>
          <a:p xmlns:a="http://schemas.openxmlformats.org/drawingml/2006/main">
            <a:pPr algn="l">
              <a:defRPr sz="3975" b="1">
                <a:solidFill>
                  <a:srgbClr val="008C94"/>
                </a:solidFill>
                <a:latin typeface="Aptos"/>
                <a:ea typeface="Aptos"/>
                <a:cs typeface="Aptos"/>
              </a:defRPr>
            </a:pPr>
            <a:r>
              <a:rPr sz="3975" b="1">
                <a:solidFill>
                  <a:srgbClr val="008C94"/>
                </a:solidFill>
                <a:latin typeface="Aptos"/>
                <a:ea typeface="Aptos"/>
                <a:cs typeface="Aptos"/>
              </a:rPr>
              <a:t>the signal?</a:t>
            </a:r>
          </a:p>
        </p:txBody>
      </p:sp>
      <p:sp>
        <p:nvSpPr>
          <p:cNvPr id="7" name="">
            <a:extLst xmlns:a="http://schemas.openxmlformats.org/drawingml/2006/main">
              <a:ext uri="{FF2B5EF4-FFF2-40B4-BE49-F238E27FC236}">
                <a16:creationId xmlns:a16="http://schemas.microsoft.com/office/drawing/2014/main" id="{70601097-FE26-4DAE-9AAC-38E78A89D90D}"/>
              </a:ext>
            </a:extLst>
          </p:cNvPr>
          <p:cNvSpPr>
            <a:spLocks xmlns:a="http://schemas.openxmlformats.org/drawingml/2006/main" noGrp="1"/>
          </p:cNvSpPr>
          <p:nvPr/>
        </p:nvSpPr>
        <p:spPr>
          <a:xfrm xmlns:a="http://schemas.openxmlformats.org/drawingml/2006/main">
            <a:off x="6419850" y="2276475"/>
            <a:ext cx="5143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1283A"/>
                </a:solidFill>
                <a:latin typeface="Aptos"/>
                <a:ea typeface="Aptos"/>
                <a:cs typeface="Aptos"/>
              </a:defRPr>
            </a:pPr>
            <a:r>
              <a:rPr sz="3975" b="1">
                <a:solidFill>
                  <a:srgbClr val="11283A"/>
                </a:solidFill>
                <a:latin typeface="Aptos"/>
                <a:ea typeface="Aptos"/>
                <a:cs typeface="Aptos"/>
              </a:rPr>
              <a:t>How useful is</a:t>
            </a:r>
          </a:p>
          <a:p xmlns:a="http://schemas.openxmlformats.org/drawingml/2006/main">
            <a:pPr algn="l">
              <a:defRPr sz="3975" b="1">
                <a:solidFill>
                  <a:srgbClr val="11283A"/>
                </a:solidFill>
                <a:latin typeface="Aptos"/>
                <a:ea typeface="Aptos"/>
                <a:cs typeface="Aptos"/>
              </a:defRPr>
            </a:pPr>
            <a:r>
              <a:rPr sz="3975" b="1">
                <a:solidFill>
                  <a:srgbClr val="11283A"/>
                </a:solidFill>
                <a:latin typeface="Aptos"/>
                <a:ea typeface="Aptos"/>
                <a:cs typeface="Aptos"/>
              </a:rPr>
              <a:t>the information?</a:t>
            </a:r>
          </a:p>
        </p:txBody>
      </p:sp>
      <p:sp>
        <p:nvSpPr>
          <p:cNvPr id="8" name="">
            <a:extLst xmlns:a="http://schemas.openxmlformats.org/drawingml/2006/main">
              <a:ext uri="{FF2B5EF4-FFF2-40B4-BE49-F238E27FC236}">
                <a16:creationId xmlns:a16="http://schemas.microsoft.com/office/drawing/2014/main" id="{966FC1D6-D60B-42CE-A4D5-B521DB97F559}"/>
              </a:ext>
            </a:extLst>
          </p:cNvPr>
          <p:cNvSpPr>
            <a:spLocks xmlns:a="http://schemas.openxmlformats.org/drawingml/2006/main" noGrp="1"/>
          </p:cNvSpPr>
          <p:nvPr/>
        </p:nvSpPr>
        <p:spPr>
          <a:xfrm xmlns:a="http://schemas.openxmlformats.org/drawingml/2006/main">
            <a:off x="609600" y="399097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5CDEFAA-0809-4BD5-83C4-854E81132C53}"/>
              </a:ext>
            </a:extLst>
          </p:cNvPr>
          <p:cNvSpPr>
            <a:spLocks xmlns:a="http://schemas.openxmlformats.org/drawingml/2006/main" noGrp="1"/>
          </p:cNvSpPr>
          <p:nvPr/>
        </p:nvSpPr>
        <p:spPr>
          <a:xfrm xmlns:a="http://schemas.openxmlformats.org/drawingml/2006/main">
            <a:off x="609600" y="4391025"/>
            <a:ext cx="1009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283A"/>
                </a:solidFill>
                <a:latin typeface="Aptos"/>
                <a:ea typeface="Aptos"/>
                <a:cs typeface="Aptos"/>
              </a:defRPr>
            </a:pPr>
            <a:r>
              <a:rPr sz="2400" b="0">
                <a:solidFill>
                  <a:srgbClr val="11283A"/>
                </a:solidFill>
                <a:latin typeface="Aptos"/>
                <a:ea typeface="Aptos"/>
                <a:cs typeface="Aptos"/>
              </a:rPr>
              <a:t>A high score can reflect useful variety, measurement noise, or a mixture of both.</a:t>
            </a:r>
          </a:p>
        </p:txBody>
      </p:sp>
      <p:sp>
        <p:nvSpPr>
          <p:cNvPr id="10" name="">
            <a:extLst xmlns:a="http://schemas.openxmlformats.org/drawingml/2006/main">
              <a:ext uri="{FF2B5EF4-FFF2-40B4-BE49-F238E27FC236}">
                <a16:creationId xmlns:a16="http://schemas.microsoft.com/office/drawing/2014/main" id="{40455E0F-8983-4F72-85A8-5481A62FCA01}"/>
              </a:ext>
            </a:extLst>
          </p:cNvPr>
          <p:cNvSpPr>
            <a:spLocks xmlns:a="http://schemas.openxmlformats.org/drawingml/2006/main" noGrp="1"/>
          </p:cNvSpPr>
          <p:nvPr/>
        </p:nvSpPr>
        <p:spPr>
          <a:xfrm xmlns:a="http://schemas.openxmlformats.org/drawingml/2006/main">
            <a:off x="609600" y="5553075"/>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776"/>
                </a:solidFill>
                <a:latin typeface="Aptos"/>
                <a:ea typeface="Aptos"/>
                <a:cs typeface="Aptos"/>
              </a:defRPr>
            </a:pPr>
            <a:r>
              <a:rPr sz="1950" b="0">
                <a:solidFill>
                  <a:srgbClr val="526776"/>
                </a:solidFill>
                <a:latin typeface="Aptos"/>
                <a:ea typeface="Aptos"/>
                <a:cs typeface="Aptos"/>
              </a:rPr>
              <a:t>We therefore measure task performance independently of entropy.</a:t>
            </a:r>
          </a:p>
        </p:txBody>
      </p:sp>
    </p:spTree>
    <p:extLst>
      <p:ext uri="{BB962C8B-B14F-4D97-AF65-F5344CB8AC3E}">
        <p14:creationId xmlns:p14="http://schemas.microsoft.com/office/powerpoint/2010/main" val="1002013126"/>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BBE4035-3C50-4208-9556-5A04A704FD01}"/>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EVIDENCE UPDATE</a:t>
            </a:r>
          </a:p>
        </p:txBody>
      </p:sp>
      <p:sp>
        <p:nvSpPr>
          <p:cNvPr id="2" name="">
            <a:extLst xmlns:a="http://schemas.openxmlformats.org/drawingml/2006/main">
              <a:ext uri="{FF2B5EF4-FFF2-40B4-BE49-F238E27FC236}">
                <a16:creationId xmlns:a16="http://schemas.microsoft.com/office/drawing/2014/main" id="{3FEF8E9E-BA29-4824-BA45-F214E8B5D778}"/>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Recent evidence sharpens the question</a:t>
            </a:r>
          </a:p>
        </p:txBody>
      </p:sp>
      <p:sp>
        <p:nvSpPr>
          <p:cNvPr id="3" name="">
            <a:extLst xmlns:a="http://schemas.openxmlformats.org/drawingml/2006/main">
              <a:ext uri="{FF2B5EF4-FFF2-40B4-BE49-F238E27FC236}">
                <a16:creationId xmlns:a16="http://schemas.microsoft.com/office/drawing/2014/main" id="{CC34514D-6F66-497D-A781-B9C98FB58027}"/>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1FE5EE8-94A0-43C3-ACE0-B52F5E7D5524}"/>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Ilioska et al., 2026 · Stoliker et al., 2026 · Tan et al., 2026</a:t>
            </a:r>
          </a:p>
        </p:txBody>
      </p:sp>
      <p:sp>
        <p:nvSpPr>
          <p:cNvPr id="5" name="">
            <a:extLst xmlns:a="http://schemas.openxmlformats.org/drawingml/2006/main">
              <a:ext uri="{FF2B5EF4-FFF2-40B4-BE49-F238E27FC236}">
                <a16:creationId xmlns:a16="http://schemas.microsoft.com/office/drawing/2014/main" id="{B0FC7B12-0684-404D-9FF4-4D28712ED4F4}"/>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04</a:t>
            </a:r>
          </a:p>
        </p:txBody>
      </p:sp>
      <p:sp>
        <p:nvSpPr>
          <p:cNvPr id="6" name="">
            <a:extLst xmlns:a="http://schemas.openxmlformats.org/drawingml/2006/main">
              <a:ext uri="{FF2B5EF4-FFF2-40B4-BE49-F238E27FC236}">
                <a16:creationId xmlns:a16="http://schemas.microsoft.com/office/drawing/2014/main" id="{9AA5C018-243E-4BAF-BD3B-C5F45A66AB85}"/>
              </a:ext>
            </a:extLst>
          </p:cNvPr>
          <p:cNvSpPr>
            <a:spLocks xmlns:a="http://schemas.openxmlformats.org/drawingml/2006/main" noGrp="1"/>
          </p:cNvSpPr>
          <p:nvPr/>
        </p:nvSpPr>
        <p:spPr>
          <a:xfrm xmlns:a="http://schemas.openxmlformats.org/drawingml/2006/main">
            <a:off x="609600" y="207645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6F78A6-3B40-4227-A29C-D19721357A69}"/>
              </a:ext>
            </a:extLst>
          </p:cNvPr>
          <p:cNvSpPr>
            <a:spLocks xmlns:a="http://schemas.openxmlformats.org/drawingml/2006/main" noGrp="1"/>
          </p:cNvSpPr>
          <p:nvPr/>
        </p:nvSpPr>
        <p:spPr>
          <a:xfrm xmlns:a="http://schemas.openxmlformats.org/drawingml/2006/main">
            <a:off x="609600" y="2219325"/>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8C94"/>
                </a:solidFill>
                <a:latin typeface="Aptos"/>
                <a:ea typeface="Aptos"/>
                <a:cs typeface="Aptos"/>
              </a:defRPr>
            </a:pPr>
            <a:r>
              <a:rPr sz="2400" b="1">
                <a:solidFill>
                  <a:srgbClr val="008C94"/>
                </a:solidFill>
                <a:latin typeface="Aptos"/>
                <a:ea typeface="Aptos"/>
                <a:cs typeface="Aptos"/>
              </a:rPr>
              <a:t>Individual differences</a:t>
            </a:r>
          </a:p>
        </p:txBody>
      </p:sp>
      <p:sp>
        <p:nvSpPr>
          <p:cNvPr id="8" name="">
            <a:extLst xmlns:a="http://schemas.openxmlformats.org/drawingml/2006/main">
              <a:ext uri="{FF2B5EF4-FFF2-40B4-BE49-F238E27FC236}">
                <a16:creationId xmlns:a16="http://schemas.microsoft.com/office/drawing/2014/main" id="{4B191DD1-DE87-4257-8F37-9943099B6D4B}"/>
              </a:ext>
            </a:extLst>
          </p:cNvPr>
          <p:cNvSpPr>
            <a:spLocks xmlns:a="http://schemas.openxmlformats.org/drawingml/2006/main" noGrp="1"/>
          </p:cNvSpPr>
          <p:nvPr/>
        </p:nvSpPr>
        <p:spPr>
          <a:xfrm xmlns:a="http://schemas.openxmlformats.org/drawingml/2006/main">
            <a:off x="3848100" y="2219325"/>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83A"/>
                </a:solidFill>
                <a:latin typeface="Aptos"/>
                <a:ea typeface="Aptos"/>
                <a:cs typeface="Aptos"/>
              </a:defRPr>
            </a:pPr>
            <a:r>
              <a:rPr sz="2025" b="0">
                <a:solidFill>
                  <a:srgbClr val="11283A"/>
                </a:solidFill>
                <a:latin typeface="Aptos"/>
                <a:ea typeface="Aptos"/>
                <a:cs typeface="Aptos"/>
              </a:rPr>
              <a:t>Large imaging studies support careful person-specific characterization.</a:t>
            </a:r>
          </a:p>
        </p:txBody>
      </p:sp>
      <p:sp>
        <p:nvSpPr>
          <p:cNvPr id="9" name="">
            <a:extLst xmlns:a="http://schemas.openxmlformats.org/drawingml/2006/main">
              <a:ext uri="{FF2B5EF4-FFF2-40B4-BE49-F238E27FC236}">
                <a16:creationId xmlns:a16="http://schemas.microsoft.com/office/drawing/2014/main" id="{D3F9B7A5-3820-4AF1-9B59-E6A72F96CA2D}"/>
              </a:ext>
            </a:extLst>
          </p:cNvPr>
          <p:cNvSpPr>
            <a:spLocks xmlns:a="http://schemas.openxmlformats.org/drawingml/2006/main" noGrp="1"/>
          </p:cNvSpPr>
          <p:nvPr/>
        </p:nvSpPr>
        <p:spPr>
          <a:xfrm xmlns:a="http://schemas.openxmlformats.org/drawingml/2006/main">
            <a:off x="609600" y="331470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E9AD11D-C9F1-4189-84E1-E186C5719A2D}"/>
              </a:ext>
            </a:extLst>
          </p:cNvPr>
          <p:cNvSpPr>
            <a:spLocks xmlns:a="http://schemas.openxmlformats.org/drawingml/2006/main" noGrp="1"/>
          </p:cNvSpPr>
          <p:nvPr/>
        </p:nvSpPr>
        <p:spPr>
          <a:xfrm xmlns:a="http://schemas.openxmlformats.org/drawingml/2006/main">
            <a:off x="609600" y="3457575"/>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8C94"/>
                </a:solidFill>
                <a:latin typeface="Aptos"/>
                <a:ea typeface="Aptos"/>
                <a:cs typeface="Aptos"/>
              </a:defRPr>
            </a:pPr>
            <a:r>
              <a:rPr sz="2400" b="1">
                <a:solidFill>
                  <a:srgbClr val="008C94"/>
                </a:solidFill>
                <a:latin typeface="Aptos"/>
                <a:ea typeface="Aptos"/>
                <a:cs typeface="Aptos"/>
              </a:rPr>
              <a:t>Context matters</a:t>
            </a:r>
          </a:p>
        </p:txBody>
      </p:sp>
      <p:sp>
        <p:nvSpPr>
          <p:cNvPr id="11" name="">
            <a:extLst xmlns:a="http://schemas.openxmlformats.org/drawingml/2006/main">
              <a:ext uri="{FF2B5EF4-FFF2-40B4-BE49-F238E27FC236}">
                <a16:creationId xmlns:a16="http://schemas.microsoft.com/office/drawing/2014/main" id="{FA5CB9FE-E7EB-4591-A27A-116A34D7D24A}"/>
              </a:ext>
            </a:extLst>
          </p:cNvPr>
          <p:cNvSpPr>
            <a:spLocks xmlns:a="http://schemas.openxmlformats.org/drawingml/2006/main" noGrp="1"/>
          </p:cNvSpPr>
          <p:nvPr/>
        </p:nvSpPr>
        <p:spPr>
          <a:xfrm xmlns:a="http://schemas.openxmlformats.org/drawingml/2006/main">
            <a:off x="3848100" y="3457575"/>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83A"/>
                </a:solidFill>
                <a:latin typeface="Aptos"/>
                <a:ea typeface="Aptos"/>
                <a:cs typeface="Aptos"/>
              </a:defRPr>
            </a:pPr>
            <a:r>
              <a:rPr sz="2025" b="0">
                <a:solidFill>
                  <a:srgbClr val="11283A"/>
                </a:solidFill>
                <a:latin typeface="Aptos"/>
                <a:ea typeface="Aptos"/>
                <a:cs typeface="Aptos"/>
              </a:rPr>
              <a:t>Psychedelic dynamics can show structured alignment with sensory context.</a:t>
            </a:r>
          </a:p>
        </p:txBody>
      </p:sp>
      <p:sp>
        <p:nvSpPr>
          <p:cNvPr id="12" name="">
            <a:extLst xmlns:a="http://schemas.openxmlformats.org/drawingml/2006/main">
              <a:ext uri="{FF2B5EF4-FFF2-40B4-BE49-F238E27FC236}">
                <a16:creationId xmlns:a16="http://schemas.microsoft.com/office/drawing/2014/main" id="{5DF580E8-24F7-4069-AC75-D89EB1E0DFF6}"/>
              </a:ext>
            </a:extLst>
          </p:cNvPr>
          <p:cNvSpPr>
            <a:spLocks xmlns:a="http://schemas.openxmlformats.org/drawingml/2006/main" noGrp="1"/>
          </p:cNvSpPr>
          <p:nvPr/>
        </p:nvSpPr>
        <p:spPr>
          <a:xfrm xmlns:a="http://schemas.openxmlformats.org/drawingml/2006/main">
            <a:off x="609600" y="455295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3059694-E305-4227-8B34-196E8C0FB02F}"/>
              </a:ext>
            </a:extLst>
          </p:cNvPr>
          <p:cNvSpPr>
            <a:spLocks xmlns:a="http://schemas.openxmlformats.org/drawingml/2006/main" noGrp="1"/>
          </p:cNvSpPr>
          <p:nvPr/>
        </p:nvSpPr>
        <p:spPr>
          <a:xfrm xmlns:a="http://schemas.openxmlformats.org/drawingml/2006/main">
            <a:off x="609600" y="4695825"/>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8C94"/>
                </a:solidFill>
                <a:latin typeface="Aptos"/>
                <a:ea typeface="Aptos"/>
                <a:cs typeface="Aptos"/>
              </a:defRPr>
            </a:pPr>
            <a:r>
              <a:rPr sz="2400" b="1">
                <a:solidFill>
                  <a:srgbClr val="008C94"/>
                </a:solidFill>
                <a:latin typeface="Aptos"/>
                <a:ea typeface="Aptos"/>
                <a:cs typeface="Aptos"/>
              </a:rPr>
              <a:t>Protocol matters</a:t>
            </a:r>
          </a:p>
        </p:txBody>
      </p:sp>
      <p:sp>
        <p:nvSpPr>
          <p:cNvPr id="14" name="">
            <a:extLst xmlns:a="http://schemas.openxmlformats.org/drawingml/2006/main">
              <a:ext uri="{FF2B5EF4-FFF2-40B4-BE49-F238E27FC236}">
                <a16:creationId xmlns:a16="http://schemas.microsoft.com/office/drawing/2014/main" id="{27B26664-FC58-4427-8E44-617A8F377C18}"/>
              </a:ext>
            </a:extLst>
          </p:cNvPr>
          <p:cNvSpPr>
            <a:spLocks xmlns:a="http://schemas.openxmlformats.org/drawingml/2006/main" noGrp="1"/>
          </p:cNvSpPr>
          <p:nvPr/>
        </p:nvSpPr>
        <p:spPr>
          <a:xfrm xmlns:a="http://schemas.openxmlformats.org/drawingml/2006/main">
            <a:off x="3848100" y="4695825"/>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83A"/>
                </a:solidFill>
                <a:latin typeface="Aptos"/>
                <a:ea typeface="Aptos"/>
                <a:cs typeface="Aptos"/>
              </a:defRPr>
            </a:pPr>
            <a:r>
              <a:rPr sz="2025" b="0">
                <a:solidFill>
                  <a:srgbClr val="11283A"/>
                </a:solidFill>
                <a:latin typeface="Aptos"/>
                <a:ea typeface="Aptos"/>
                <a:cs typeface="Aptos"/>
              </a:rPr>
              <a:t>A positive motor-cortex trial does not validate entropy-targeted feedback.</a:t>
            </a:r>
          </a:p>
        </p:txBody>
      </p:sp>
    </p:spTree>
    <p:extLst>
      <p:ext uri="{BB962C8B-B14F-4D97-AF65-F5344CB8AC3E}">
        <p14:creationId xmlns:p14="http://schemas.microsoft.com/office/powerpoint/2010/main" val="856129135"/>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1365EB-2C06-46BF-8B9B-7A70AC9A21DB}"/>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THE EXPERIMENT</a:t>
            </a:r>
          </a:p>
        </p:txBody>
      </p:sp>
      <p:sp>
        <p:nvSpPr>
          <p:cNvPr id="2" name="">
            <a:extLst xmlns:a="http://schemas.openxmlformats.org/drawingml/2006/main">
              <a:ext uri="{FF2B5EF4-FFF2-40B4-BE49-F238E27FC236}">
                <a16:creationId xmlns:a16="http://schemas.microsoft.com/office/drawing/2014/main" id="{E077371C-4D44-401E-B2AD-946E42D4B90C}"/>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Ask whether entropy adds useful information</a:t>
            </a:r>
          </a:p>
        </p:txBody>
      </p:sp>
      <p:sp>
        <p:nvSpPr>
          <p:cNvPr id="3" name="">
            <a:extLst xmlns:a="http://schemas.openxmlformats.org/drawingml/2006/main">
              <a:ext uri="{FF2B5EF4-FFF2-40B4-BE49-F238E27FC236}">
                <a16:creationId xmlns:a16="http://schemas.microsoft.com/office/drawing/2014/main" id="{EF6E2119-7489-44A2-A004-B6E6669613AB}"/>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C69E9A3-91DC-4C26-9689-901F0CBD9B6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5B126814-32C7-48A7-B76A-61DC195BFF34}"/>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05</a:t>
            </a:r>
          </a:p>
        </p:txBody>
      </p:sp>
      <p:sp>
        <p:nvSpPr>
          <p:cNvPr id="6" name="">
            <a:extLst xmlns:a="http://schemas.openxmlformats.org/drawingml/2006/main">
              <a:ext uri="{FF2B5EF4-FFF2-40B4-BE49-F238E27FC236}">
                <a16:creationId xmlns:a16="http://schemas.microsoft.com/office/drawing/2014/main" id="{000DF726-5F80-4E50-A5E6-9714A2BBE82B}"/>
              </a:ext>
            </a:extLst>
          </p:cNvPr>
          <p:cNvSpPr>
            <a:spLocks xmlns:a="http://schemas.openxmlformats.org/drawingml/2006/main" noGrp="1"/>
          </p:cNvSpPr>
          <p:nvPr/>
        </p:nvSpPr>
        <p:spPr>
          <a:xfrm xmlns:a="http://schemas.openxmlformats.org/drawingml/2006/main">
            <a:off x="609600" y="2143125"/>
            <a:ext cx="10953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11283A"/>
                </a:solidFill>
                <a:latin typeface="Aptos"/>
                <a:ea typeface="Aptos"/>
                <a:cs typeface="Aptos"/>
              </a:defRPr>
            </a:pPr>
            <a:r>
              <a:rPr sz="3975" b="1">
                <a:solidFill>
                  <a:srgbClr val="11283A"/>
                </a:solidFill>
                <a:latin typeface="Aptos"/>
                <a:ea typeface="Aptos"/>
                <a:cs typeface="Aptos"/>
              </a:rPr>
              <a:t>Does adding entropy feedback</a:t>
            </a:r>
          </a:p>
          <a:p xmlns:a="http://schemas.openxmlformats.org/drawingml/2006/main">
            <a:pPr algn="l">
              <a:defRPr sz="3975" b="1">
                <a:solidFill>
                  <a:srgbClr val="11283A"/>
                </a:solidFill>
                <a:latin typeface="Aptos"/>
                <a:ea typeface="Aptos"/>
                <a:cs typeface="Aptos"/>
              </a:defRPr>
            </a:pPr>
            <a:r>
              <a:rPr sz="3975" b="1">
                <a:solidFill>
                  <a:srgbClr val="11283A"/>
                </a:solidFill>
                <a:latin typeface="Aptos"/>
                <a:ea typeface="Aptos"/>
                <a:cs typeface="Aptos"/>
              </a:rPr>
              <a:t>improve an independent task</a:t>
            </a:r>
          </a:p>
          <a:p xmlns:a="http://schemas.openxmlformats.org/drawingml/2006/main">
            <a:pPr algn="l">
              <a:defRPr sz="3975" b="1">
                <a:solidFill>
                  <a:srgbClr val="11283A"/>
                </a:solidFill>
                <a:latin typeface="Aptos"/>
                <a:ea typeface="Aptos"/>
                <a:cs typeface="Aptos"/>
              </a:defRPr>
            </a:pPr>
            <a:r>
              <a:rPr sz="3975" b="1">
                <a:solidFill>
                  <a:srgbClr val="11283A"/>
                </a:solidFill>
                <a:latin typeface="Aptos"/>
                <a:ea typeface="Aptos"/>
                <a:cs typeface="Aptos"/>
              </a:rPr>
              <a:t>beyond activity feedback alone?</a:t>
            </a:r>
          </a:p>
        </p:txBody>
      </p:sp>
      <p:sp>
        <p:nvSpPr>
          <p:cNvPr id="7" name="">
            <a:extLst xmlns:a="http://schemas.openxmlformats.org/drawingml/2006/main">
              <a:ext uri="{FF2B5EF4-FFF2-40B4-BE49-F238E27FC236}">
                <a16:creationId xmlns:a16="http://schemas.microsoft.com/office/drawing/2014/main" id="{118954C4-F618-4927-BDE7-F9A55DC39739}"/>
              </a:ext>
            </a:extLst>
          </p:cNvPr>
          <p:cNvSpPr>
            <a:spLocks xmlns:a="http://schemas.openxmlformats.org/drawingml/2006/main" noGrp="1"/>
          </p:cNvSpPr>
          <p:nvPr/>
        </p:nvSpPr>
        <p:spPr>
          <a:xfrm xmlns:a="http://schemas.openxmlformats.org/drawingml/2006/main">
            <a:off x="609600" y="5019675"/>
            <a:ext cx="102870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776"/>
                </a:solidFill>
                <a:latin typeface="Aptos"/>
                <a:ea typeface="Aptos"/>
                <a:cs typeface="Aptos"/>
              </a:defRPr>
            </a:pPr>
            <a:r>
              <a:rPr sz="2175" b="0">
                <a:solidFill>
                  <a:srgbClr val="526776"/>
                </a:solidFill>
                <a:latin typeface="Aptos"/>
                <a:ea typeface="Aptos"/>
                <a:cs typeface="Aptos"/>
              </a:rPr>
              <a:t>This question can produce a positive result, a negative result, or a result that depends on measurement conditions.</a:t>
            </a:r>
          </a:p>
        </p:txBody>
      </p:sp>
    </p:spTree>
    <p:extLst>
      <p:ext uri="{BB962C8B-B14F-4D97-AF65-F5344CB8AC3E}">
        <p14:creationId xmlns:p14="http://schemas.microsoft.com/office/powerpoint/2010/main" val="1012243305"/>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73125C19-9101-496C-B7D2-91EA100A84A3}"/>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HOW THE LOOP WORKS</a:t>
            </a:r>
          </a:p>
        </p:txBody>
      </p:sp>
      <p:sp>
        <p:nvSpPr>
          <p:cNvPr id="2" name="">
            <a:extLst xmlns:a="http://schemas.openxmlformats.org/drawingml/2006/main">
              <a:ext uri="{FF2B5EF4-FFF2-40B4-BE49-F238E27FC236}">
                <a16:creationId xmlns:a16="http://schemas.microsoft.com/office/drawing/2014/main" id="{E28049B4-9A07-42F3-B221-CC62CC9DB4A7}"/>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The model keeps sensing and success separate</a:t>
            </a:r>
          </a:p>
        </p:txBody>
      </p:sp>
      <p:sp>
        <p:nvSpPr>
          <p:cNvPr id="3" name="">
            <a:extLst xmlns:a="http://schemas.openxmlformats.org/drawingml/2006/main">
              <a:ext uri="{FF2B5EF4-FFF2-40B4-BE49-F238E27FC236}">
                <a16:creationId xmlns:a16="http://schemas.microsoft.com/office/drawing/2014/main" id="{9F1AE61A-E050-4E6C-BA7D-542276A5F79B}"/>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E42208-3DF7-4209-AA74-B11B5A574E90}"/>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Wilson &amp; Cowan, 1972 · Bandt &amp; Pompe, 2002 · Accompanying Python model</a:t>
            </a:r>
          </a:p>
        </p:txBody>
      </p:sp>
      <p:sp>
        <p:nvSpPr>
          <p:cNvPr id="5" name="">
            <a:extLst xmlns:a="http://schemas.openxmlformats.org/drawingml/2006/main">
              <a:ext uri="{FF2B5EF4-FFF2-40B4-BE49-F238E27FC236}">
                <a16:creationId xmlns:a16="http://schemas.microsoft.com/office/drawing/2014/main" id="{EC4CD4D7-4636-423E-B465-4EF6C4BA1AEB}"/>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06</a:t>
            </a:r>
          </a:p>
        </p:txBody>
      </p:sp>
      <p:sp>
        <p:nvSpPr>
          <p:cNvPr id="6" name="">
            <a:extLst xmlns:a="http://schemas.openxmlformats.org/drawingml/2006/main">
              <a:ext uri="{FF2B5EF4-FFF2-40B4-BE49-F238E27FC236}">
                <a16:creationId xmlns:a16="http://schemas.microsoft.com/office/drawing/2014/main" id="{9EA89F63-9DF4-4EE6-B444-FD601ECF8CA9}"/>
              </a:ext>
            </a:extLst>
          </p:cNvPr>
          <p:cNvSpPr>
            <a:spLocks xmlns:a="http://schemas.openxmlformats.org/drawingml/2006/main" noGrp="1"/>
          </p:cNvSpPr>
          <p:nvPr/>
        </p:nvSpPr>
        <p:spPr>
          <a:xfrm xmlns:a="http://schemas.openxmlformats.org/drawingml/2006/main">
            <a:off x="609600" y="2381250"/>
            <a:ext cx="3238500" cy="1066800"/>
          </a:xfrm>
          <a:prstGeom xmlns:a="http://schemas.openxmlformats.org/drawingml/2006/main" prst="rect">
            <a:avLst/>
          </a:prstGeom>
          <a:solidFill xmlns:a="http://schemas.openxmlformats.org/drawingml/2006/main">
            <a:srgbClr val="E4F4F3"/>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7BFBFF9-8F87-46B1-943E-3096111892A6}"/>
              </a:ext>
            </a:extLst>
          </p:cNvPr>
          <p:cNvSpPr>
            <a:spLocks xmlns:a="http://schemas.openxmlformats.org/drawingml/2006/main" noGrp="1"/>
          </p:cNvSpPr>
          <p:nvPr/>
        </p:nvSpPr>
        <p:spPr>
          <a:xfrm xmlns:a="http://schemas.openxmlformats.org/drawingml/2006/main">
            <a:off x="800100" y="2524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Synthetic circuit</a:t>
            </a:r>
          </a:p>
        </p:txBody>
      </p:sp>
      <p:sp>
        <p:nvSpPr>
          <p:cNvPr id="8" name="">
            <a:extLst xmlns:a="http://schemas.openxmlformats.org/drawingml/2006/main">
              <a:ext uri="{FF2B5EF4-FFF2-40B4-BE49-F238E27FC236}">
                <a16:creationId xmlns:a16="http://schemas.microsoft.com/office/drawing/2014/main" id="{4847BDC5-C59F-47B7-993C-B59BAF4BC3B8}"/>
              </a:ext>
            </a:extLst>
          </p:cNvPr>
          <p:cNvSpPr>
            <a:spLocks xmlns:a="http://schemas.openxmlformats.org/drawingml/2006/main" noGrp="1"/>
          </p:cNvSpPr>
          <p:nvPr/>
        </p:nvSpPr>
        <p:spPr>
          <a:xfrm xmlns:a="http://schemas.openxmlformats.org/drawingml/2006/main">
            <a:off x="800100" y="2952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6"/>
                </a:solidFill>
                <a:latin typeface="Aptos"/>
                <a:ea typeface="Aptos"/>
                <a:cs typeface="Aptos"/>
              </a:defRPr>
            </a:pPr>
            <a:r>
              <a:rPr sz="1650" b="0">
                <a:solidFill>
                  <a:srgbClr val="526776"/>
                </a:solidFill>
                <a:latin typeface="Aptos"/>
                <a:ea typeface="Aptos"/>
                <a:cs typeface="Aptos"/>
              </a:rPr>
              <a:t>16 interacting populations</a:t>
            </a:r>
          </a:p>
        </p:txBody>
      </p:sp>
      <p:sp>
        <p:nvSpPr>
          <p:cNvPr id="9" name="">
            <a:extLst xmlns:a="http://schemas.openxmlformats.org/drawingml/2006/main">
              <a:ext uri="{FF2B5EF4-FFF2-40B4-BE49-F238E27FC236}">
                <a16:creationId xmlns:a16="http://schemas.microsoft.com/office/drawing/2014/main" id="{9BCE58DF-8CB6-4252-BA16-BB63C55C0232}"/>
              </a:ext>
            </a:extLst>
          </p:cNvPr>
          <p:cNvSpPr>
            <a:spLocks xmlns:a="http://schemas.openxmlformats.org/drawingml/2006/main" noGrp="1"/>
          </p:cNvSpPr>
          <p:nvPr/>
        </p:nvSpPr>
        <p:spPr>
          <a:xfrm xmlns:a="http://schemas.openxmlformats.org/drawingml/2006/main">
            <a:off x="4476750" y="2381250"/>
            <a:ext cx="3238500" cy="1066800"/>
          </a:xfrm>
          <a:prstGeom xmlns:a="http://schemas.openxmlformats.org/drawingml/2006/main" prst="rect">
            <a:avLst/>
          </a:prstGeom>
          <a:solidFill xmlns:a="http://schemas.openxmlformats.org/drawingml/2006/main">
            <a:srgbClr val="E4F4F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D81553-B2B7-4F79-B189-E5250F896D9D}"/>
              </a:ext>
            </a:extLst>
          </p:cNvPr>
          <p:cNvSpPr>
            <a:spLocks xmlns:a="http://schemas.openxmlformats.org/drawingml/2006/main" noGrp="1"/>
          </p:cNvSpPr>
          <p:nvPr/>
        </p:nvSpPr>
        <p:spPr>
          <a:xfrm xmlns:a="http://schemas.openxmlformats.org/drawingml/2006/main">
            <a:off x="4667250" y="2524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Noisy measurement</a:t>
            </a:r>
          </a:p>
        </p:txBody>
      </p:sp>
      <p:sp>
        <p:nvSpPr>
          <p:cNvPr id="11" name="">
            <a:extLst xmlns:a="http://schemas.openxmlformats.org/drawingml/2006/main">
              <a:ext uri="{FF2B5EF4-FFF2-40B4-BE49-F238E27FC236}">
                <a16:creationId xmlns:a16="http://schemas.microsoft.com/office/drawing/2014/main" id="{A01764E3-9AA6-4D23-9B70-54DB7E7D8431}"/>
              </a:ext>
            </a:extLst>
          </p:cNvPr>
          <p:cNvSpPr>
            <a:spLocks xmlns:a="http://schemas.openxmlformats.org/drawingml/2006/main" noGrp="1"/>
          </p:cNvSpPr>
          <p:nvPr/>
        </p:nvSpPr>
        <p:spPr>
          <a:xfrm xmlns:a="http://schemas.openxmlformats.org/drawingml/2006/main">
            <a:off x="4667250" y="2952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6"/>
                </a:solidFill>
                <a:latin typeface="Aptos"/>
                <a:ea typeface="Aptos"/>
                <a:cs typeface="Aptos"/>
              </a:defRPr>
            </a:pPr>
            <a:r>
              <a:rPr sz="1650" b="0">
                <a:solidFill>
                  <a:srgbClr val="526776"/>
                </a:solidFill>
                <a:latin typeface="Aptos"/>
                <a:ea typeface="Aptos"/>
                <a:cs typeface="Aptos"/>
              </a:rPr>
              <a:t>Average activity over time</a:t>
            </a:r>
          </a:p>
        </p:txBody>
      </p:sp>
      <p:sp>
        <p:nvSpPr>
          <p:cNvPr id="12" name="">
            <a:extLst xmlns:a="http://schemas.openxmlformats.org/drawingml/2006/main">
              <a:ext uri="{FF2B5EF4-FFF2-40B4-BE49-F238E27FC236}">
                <a16:creationId xmlns:a16="http://schemas.microsoft.com/office/drawing/2014/main" id="{2F5F76AB-06D5-44A3-9C96-1149E4B170FA}"/>
              </a:ext>
            </a:extLst>
          </p:cNvPr>
          <p:cNvSpPr>
            <a:spLocks xmlns:a="http://schemas.openxmlformats.org/drawingml/2006/main" noGrp="1"/>
          </p:cNvSpPr>
          <p:nvPr/>
        </p:nvSpPr>
        <p:spPr>
          <a:xfrm xmlns:a="http://schemas.openxmlformats.org/drawingml/2006/main">
            <a:off x="8343900" y="2381250"/>
            <a:ext cx="3238500" cy="1066800"/>
          </a:xfrm>
          <a:prstGeom xmlns:a="http://schemas.openxmlformats.org/drawingml/2006/main" prst="rect">
            <a:avLst/>
          </a:prstGeom>
          <a:solidFill xmlns:a="http://schemas.openxmlformats.org/drawingml/2006/main">
            <a:srgbClr val="E4F4F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B5E791-5165-46ED-9B92-4D02E4EA3D7B}"/>
              </a:ext>
            </a:extLst>
          </p:cNvPr>
          <p:cNvSpPr>
            <a:spLocks xmlns:a="http://schemas.openxmlformats.org/drawingml/2006/main" noGrp="1"/>
          </p:cNvSpPr>
          <p:nvPr/>
        </p:nvSpPr>
        <p:spPr>
          <a:xfrm xmlns:a="http://schemas.openxmlformats.org/drawingml/2006/main">
            <a:off x="8534400" y="252412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Feedback rule</a:t>
            </a:r>
          </a:p>
        </p:txBody>
      </p:sp>
      <p:sp>
        <p:nvSpPr>
          <p:cNvPr id="14" name="">
            <a:extLst xmlns:a="http://schemas.openxmlformats.org/drawingml/2006/main">
              <a:ext uri="{FF2B5EF4-FFF2-40B4-BE49-F238E27FC236}">
                <a16:creationId xmlns:a16="http://schemas.microsoft.com/office/drawing/2014/main" id="{660DB101-F59A-4D15-8820-444A4B1AAF05}"/>
              </a:ext>
            </a:extLst>
          </p:cNvPr>
          <p:cNvSpPr>
            <a:spLocks xmlns:a="http://schemas.openxmlformats.org/drawingml/2006/main" noGrp="1"/>
          </p:cNvSpPr>
          <p:nvPr/>
        </p:nvSpPr>
        <p:spPr>
          <a:xfrm xmlns:a="http://schemas.openxmlformats.org/drawingml/2006/main">
            <a:off x="8534400" y="29527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6"/>
                </a:solidFill>
                <a:latin typeface="Aptos"/>
                <a:ea typeface="Aptos"/>
                <a:cs typeface="Aptos"/>
              </a:defRPr>
            </a:pPr>
            <a:r>
              <a:rPr sz="1650" b="0">
                <a:solidFill>
                  <a:srgbClr val="526776"/>
                </a:solidFill>
                <a:latin typeface="Aptos"/>
                <a:ea typeface="Aptos"/>
                <a:cs typeface="Aptos"/>
              </a:rPr>
              <a:t>Activity + entropy errors</a:t>
            </a:r>
          </a:p>
        </p:txBody>
      </p:sp>
      <p:sp>
        <p:nvSpPr>
          <p:cNvPr id="15" name="">
            <a:extLst xmlns:a="http://schemas.openxmlformats.org/drawingml/2006/main">
              <a:ext uri="{FF2B5EF4-FFF2-40B4-BE49-F238E27FC236}">
                <a16:creationId xmlns:a16="http://schemas.microsoft.com/office/drawing/2014/main" id="{4835EBF9-FD2B-4A49-AB8F-09FA811CCCE2}"/>
              </a:ext>
            </a:extLst>
          </p:cNvPr>
          <p:cNvSpPr>
            <a:spLocks xmlns:a="http://schemas.openxmlformats.org/drawingml/2006/main" noGrp="1"/>
          </p:cNvSpPr>
          <p:nvPr/>
        </p:nvSpPr>
        <p:spPr>
          <a:xfrm xmlns:a="http://schemas.openxmlformats.org/drawingml/2006/main">
            <a:off x="8343900" y="4267200"/>
            <a:ext cx="3238500" cy="1066800"/>
          </a:xfrm>
          <a:prstGeom xmlns:a="http://schemas.openxmlformats.org/drawingml/2006/main" prst="rect">
            <a:avLst/>
          </a:prstGeom>
          <a:solidFill xmlns:a="http://schemas.openxmlformats.org/drawingml/2006/main">
            <a:srgbClr val="E4F4F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90B4024-B499-4097-843E-8C1D82A3C31C}"/>
              </a:ext>
            </a:extLst>
          </p:cNvPr>
          <p:cNvSpPr>
            <a:spLocks xmlns:a="http://schemas.openxmlformats.org/drawingml/2006/main" noGrp="1"/>
          </p:cNvSpPr>
          <p:nvPr/>
        </p:nvSpPr>
        <p:spPr>
          <a:xfrm xmlns:a="http://schemas.openxmlformats.org/drawingml/2006/main">
            <a:off x="8534400" y="44100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Input constraints</a:t>
            </a:r>
          </a:p>
        </p:txBody>
      </p:sp>
      <p:sp>
        <p:nvSpPr>
          <p:cNvPr id="17" name="">
            <a:extLst xmlns:a="http://schemas.openxmlformats.org/drawingml/2006/main">
              <a:ext uri="{FF2B5EF4-FFF2-40B4-BE49-F238E27FC236}">
                <a16:creationId xmlns:a16="http://schemas.microsoft.com/office/drawing/2014/main" id="{CF9737DA-6885-438C-9EC7-FDB33AE4E038}"/>
              </a:ext>
            </a:extLst>
          </p:cNvPr>
          <p:cNvSpPr>
            <a:spLocks xmlns:a="http://schemas.openxmlformats.org/drawingml/2006/main" noGrp="1"/>
          </p:cNvSpPr>
          <p:nvPr/>
        </p:nvSpPr>
        <p:spPr>
          <a:xfrm xmlns:a="http://schemas.openxmlformats.org/drawingml/2006/main">
            <a:off x="8534400" y="48387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6"/>
                </a:solidFill>
                <a:latin typeface="Aptos"/>
                <a:ea typeface="Aptos"/>
                <a:cs typeface="Aptos"/>
              </a:defRPr>
            </a:pPr>
            <a:r>
              <a:rPr sz="1650" b="0">
                <a:solidFill>
                  <a:srgbClr val="526776"/>
                </a:solidFill>
                <a:latin typeface="Aptos"/>
                <a:ea typeface="Aptos"/>
                <a:cs typeface="Aptos"/>
              </a:rPr>
              <a:t>Bound amplitude and change</a:t>
            </a:r>
          </a:p>
        </p:txBody>
      </p:sp>
      <p:sp>
        <p:nvSpPr>
          <p:cNvPr id="18" name="">
            <a:extLst xmlns:a="http://schemas.openxmlformats.org/drawingml/2006/main">
              <a:ext uri="{FF2B5EF4-FFF2-40B4-BE49-F238E27FC236}">
                <a16:creationId xmlns:a16="http://schemas.microsoft.com/office/drawing/2014/main" id="{329B15C8-9897-4C71-ACCB-9048F9D14778}"/>
              </a:ext>
            </a:extLst>
          </p:cNvPr>
          <p:cNvSpPr>
            <a:spLocks xmlns:a="http://schemas.openxmlformats.org/drawingml/2006/main" noGrp="1"/>
          </p:cNvSpPr>
          <p:nvPr/>
        </p:nvSpPr>
        <p:spPr>
          <a:xfrm xmlns:a="http://schemas.openxmlformats.org/drawingml/2006/main">
            <a:off x="609600" y="4267200"/>
            <a:ext cx="3238500" cy="1066800"/>
          </a:xfrm>
          <a:prstGeom xmlns:a="http://schemas.openxmlformats.org/drawingml/2006/main" prst="rect">
            <a:avLst/>
          </a:prstGeom>
          <a:solidFill xmlns:a="http://schemas.openxmlformats.org/drawingml/2006/main">
            <a:srgbClr val="E4F4F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21B445F-88A1-4B12-8016-09F86D037962}"/>
              </a:ext>
            </a:extLst>
          </p:cNvPr>
          <p:cNvSpPr>
            <a:spLocks xmlns:a="http://schemas.openxmlformats.org/drawingml/2006/main" noGrp="1"/>
          </p:cNvSpPr>
          <p:nvPr/>
        </p:nvSpPr>
        <p:spPr>
          <a:xfrm xmlns:a="http://schemas.openxmlformats.org/drawingml/2006/main">
            <a:off x="800100" y="4410075"/>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Applied input</a:t>
            </a:r>
          </a:p>
        </p:txBody>
      </p:sp>
      <p:sp>
        <p:nvSpPr>
          <p:cNvPr id="20" name="">
            <a:extLst xmlns:a="http://schemas.openxmlformats.org/drawingml/2006/main">
              <a:ext uri="{FF2B5EF4-FFF2-40B4-BE49-F238E27FC236}">
                <a16:creationId xmlns:a16="http://schemas.microsoft.com/office/drawing/2014/main" id="{583A3932-223E-48AF-B77A-DCE65BAFED12}"/>
              </a:ext>
            </a:extLst>
          </p:cNvPr>
          <p:cNvSpPr>
            <a:spLocks xmlns:a="http://schemas.openxmlformats.org/drawingml/2006/main" noGrp="1"/>
          </p:cNvSpPr>
          <p:nvPr/>
        </p:nvSpPr>
        <p:spPr>
          <a:xfrm xmlns:a="http://schemas.openxmlformats.org/drawingml/2006/main">
            <a:off x="800100" y="48387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776"/>
                </a:solidFill>
                <a:latin typeface="Aptos"/>
                <a:ea typeface="Aptos"/>
                <a:cs typeface="Aptos"/>
              </a:defRPr>
            </a:pPr>
            <a:r>
              <a:rPr sz="1650" b="0">
                <a:solidFill>
                  <a:srgbClr val="526776"/>
                </a:solidFill>
                <a:latin typeface="Aptos"/>
                <a:ea typeface="Aptos"/>
                <a:cs typeface="Aptos"/>
              </a:rPr>
              <a:t>Influences the circuit</a:t>
            </a:r>
          </a:p>
        </p:txBody>
      </p:sp>
      <p:sp>
        <p:nvSpPr>
          <p:cNvPr id="21" name="">
            <a:extLst xmlns:a="http://schemas.openxmlformats.org/drawingml/2006/main">
              <a:ext uri="{FF2B5EF4-FFF2-40B4-BE49-F238E27FC236}">
                <a16:creationId xmlns:a16="http://schemas.microsoft.com/office/drawing/2014/main" id="{CDBD4054-AEC5-4AB1-96AA-F086E6513F7A}"/>
              </a:ext>
            </a:extLst>
          </p:cNvPr>
          <p:cNvSpPr>
            <a:spLocks xmlns:a="http://schemas.openxmlformats.org/drawingml/2006/main" noGrp="1"/>
          </p:cNvSpPr>
          <p:nvPr/>
        </p:nvSpPr>
        <p:spPr>
          <a:xfrm xmlns:a="http://schemas.openxmlformats.org/drawingml/2006/main">
            <a:off x="3971925" y="2695575"/>
            <a:ext cx="381000" cy="266700"/>
          </a:xfrm>
          <a:prstGeom xmlns:a="http://schemas.openxmlformats.org/drawingml/2006/main" prst="rightArrow">
            <a:avLst/>
          </a:prstGeom>
          <a:solidFill xmlns:a="http://schemas.openxmlformats.org/drawingml/2006/main">
            <a:srgbClr val="008C9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949EBBF-08A3-4E4F-8EBE-38102ED3A680}"/>
              </a:ext>
            </a:extLst>
          </p:cNvPr>
          <p:cNvSpPr>
            <a:spLocks xmlns:a="http://schemas.openxmlformats.org/drawingml/2006/main" noGrp="1"/>
          </p:cNvSpPr>
          <p:nvPr/>
        </p:nvSpPr>
        <p:spPr>
          <a:xfrm xmlns:a="http://schemas.openxmlformats.org/drawingml/2006/main">
            <a:off x="7839075" y="2695575"/>
            <a:ext cx="381000" cy="266700"/>
          </a:xfrm>
          <a:prstGeom xmlns:a="http://schemas.openxmlformats.org/drawingml/2006/main" prst="rightArrow">
            <a:avLst/>
          </a:prstGeom>
          <a:solidFill xmlns:a="http://schemas.openxmlformats.org/drawingml/2006/main">
            <a:srgbClr val="008C9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92D9B84-6081-4379-B6AF-738DBBC1B449}"/>
              </a:ext>
            </a:extLst>
          </p:cNvPr>
          <p:cNvSpPr>
            <a:spLocks xmlns:a="http://schemas.openxmlformats.org/drawingml/2006/main" noGrp="1"/>
          </p:cNvSpPr>
          <p:nvPr/>
        </p:nvSpPr>
        <p:spPr>
          <a:xfrm xmlns:a="http://schemas.openxmlformats.org/drawingml/2006/main">
            <a:off x="9763125" y="3619500"/>
            <a:ext cx="266700" cy="428625"/>
          </a:xfrm>
          <a:prstGeom xmlns:a="http://schemas.openxmlformats.org/drawingml/2006/main" prst="downArrow">
            <a:avLst/>
          </a:prstGeom>
          <a:solidFill xmlns:a="http://schemas.openxmlformats.org/drawingml/2006/main">
            <a:srgbClr val="008C9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A511E15-49AE-410C-A9E5-48FDCBFB790A}"/>
              </a:ext>
            </a:extLst>
          </p:cNvPr>
          <p:cNvSpPr>
            <a:spLocks xmlns:a="http://schemas.openxmlformats.org/drawingml/2006/main" noGrp="1"/>
          </p:cNvSpPr>
          <p:nvPr/>
        </p:nvSpPr>
        <p:spPr>
          <a:xfrm xmlns:a="http://schemas.openxmlformats.org/drawingml/2006/main">
            <a:off x="4095750" y="4619625"/>
            <a:ext cx="4000500" cy="266700"/>
          </a:xfrm>
          <a:prstGeom xmlns:a="http://schemas.openxmlformats.org/drawingml/2006/main" prst="leftArrow">
            <a:avLst/>
          </a:prstGeom>
          <a:solidFill xmlns:a="http://schemas.openxmlformats.org/drawingml/2006/main">
            <a:srgbClr val="008C9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F453846-E501-49DB-95D7-1D3F1A8ABD54}"/>
              </a:ext>
            </a:extLst>
          </p:cNvPr>
          <p:cNvSpPr>
            <a:spLocks xmlns:a="http://schemas.openxmlformats.org/drawingml/2006/main" noGrp="1"/>
          </p:cNvSpPr>
          <p:nvPr/>
        </p:nvSpPr>
        <p:spPr>
          <a:xfrm xmlns:a="http://schemas.openxmlformats.org/drawingml/2006/main">
            <a:off x="2047875" y="3619500"/>
            <a:ext cx="266700" cy="428625"/>
          </a:xfrm>
          <a:prstGeom xmlns:a="http://schemas.openxmlformats.org/drawingml/2006/main" prst="upArrow">
            <a:avLst/>
          </a:prstGeom>
          <a:solidFill xmlns:a="http://schemas.openxmlformats.org/drawingml/2006/main">
            <a:srgbClr val="008C9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B0C7655-D71C-4368-95E7-922209D1FE5A}"/>
              </a:ext>
            </a:extLst>
          </p:cNvPr>
          <p:cNvSpPr>
            <a:spLocks xmlns:a="http://schemas.openxmlformats.org/drawingml/2006/main" noGrp="1"/>
          </p:cNvSpPr>
          <p:nvPr/>
        </p:nvSpPr>
        <p:spPr>
          <a:xfrm xmlns:a="http://schemas.openxmlformats.org/drawingml/2006/main">
            <a:off x="4200525" y="5276850"/>
            <a:ext cx="3714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a:solidFill>
                  <a:srgbClr val="008C94"/>
                </a:solidFill>
                <a:latin typeface="Aptos"/>
                <a:ea typeface="Aptos"/>
                <a:cs typeface="Aptos"/>
              </a:defRPr>
            </a:pPr>
            <a:r>
              <a:rPr sz="1800" b="1">
                <a:solidFill>
                  <a:srgbClr val="008C94"/>
                </a:solidFill>
                <a:latin typeface="Aptos"/>
                <a:ea typeface="Aptos"/>
                <a:cs typeface="Aptos"/>
              </a:rPr>
              <a:t>Independent task readout</a:t>
            </a:r>
          </a:p>
          <a:p xmlns:a="http://schemas.openxmlformats.org/drawingml/2006/main">
            <a:pPr algn="ctr">
              <a:defRPr sz="1800" b="1">
                <a:solidFill>
                  <a:srgbClr val="008C94"/>
                </a:solidFill>
                <a:latin typeface="Aptos"/>
                <a:ea typeface="Aptos"/>
                <a:cs typeface="Aptos"/>
              </a:defRPr>
            </a:pPr>
            <a:r>
              <a:rPr sz="1800" b="1">
                <a:solidFill>
                  <a:srgbClr val="008C94"/>
                </a:solidFill>
                <a:latin typeface="Aptos"/>
                <a:ea typeface="Aptos"/>
                <a:cs typeface="Aptos"/>
              </a:rPr>
              <a:t>checks whether it helped</a:t>
            </a:r>
          </a:p>
        </p:txBody>
      </p:sp>
    </p:spTree>
    <p:extLst>
      <p:ext uri="{BB962C8B-B14F-4D97-AF65-F5344CB8AC3E}">
        <p14:creationId xmlns:p14="http://schemas.microsoft.com/office/powerpoint/2010/main" val="1508905388"/>
      </p:ext>
    </p:extLst>
  </p:cSld>
</p:sld>
</file>

<file path=ppt/slides/slide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D431184-EA9B-46F1-BFE9-F6FACF08183A}"/>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THE CONTROLS</a:t>
            </a:r>
          </a:p>
        </p:txBody>
      </p:sp>
      <p:sp>
        <p:nvSpPr>
          <p:cNvPr id="2" name="">
            <a:extLst xmlns:a="http://schemas.openxmlformats.org/drawingml/2006/main">
              <a:ext uri="{FF2B5EF4-FFF2-40B4-BE49-F238E27FC236}">
                <a16:creationId xmlns:a16="http://schemas.microsoft.com/office/drawing/2014/main" id="{4DA2FB5D-CB60-4741-815C-6CC9BE466D26}"/>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Six strategies reveal different explanations</a:t>
            </a:r>
          </a:p>
        </p:txBody>
      </p:sp>
      <p:sp>
        <p:nvSpPr>
          <p:cNvPr id="3" name="">
            <a:extLst xmlns:a="http://schemas.openxmlformats.org/drawingml/2006/main">
              <a:ext uri="{FF2B5EF4-FFF2-40B4-BE49-F238E27FC236}">
                <a16:creationId xmlns:a16="http://schemas.microsoft.com/office/drawing/2014/main" id="{3F142B08-E0BE-4CE6-93CF-4625A910887E}"/>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88F7CA-F057-4D56-BB6C-22D3A21B8C2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2AA19238-18DC-4A4F-ABB2-DE52ED9854EF}"/>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07</a:t>
            </a:r>
          </a:p>
        </p:txBody>
      </p:sp>
      <p:sp>
        <p:nvSpPr>
          <p:cNvPr id="6" name="">
            <a:extLst xmlns:a="http://schemas.openxmlformats.org/drawingml/2006/main">
              <a:ext uri="{FF2B5EF4-FFF2-40B4-BE49-F238E27FC236}">
                <a16:creationId xmlns:a16="http://schemas.microsoft.com/office/drawing/2014/main" id="{E3210E8B-6B0B-4D6A-8580-BCA8116A0C63}"/>
              </a:ext>
            </a:extLst>
          </p:cNvPr>
          <p:cNvSpPr>
            <a:spLocks xmlns:a="http://schemas.openxmlformats.org/drawingml/2006/main" noGrp="1"/>
          </p:cNvSpPr>
          <p:nvPr/>
        </p:nvSpPr>
        <p:spPr>
          <a:xfrm xmlns:a="http://schemas.openxmlformats.org/drawingml/2006/main">
            <a:off x="609600" y="2057400"/>
            <a:ext cx="31146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8C94"/>
                </a:solidFill>
                <a:latin typeface="Aptos"/>
                <a:ea typeface="Aptos"/>
                <a:cs typeface="Aptos"/>
              </a:defRPr>
            </a:pPr>
            <a:r>
              <a:rPr sz="1650" b="1">
                <a:solidFill>
                  <a:srgbClr val="008C94"/>
                </a:solidFill>
                <a:latin typeface="Aptos"/>
                <a:ea typeface="Aptos"/>
                <a:cs typeface="Aptos"/>
              </a:rPr>
              <a:t>Strategy</a:t>
            </a:r>
          </a:p>
        </p:txBody>
      </p:sp>
      <p:sp>
        <p:nvSpPr>
          <p:cNvPr id="7" name="">
            <a:extLst xmlns:a="http://schemas.openxmlformats.org/drawingml/2006/main">
              <a:ext uri="{FF2B5EF4-FFF2-40B4-BE49-F238E27FC236}">
                <a16:creationId xmlns:a16="http://schemas.microsoft.com/office/drawing/2014/main" id="{5964E1DF-FD1D-41FE-966F-B21511E4236E}"/>
              </a:ext>
            </a:extLst>
          </p:cNvPr>
          <p:cNvSpPr>
            <a:spLocks xmlns:a="http://schemas.openxmlformats.org/drawingml/2006/main" noGrp="1"/>
          </p:cNvSpPr>
          <p:nvPr/>
        </p:nvSpPr>
        <p:spPr>
          <a:xfrm xmlns:a="http://schemas.openxmlformats.org/drawingml/2006/main">
            <a:off x="3895725" y="2057400"/>
            <a:ext cx="7515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008C94"/>
                </a:solidFill>
                <a:latin typeface="Aptos"/>
                <a:ea typeface="Aptos"/>
                <a:cs typeface="Aptos"/>
              </a:defRPr>
            </a:pPr>
            <a:r>
              <a:rPr sz="1650" b="1">
                <a:solidFill>
                  <a:srgbClr val="008C94"/>
                </a:solidFill>
                <a:latin typeface="Aptos"/>
                <a:ea typeface="Aptos"/>
                <a:cs typeface="Aptos"/>
              </a:rPr>
              <a:t>What it tests</a:t>
            </a:r>
          </a:p>
        </p:txBody>
      </p:sp>
      <p:sp>
        <p:nvSpPr>
          <p:cNvPr id="8" name="">
            <a:extLst xmlns:a="http://schemas.openxmlformats.org/drawingml/2006/main">
              <a:ext uri="{FF2B5EF4-FFF2-40B4-BE49-F238E27FC236}">
                <a16:creationId xmlns:a16="http://schemas.microsoft.com/office/drawing/2014/main" id="{0F322669-CB61-44DC-B72B-B279D356BA3A}"/>
              </a:ext>
            </a:extLst>
          </p:cNvPr>
          <p:cNvSpPr>
            <a:spLocks xmlns:a="http://schemas.openxmlformats.org/drawingml/2006/main" noGrp="1"/>
          </p:cNvSpPr>
          <p:nvPr/>
        </p:nvSpPr>
        <p:spPr>
          <a:xfrm xmlns:a="http://schemas.openxmlformats.org/drawingml/2006/main">
            <a:off x="609600" y="248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1E312B2-C984-4E4D-93D0-955D57C92484}"/>
              </a:ext>
            </a:extLst>
          </p:cNvPr>
          <p:cNvSpPr>
            <a:spLocks xmlns:a="http://schemas.openxmlformats.org/drawingml/2006/main" noGrp="1"/>
          </p:cNvSpPr>
          <p:nvPr/>
        </p:nvSpPr>
        <p:spPr>
          <a:xfrm xmlns:a="http://schemas.openxmlformats.org/drawingml/2006/main">
            <a:off x="609600" y="2647950"/>
            <a:ext cx="3114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83A"/>
                </a:solidFill>
                <a:latin typeface="Aptos"/>
                <a:ea typeface="Aptos"/>
                <a:cs typeface="Aptos"/>
              </a:defRPr>
            </a:pPr>
            <a:r>
              <a:rPr sz="1725" b="1">
                <a:solidFill>
                  <a:srgbClr val="11283A"/>
                </a:solidFill>
                <a:latin typeface="Aptos"/>
                <a:ea typeface="Aptos"/>
                <a:cs typeface="Aptos"/>
              </a:rPr>
              <a:t>No input</a:t>
            </a:r>
          </a:p>
        </p:txBody>
      </p:sp>
      <p:sp>
        <p:nvSpPr>
          <p:cNvPr id="10" name="">
            <a:extLst xmlns:a="http://schemas.openxmlformats.org/drawingml/2006/main">
              <a:ext uri="{FF2B5EF4-FFF2-40B4-BE49-F238E27FC236}">
                <a16:creationId xmlns:a16="http://schemas.microsoft.com/office/drawing/2014/main" id="{90707204-E1CC-42C1-B460-78A2E3CEA125}"/>
              </a:ext>
            </a:extLst>
          </p:cNvPr>
          <p:cNvSpPr>
            <a:spLocks xmlns:a="http://schemas.openxmlformats.org/drawingml/2006/main" noGrp="1"/>
          </p:cNvSpPr>
          <p:nvPr/>
        </p:nvSpPr>
        <p:spPr>
          <a:xfrm xmlns:a="http://schemas.openxmlformats.org/drawingml/2006/main">
            <a:off x="3895725" y="2647950"/>
            <a:ext cx="7515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What happens without feedback</a:t>
            </a:r>
          </a:p>
        </p:txBody>
      </p:sp>
      <p:sp>
        <p:nvSpPr>
          <p:cNvPr id="11" name="">
            <a:extLst xmlns:a="http://schemas.openxmlformats.org/drawingml/2006/main">
              <a:ext uri="{FF2B5EF4-FFF2-40B4-BE49-F238E27FC236}">
                <a16:creationId xmlns:a16="http://schemas.microsoft.com/office/drawing/2014/main" id="{5C8BF04A-015E-4DEA-B23A-830E177D95F8}"/>
              </a:ext>
            </a:extLst>
          </p:cNvPr>
          <p:cNvSpPr>
            <a:spLocks xmlns:a="http://schemas.openxmlformats.org/drawingml/2006/main" noGrp="1"/>
          </p:cNvSpPr>
          <p:nvPr/>
        </p:nvSpPr>
        <p:spPr>
          <a:xfrm xmlns:a="http://schemas.openxmlformats.org/drawingml/2006/main">
            <a:off x="609600" y="30956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4038F90-0ADB-4314-A812-D93C61F6CD9F}"/>
              </a:ext>
            </a:extLst>
          </p:cNvPr>
          <p:cNvSpPr>
            <a:spLocks xmlns:a="http://schemas.openxmlformats.org/drawingml/2006/main" noGrp="1"/>
          </p:cNvSpPr>
          <p:nvPr/>
        </p:nvSpPr>
        <p:spPr>
          <a:xfrm xmlns:a="http://schemas.openxmlformats.org/drawingml/2006/main">
            <a:off x="609600" y="3209925"/>
            <a:ext cx="3114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83A"/>
                </a:solidFill>
                <a:latin typeface="Aptos"/>
                <a:ea typeface="Aptos"/>
                <a:cs typeface="Aptos"/>
              </a:defRPr>
            </a:pPr>
            <a:r>
              <a:rPr sz="1725" b="1">
                <a:solidFill>
                  <a:srgbClr val="11283A"/>
                </a:solidFill>
                <a:latin typeface="Aptos"/>
                <a:ea typeface="Aptos"/>
                <a:cs typeface="Aptos"/>
              </a:rPr>
              <a:t>Calibrated fixed input</a:t>
            </a:r>
          </a:p>
        </p:txBody>
      </p:sp>
      <p:sp>
        <p:nvSpPr>
          <p:cNvPr id="13" name="">
            <a:extLst xmlns:a="http://schemas.openxmlformats.org/drawingml/2006/main">
              <a:ext uri="{FF2B5EF4-FFF2-40B4-BE49-F238E27FC236}">
                <a16:creationId xmlns:a16="http://schemas.microsoft.com/office/drawing/2014/main" id="{87F029A2-0BFD-45AA-8232-4D4AE00FB98F}"/>
              </a:ext>
            </a:extLst>
          </p:cNvPr>
          <p:cNvSpPr>
            <a:spLocks xmlns:a="http://schemas.openxmlformats.org/drawingml/2006/main" noGrp="1"/>
          </p:cNvSpPr>
          <p:nvPr/>
        </p:nvSpPr>
        <p:spPr>
          <a:xfrm xmlns:a="http://schemas.openxmlformats.org/drawingml/2006/main">
            <a:off x="3895725" y="3209925"/>
            <a:ext cx="7515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Whether a simpler constant input is enough</a:t>
            </a:r>
          </a:p>
        </p:txBody>
      </p:sp>
      <p:sp>
        <p:nvSpPr>
          <p:cNvPr id="14" name="">
            <a:extLst xmlns:a="http://schemas.openxmlformats.org/drawingml/2006/main">
              <a:ext uri="{FF2B5EF4-FFF2-40B4-BE49-F238E27FC236}">
                <a16:creationId xmlns:a16="http://schemas.microsoft.com/office/drawing/2014/main" id="{628AE5E5-D1A2-4357-A7C1-B421CE812AD1}"/>
              </a:ext>
            </a:extLst>
          </p:cNvPr>
          <p:cNvSpPr>
            <a:spLocks xmlns:a="http://schemas.openxmlformats.org/drawingml/2006/main" noGrp="1"/>
          </p:cNvSpPr>
          <p:nvPr/>
        </p:nvSpPr>
        <p:spPr>
          <a:xfrm xmlns:a="http://schemas.openxmlformats.org/drawingml/2006/main">
            <a:off x="609600" y="365760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72226D-6ACE-4292-9601-075003C168AB}"/>
              </a:ext>
            </a:extLst>
          </p:cNvPr>
          <p:cNvSpPr>
            <a:spLocks xmlns:a="http://schemas.openxmlformats.org/drawingml/2006/main" noGrp="1"/>
          </p:cNvSpPr>
          <p:nvPr/>
        </p:nvSpPr>
        <p:spPr>
          <a:xfrm xmlns:a="http://schemas.openxmlformats.org/drawingml/2006/main">
            <a:off x="609600" y="3771900"/>
            <a:ext cx="3114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83A"/>
                </a:solidFill>
                <a:latin typeface="Aptos"/>
                <a:ea typeface="Aptos"/>
                <a:cs typeface="Aptos"/>
              </a:defRPr>
            </a:pPr>
            <a:r>
              <a:rPr sz="1725" b="1">
                <a:solidFill>
                  <a:srgbClr val="11283A"/>
                </a:solidFill>
                <a:latin typeface="Aptos"/>
                <a:ea typeface="Aptos"/>
                <a:cs typeface="Aptos"/>
              </a:rPr>
              <a:t>Activity feedback</a:t>
            </a:r>
          </a:p>
        </p:txBody>
      </p:sp>
      <p:sp>
        <p:nvSpPr>
          <p:cNvPr id="16" name="">
            <a:extLst xmlns:a="http://schemas.openxmlformats.org/drawingml/2006/main">
              <a:ext uri="{FF2B5EF4-FFF2-40B4-BE49-F238E27FC236}">
                <a16:creationId xmlns:a16="http://schemas.microsoft.com/office/drawing/2014/main" id="{A05CF728-2535-4958-9FB2-28D66A72C2B0}"/>
              </a:ext>
            </a:extLst>
          </p:cNvPr>
          <p:cNvSpPr>
            <a:spLocks xmlns:a="http://schemas.openxmlformats.org/drawingml/2006/main" noGrp="1"/>
          </p:cNvSpPr>
          <p:nvPr/>
        </p:nvSpPr>
        <p:spPr>
          <a:xfrm xmlns:a="http://schemas.openxmlformats.org/drawingml/2006/main">
            <a:off x="3895725" y="3771900"/>
            <a:ext cx="7515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A simpler adaptive rule</a:t>
            </a:r>
          </a:p>
        </p:txBody>
      </p:sp>
      <p:sp>
        <p:nvSpPr>
          <p:cNvPr id="17" name="">
            <a:extLst xmlns:a="http://schemas.openxmlformats.org/drawingml/2006/main">
              <a:ext uri="{FF2B5EF4-FFF2-40B4-BE49-F238E27FC236}">
                <a16:creationId xmlns:a16="http://schemas.microsoft.com/office/drawing/2014/main" id="{D38DA9AF-7FC6-4965-9613-C6F1331BFBD0}"/>
              </a:ext>
            </a:extLst>
          </p:cNvPr>
          <p:cNvSpPr>
            <a:spLocks xmlns:a="http://schemas.openxmlformats.org/drawingml/2006/main" noGrp="1"/>
          </p:cNvSpPr>
          <p:nvPr/>
        </p:nvSpPr>
        <p:spPr>
          <a:xfrm xmlns:a="http://schemas.openxmlformats.org/drawingml/2006/main">
            <a:off x="609600" y="421957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6A862F2-962F-4654-A4F1-67A96F534B08}"/>
              </a:ext>
            </a:extLst>
          </p:cNvPr>
          <p:cNvSpPr>
            <a:spLocks xmlns:a="http://schemas.openxmlformats.org/drawingml/2006/main" noGrp="1"/>
          </p:cNvSpPr>
          <p:nvPr/>
        </p:nvSpPr>
        <p:spPr>
          <a:xfrm xmlns:a="http://schemas.openxmlformats.org/drawingml/2006/main">
            <a:off x="609600" y="4333875"/>
            <a:ext cx="3114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83A"/>
                </a:solidFill>
                <a:latin typeface="Aptos"/>
                <a:ea typeface="Aptos"/>
                <a:cs typeface="Aptos"/>
              </a:defRPr>
            </a:pPr>
            <a:r>
              <a:rPr sz="1725" b="1">
                <a:solidFill>
                  <a:srgbClr val="11283A"/>
                </a:solidFill>
                <a:latin typeface="Aptos"/>
                <a:ea typeface="Aptos"/>
                <a:cs typeface="Aptos"/>
              </a:rPr>
              <a:t>Entropy feedback</a:t>
            </a:r>
          </a:p>
        </p:txBody>
      </p:sp>
      <p:sp>
        <p:nvSpPr>
          <p:cNvPr id="19" name="">
            <a:extLst xmlns:a="http://schemas.openxmlformats.org/drawingml/2006/main">
              <a:ext uri="{FF2B5EF4-FFF2-40B4-BE49-F238E27FC236}">
                <a16:creationId xmlns:a16="http://schemas.microsoft.com/office/drawing/2014/main" id="{421A4BEF-BB5C-4434-91E8-DC8F9035C258}"/>
              </a:ext>
            </a:extLst>
          </p:cNvPr>
          <p:cNvSpPr>
            <a:spLocks xmlns:a="http://schemas.openxmlformats.org/drawingml/2006/main" noGrp="1"/>
          </p:cNvSpPr>
          <p:nvPr/>
        </p:nvSpPr>
        <p:spPr>
          <a:xfrm xmlns:a="http://schemas.openxmlformats.org/drawingml/2006/main">
            <a:off x="3895725" y="4333875"/>
            <a:ext cx="7515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The complexity term on its own</a:t>
            </a:r>
          </a:p>
        </p:txBody>
      </p:sp>
      <p:sp>
        <p:nvSpPr>
          <p:cNvPr id="20" name="">
            <a:extLst xmlns:a="http://schemas.openxmlformats.org/drawingml/2006/main">
              <a:ext uri="{FF2B5EF4-FFF2-40B4-BE49-F238E27FC236}">
                <a16:creationId xmlns:a16="http://schemas.microsoft.com/office/drawing/2014/main" id="{B01E3E17-7148-4874-8B01-F97266C7C682}"/>
              </a:ext>
            </a:extLst>
          </p:cNvPr>
          <p:cNvSpPr>
            <a:spLocks xmlns:a="http://schemas.openxmlformats.org/drawingml/2006/main" noGrp="1"/>
          </p:cNvSpPr>
          <p:nvPr/>
        </p:nvSpPr>
        <p:spPr>
          <a:xfrm xmlns:a="http://schemas.openxmlformats.org/drawingml/2006/main">
            <a:off x="609600" y="478155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F04D395-7F27-44F2-A80C-C780D9E50292}"/>
              </a:ext>
            </a:extLst>
          </p:cNvPr>
          <p:cNvSpPr>
            <a:spLocks xmlns:a="http://schemas.openxmlformats.org/drawingml/2006/main" noGrp="1"/>
          </p:cNvSpPr>
          <p:nvPr/>
        </p:nvSpPr>
        <p:spPr>
          <a:xfrm xmlns:a="http://schemas.openxmlformats.org/drawingml/2006/main">
            <a:off x="609600" y="4895850"/>
            <a:ext cx="3114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83A"/>
                </a:solidFill>
                <a:latin typeface="Aptos"/>
                <a:ea typeface="Aptos"/>
                <a:cs typeface="Aptos"/>
              </a:defRPr>
            </a:pPr>
            <a:r>
              <a:rPr sz="1725" b="1">
                <a:solidFill>
                  <a:srgbClr val="11283A"/>
                </a:solidFill>
                <a:latin typeface="Aptos"/>
                <a:ea typeface="Aptos"/>
                <a:cs typeface="Aptos"/>
              </a:rPr>
              <a:t>Activity + entropy</a:t>
            </a:r>
          </a:p>
        </p:txBody>
      </p:sp>
      <p:sp>
        <p:nvSpPr>
          <p:cNvPr id="22" name="">
            <a:extLst xmlns:a="http://schemas.openxmlformats.org/drawingml/2006/main">
              <a:ext uri="{FF2B5EF4-FFF2-40B4-BE49-F238E27FC236}">
                <a16:creationId xmlns:a16="http://schemas.microsoft.com/office/drawing/2014/main" id="{19A919E5-3118-4BBB-A348-F62FE5FBB357}"/>
              </a:ext>
            </a:extLst>
          </p:cNvPr>
          <p:cNvSpPr>
            <a:spLocks xmlns:a="http://schemas.openxmlformats.org/drawingml/2006/main" noGrp="1"/>
          </p:cNvSpPr>
          <p:nvPr/>
        </p:nvSpPr>
        <p:spPr>
          <a:xfrm xmlns:a="http://schemas.openxmlformats.org/drawingml/2006/main">
            <a:off x="3895725" y="4895850"/>
            <a:ext cx="7515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The incremental value of combining both</a:t>
            </a:r>
          </a:p>
        </p:txBody>
      </p:sp>
      <p:sp>
        <p:nvSpPr>
          <p:cNvPr id="23" name="">
            <a:extLst xmlns:a="http://schemas.openxmlformats.org/drawingml/2006/main">
              <a:ext uri="{FF2B5EF4-FFF2-40B4-BE49-F238E27FC236}">
                <a16:creationId xmlns:a16="http://schemas.microsoft.com/office/drawing/2014/main" id="{E79EC3FE-369C-4A78-AFBC-FE64DB311591}"/>
              </a:ext>
            </a:extLst>
          </p:cNvPr>
          <p:cNvSpPr>
            <a:spLocks xmlns:a="http://schemas.openxmlformats.org/drawingml/2006/main" noGrp="1"/>
          </p:cNvSpPr>
          <p:nvPr/>
        </p:nvSpPr>
        <p:spPr>
          <a:xfrm xmlns:a="http://schemas.openxmlformats.org/drawingml/2006/main">
            <a:off x="609600" y="53435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A49FB5E-7607-413A-B331-2A1B3EF9D6E3}"/>
              </a:ext>
            </a:extLst>
          </p:cNvPr>
          <p:cNvSpPr>
            <a:spLocks xmlns:a="http://schemas.openxmlformats.org/drawingml/2006/main" noGrp="1"/>
          </p:cNvSpPr>
          <p:nvPr/>
        </p:nvSpPr>
        <p:spPr>
          <a:xfrm xmlns:a="http://schemas.openxmlformats.org/drawingml/2006/main">
            <a:off x="609600" y="5457825"/>
            <a:ext cx="31146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1283A"/>
                </a:solidFill>
                <a:latin typeface="Aptos"/>
                <a:ea typeface="Aptos"/>
                <a:cs typeface="Aptos"/>
              </a:defRPr>
            </a:pPr>
            <a:r>
              <a:rPr sz="1725" b="1">
                <a:solidFill>
                  <a:srgbClr val="11283A"/>
                </a:solidFill>
                <a:latin typeface="Aptos"/>
                <a:ea typeface="Aptos"/>
                <a:cs typeface="Aptos"/>
              </a:rPr>
              <a:t>Yoked replay</a:t>
            </a:r>
          </a:p>
        </p:txBody>
      </p:sp>
      <p:sp>
        <p:nvSpPr>
          <p:cNvPr id="25" name="">
            <a:extLst xmlns:a="http://schemas.openxmlformats.org/drawingml/2006/main">
              <a:ext uri="{FF2B5EF4-FFF2-40B4-BE49-F238E27FC236}">
                <a16:creationId xmlns:a16="http://schemas.microsoft.com/office/drawing/2014/main" id="{1EA04069-798C-4F79-AF1D-87405D0E5893}"/>
              </a:ext>
            </a:extLst>
          </p:cNvPr>
          <p:cNvSpPr>
            <a:spLocks xmlns:a="http://schemas.openxmlformats.org/drawingml/2006/main" noGrp="1"/>
          </p:cNvSpPr>
          <p:nvPr/>
        </p:nvSpPr>
        <p:spPr>
          <a:xfrm xmlns:a="http://schemas.openxmlformats.org/drawingml/2006/main">
            <a:off x="3895725" y="5457825"/>
            <a:ext cx="75152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Input from another individual, without live feedback</a:t>
            </a:r>
          </a:p>
        </p:txBody>
      </p:sp>
    </p:spTree>
    <p:extLst>
      <p:ext uri="{BB962C8B-B14F-4D97-AF65-F5344CB8AC3E}">
        <p14:creationId xmlns:p14="http://schemas.microsoft.com/office/powerpoint/2010/main" val="908560806"/>
      </p:ext>
    </p:extLst>
  </p:cSld>
</p:sld>
</file>

<file path=ppt/slides/slide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C4310F9-224E-4249-9614-FD9D3039ABBF}"/>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REPRODUCIBILITY</a:t>
            </a:r>
          </a:p>
        </p:txBody>
      </p:sp>
      <p:sp>
        <p:nvSpPr>
          <p:cNvPr id="2" name="">
            <a:extLst xmlns:a="http://schemas.openxmlformats.org/drawingml/2006/main">
              <a:ext uri="{FF2B5EF4-FFF2-40B4-BE49-F238E27FC236}">
                <a16:creationId xmlns:a16="http://schemas.microsoft.com/office/drawing/2014/main" id="{A7051AC6-508E-4E60-984D-27398FA642F2}"/>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The benchmark is small enough to inspect</a:t>
            </a:r>
          </a:p>
        </p:txBody>
      </p:sp>
      <p:sp>
        <p:nvSpPr>
          <p:cNvPr id="3" name="">
            <a:extLst xmlns:a="http://schemas.openxmlformats.org/drawingml/2006/main">
              <a:ext uri="{FF2B5EF4-FFF2-40B4-BE49-F238E27FC236}">
                <a16:creationId xmlns:a16="http://schemas.microsoft.com/office/drawing/2014/main" id="{7FCE808E-3323-4E8D-A5E1-3F36C6A63CE5}"/>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EE2390B-EE95-4E5C-A72F-A1D25552B71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F541E219-4A51-48B9-A1F5-765F30906515}"/>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08</a:t>
            </a:r>
          </a:p>
        </p:txBody>
      </p:sp>
      <p:sp>
        <p:nvSpPr>
          <p:cNvPr id="6" name="">
            <a:extLst xmlns:a="http://schemas.openxmlformats.org/drawingml/2006/main">
              <a:ext uri="{FF2B5EF4-FFF2-40B4-BE49-F238E27FC236}">
                <a16:creationId xmlns:a16="http://schemas.microsoft.com/office/drawing/2014/main" id="{E6E6987E-0CFE-4C86-946F-74C5ADBA86E7}"/>
              </a:ext>
            </a:extLst>
          </p:cNvPr>
          <p:cNvSpPr>
            <a:spLocks xmlns:a="http://schemas.openxmlformats.org/drawingml/2006/main" noGrp="1"/>
          </p:cNvSpPr>
          <p:nvPr/>
        </p:nvSpPr>
        <p:spPr>
          <a:xfrm xmlns:a="http://schemas.openxmlformats.org/drawingml/2006/main">
            <a:off x="609600" y="2286000"/>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008C94"/>
                </a:solidFill>
                <a:latin typeface="Aptos"/>
                <a:ea typeface="Aptos"/>
                <a:cs typeface="Aptos"/>
              </a:defRPr>
            </a:pPr>
            <a:r>
              <a:rPr sz="8100" b="1">
                <a:solidFill>
                  <a:srgbClr val="008C94"/>
                </a:solidFill>
                <a:latin typeface="Aptos"/>
                <a:ea typeface="Aptos"/>
                <a:cs typeface="Aptos"/>
              </a:rPr>
              <a:t>24</a:t>
            </a:r>
          </a:p>
        </p:txBody>
      </p:sp>
      <p:sp>
        <p:nvSpPr>
          <p:cNvPr id="7" name="">
            <a:extLst xmlns:a="http://schemas.openxmlformats.org/drawingml/2006/main">
              <a:ext uri="{FF2B5EF4-FFF2-40B4-BE49-F238E27FC236}">
                <a16:creationId xmlns:a16="http://schemas.microsoft.com/office/drawing/2014/main" id="{346767A6-30B2-4F93-A257-C1F4684A84DE}"/>
              </a:ext>
            </a:extLst>
          </p:cNvPr>
          <p:cNvSpPr>
            <a:spLocks xmlns:a="http://schemas.openxmlformats.org/drawingml/2006/main" noGrp="1"/>
          </p:cNvSpPr>
          <p:nvPr/>
        </p:nvSpPr>
        <p:spPr>
          <a:xfrm xmlns:a="http://schemas.openxmlformats.org/drawingml/2006/main">
            <a:off x="609600" y="3762375"/>
            <a:ext cx="3381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83A"/>
                </a:solidFill>
                <a:latin typeface="Aptos"/>
                <a:ea typeface="Aptos"/>
                <a:cs typeface="Aptos"/>
              </a:defRPr>
            </a:pPr>
            <a:r>
              <a:rPr sz="2175" b="0">
                <a:solidFill>
                  <a:srgbClr val="11283A"/>
                </a:solidFill>
                <a:latin typeface="Aptos"/>
                <a:ea typeface="Aptos"/>
                <a:cs typeface="Aptos"/>
              </a:rPr>
              <a:t>synthetic individuals</a:t>
            </a:r>
          </a:p>
        </p:txBody>
      </p:sp>
      <p:sp>
        <p:nvSpPr>
          <p:cNvPr id="8" name="">
            <a:extLst xmlns:a="http://schemas.openxmlformats.org/drawingml/2006/main">
              <a:ext uri="{FF2B5EF4-FFF2-40B4-BE49-F238E27FC236}">
                <a16:creationId xmlns:a16="http://schemas.microsoft.com/office/drawing/2014/main" id="{9D63AE1C-FCBB-417C-A0EE-613A23922FF9}"/>
              </a:ext>
            </a:extLst>
          </p:cNvPr>
          <p:cNvSpPr>
            <a:spLocks xmlns:a="http://schemas.openxmlformats.org/drawingml/2006/main" noGrp="1"/>
          </p:cNvSpPr>
          <p:nvPr/>
        </p:nvSpPr>
        <p:spPr>
          <a:xfrm xmlns:a="http://schemas.openxmlformats.org/drawingml/2006/main">
            <a:off x="4419600" y="2286000"/>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008C94"/>
                </a:solidFill>
                <a:latin typeface="Aptos"/>
                <a:ea typeface="Aptos"/>
                <a:cs typeface="Aptos"/>
              </a:defRPr>
            </a:pPr>
            <a:r>
              <a:rPr sz="8100" b="1">
                <a:solidFill>
                  <a:srgbClr val="008C94"/>
                </a:solidFill>
                <a:latin typeface="Aptos"/>
                <a:ea typeface="Aptos"/>
                <a:cs typeface="Aptos"/>
              </a:rPr>
              <a:t>3</a:t>
            </a:r>
          </a:p>
        </p:txBody>
      </p:sp>
      <p:sp>
        <p:nvSpPr>
          <p:cNvPr id="9" name="">
            <a:extLst xmlns:a="http://schemas.openxmlformats.org/drawingml/2006/main">
              <a:ext uri="{FF2B5EF4-FFF2-40B4-BE49-F238E27FC236}">
                <a16:creationId xmlns:a16="http://schemas.microsoft.com/office/drawing/2014/main" id="{3663C0DD-275E-4CA4-8A1F-6E541935D426}"/>
              </a:ext>
            </a:extLst>
          </p:cNvPr>
          <p:cNvSpPr>
            <a:spLocks xmlns:a="http://schemas.openxmlformats.org/drawingml/2006/main" noGrp="1"/>
          </p:cNvSpPr>
          <p:nvPr/>
        </p:nvSpPr>
        <p:spPr>
          <a:xfrm xmlns:a="http://schemas.openxmlformats.org/drawingml/2006/main">
            <a:off x="4419600" y="3762375"/>
            <a:ext cx="3381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83A"/>
                </a:solidFill>
                <a:latin typeface="Aptos"/>
                <a:ea typeface="Aptos"/>
                <a:cs typeface="Aptos"/>
              </a:defRPr>
            </a:pPr>
            <a:r>
              <a:rPr sz="2175" b="0">
                <a:solidFill>
                  <a:srgbClr val="11283A"/>
                </a:solidFill>
                <a:latin typeface="Aptos"/>
                <a:ea typeface="Aptos"/>
                <a:cs typeface="Aptos"/>
              </a:rPr>
              <a:t>evaluation seeds</a:t>
            </a:r>
          </a:p>
        </p:txBody>
      </p:sp>
      <p:sp>
        <p:nvSpPr>
          <p:cNvPr id="10" name="">
            <a:extLst xmlns:a="http://schemas.openxmlformats.org/drawingml/2006/main">
              <a:ext uri="{FF2B5EF4-FFF2-40B4-BE49-F238E27FC236}">
                <a16:creationId xmlns:a16="http://schemas.microsoft.com/office/drawing/2014/main" id="{D284F6C9-3862-4E66-93FB-C82352202A47}"/>
              </a:ext>
            </a:extLst>
          </p:cNvPr>
          <p:cNvSpPr>
            <a:spLocks xmlns:a="http://schemas.openxmlformats.org/drawingml/2006/main" noGrp="1"/>
          </p:cNvSpPr>
          <p:nvPr/>
        </p:nvSpPr>
        <p:spPr>
          <a:xfrm xmlns:a="http://schemas.openxmlformats.org/drawingml/2006/main">
            <a:off x="8229600" y="2286000"/>
            <a:ext cx="3333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100" b="1">
                <a:solidFill>
                  <a:srgbClr val="008C94"/>
                </a:solidFill>
                <a:latin typeface="Aptos"/>
                <a:ea typeface="Aptos"/>
                <a:cs typeface="Aptos"/>
              </a:defRPr>
            </a:pPr>
            <a:r>
              <a:rPr sz="8100" b="1">
                <a:solidFill>
                  <a:srgbClr val="008C94"/>
                </a:solidFill>
                <a:latin typeface="Aptos"/>
                <a:ea typeface="Aptos"/>
                <a:cs typeface="Aptos"/>
              </a:rPr>
              <a:t>6</a:t>
            </a:r>
          </a:p>
        </p:txBody>
      </p:sp>
      <p:sp>
        <p:nvSpPr>
          <p:cNvPr id="11" name="">
            <a:extLst xmlns:a="http://schemas.openxmlformats.org/drawingml/2006/main">
              <a:ext uri="{FF2B5EF4-FFF2-40B4-BE49-F238E27FC236}">
                <a16:creationId xmlns:a16="http://schemas.microsoft.com/office/drawing/2014/main" id="{3F3BDCBF-92C1-435E-8A35-EA6AD0F9B161}"/>
              </a:ext>
            </a:extLst>
          </p:cNvPr>
          <p:cNvSpPr>
            <a:spLocks xmlns:a="http://schemas.openxmlformats.org/drawingml/2006/main" noGrp="1"/>
          </p:cNvSpPr>
          <p:nvPr/>
        </p:nvSpPr>
        <p:spPr>
          <a:xfrm xmlns:a="http://schemas.openxmlformats.org/drawingml/2006/main">
            <a:off x="8229600" y="3762375"/>
            <a:ext cx="33813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83A"/>
                </a:solidFill>
                <a:latin typeface="Aptos"/>
                <a:ea typeface="Aptos"/>
                <a:cs typeface="Aptos"/>
              </a:defRPr>
            </a:pPr>
            <a:r>
              <a:rPr sz="2175" b="0">
                <a:solidFill>
                  <a:srgbClr val="11283A"/>
                </a:solidFill>
                <a:latin typeface="Aptos"/>
                <a:ea typeface="Aptos"/>
                <a:cs typeface="Aptos"/>
              </a:rPr>
              <a:t>nominal strategies</a:t>
            </a:r>
          </a:p>
        </p:txBody>
      </p:sp>
      <p:sp>
        <p:nvSpPr>
          <p:cNvPr id="12" name="">
            <a:extLst xmlns:a="http://schemas.openxmlformats.org/drawingml/2006/main">
              <a:ext uri="{FF2B5EF4-FFF2-40B4-BE49-F238E27FC236}">
                <a16:creationId xmlns:a16="http://schemas.microsoft.com/office/drawing/2014/main" id="{4B09FD91-8AB5-488F-8855-616100492405}"/>
              </a:ext>
            </a:extLst>
          </p:cNvPr>
          <p:cNvSpPr>
            <a:spLocks xmlns:a="http://schemas.openxmlformats.org/drawingml/2006/main" noGrp="1"/>
          </p:cNvSpPr>
          <p:nvPr/>
        </p:nvSpPr>
        <p:spPr>
          <a:xfrm xmlns:a="http://schemas.openxmlformats.org/drawingml/2006/main">
            <a:off x="609600" y="46577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E304F42-D7AB-4FFF-8BD1-24C2F4B97238}"/>
              </a:ext>
            </a:extLst>
          </p:cNvPr>
          <p:cNvSpPr>
            <a:spLocks xmlns:a="http://schemas.openxmlformats.org/drawingml/2006/main" noGrp="1"/>
          </p:cNvSpPr>
          <p:nvPr/>
        </p:nvSpPr>
        <p:spPr>
          <a:xfrm xmlns:a="http://schemas.openxmlformats.org/drawingml/2006/main">
            <a:off x="609600" y="4991100"/>
            <a:ext cx="54768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1283A"/>
                </a:solidFill>
                <a:latin typeface="Aptos"/>
                <a:ea typeface="Aptos"/>
                <a:cs typeface="Aptos"/>
              </a:defRPr>
            </a:pPr>
            <a:r>
              <a:rPr sz="3225" b="1">
                <a:solidFill>
                  <a:srgbClr val="11283A"/>
                </a:solidFill>
                <a:latin typeface="Aptos"/>
                <a:ea typeface="Aptos"/>
                <a:cs typeface="Aptos"/>
              </a:rPr>
              <a:t>1,296 evaluation runs</a:t>
            </a:r>
          </a:p>
        </p:txBody>
      </p:sp>
      <p:sp>
        <p:nvSpPr>
          <p:cNvPr id="14" name="">
            <a:extLst xmlns:a="http://schemas.openxmlformats.org/drawingml/2006/main">
              <a:ext uri="{FF2B5EF4-FFF2-40B4-BE49-F238E27FC236}">
                <a16:creationId xmlns:a16="http://schemas.microsoft.com/office/drawing/2014/main" id="{CAD35C73-DB01-43CB-A514-46698364B4AF}"/>
              </a:ext>
            </a:extLst>
          </p:cNvPr>
          <p:cNvSpPr>
            <a:spLocks xmlns:a="http://schemas.openxmlformats.org/drawingml/2006/main" noGrp="1"/>
          </p:cNvSpPr>
          <p:nvPr/>
        </p:nvSpPr>
        <p:spPr>
          <a:xfrm xmlns:a="http://schemas.openxmlformats.org/drawingml/2006/main">
            <a:off x="6419850" y="5019675"/>
            <a:ext cx="5000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Plus calibration, held-out reference checks,</a:t>
            </a:r>
          </a:p>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gain sweeps and numerical verification.</a:t>
            </a:r>
          </a:p>
        </p:txBody>
      </p:sp>
    </p:spTree>
    <p:extLst>
      <p:ext uri="{BB962C8B-B14F-4D97-AF65-F5344CB8AC3E}">
        <p14:creationId xmlns:p14="http://schemas.microsoft.com/office/powerpoint/2010/main" val="1426335604"/>
      </p:ext>
    </p:extLst>
  </p:cSld>
</p:sld>
</file>

<file path=ppt/slides/slide9.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91725AF-5DEF-44F6-9867-7CDDB534F9E0}"/>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NOMINAL RESULT</a:t>
            </a:r>
          </a:p>
        </p:txBody>
      </p:sp>
      <p:sp>
        <p:nvSpPr>
          <p:cNvPr id="2" name="">
            <a:extLst xmlns:a="http://schemas.openxmlformats.org/drawingml/2006/main">
              <a:ext uri="{FF2B5EF4-FFF2-40B4-BE49-F238E27FC236}">
                <a16:creationId xmlns:a16="http://schemas.microsoft.com/office/drawing/2014/main" id="{58402690-ACED-4854-BC02-AB97EF59B228}"/>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A tracking score improved under clean sensing</a:t>
            </a:r>
          </a:p>
        </p:txBody>
      </p:sp>
      <p:sp>
        <p:nvSpPr>
          <p:cNvPr id="3" name="">
            <a:extLst xmlns:a="http://schemas.openxmlformats.org/drawingml/2006/main">
              <a:ext uri="{FF2B5EF4-FFF2-40B4-BE49-F238E27FC236}">
                <a16:creationId xmlns:a16="http://schemas.microsoft.com/office/drawing/2014/main" id="{3E554DB1-5E59-48E9-A35F-43594FB3B2F9}"/>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3154CEB-2D1C-4D17-A421-376B3EC76334}"/>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19E10355-1510-45D4-A1E8-55F4F6A0C3B1}"/>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09</a:t>
            </a:r>
          </a:p>
        </p:txBody>
      </p:sp>
      <p:sp>
        <p:nvSpPr>
          <p:cNvPr id="6" name="">
            <a:extLst xmlns:a="http://schemas.openxmlformats.org/drawingml/2006/main">
              <a:ext uri="{FF2B5EF4-FFF2-40B4-BE49-F238E27FC236}">
                <a16:creationId xmlns:a16="http://schemas.microsoft.com/office/drawing/2014/main" id="{7F3417BD-CAD8-40B7-9CB6-CA34A196C357}"/>
              </a:ext>
            </a:extLst>
          </p:cNvPr>
          <p:cNvSpPr>
            <a:spLocks xmlns:a="http://schemas.openxmlformats.org/drawingml/2006/main" noGrp="1"/>
          </p:cNvSpPr>
          <p:nvPr/>
        </p:nvSpPr>
        <p:spPr>
          <a:xfrm xmlns:a="http://schemas.openxmlformats.org/drawingml/2006/main">
            <a:off x="609600" y="2105025"/>
            <a:ext cx="50482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8700" b="1">
                <a:solidFill>
                  <a:srgbClr val="008C94"/>
                </a:solidFill>
                <a:latin typeface="Aptos"/>
                <a:ea typeface="Aptos"/>
                <a:cs typeface="Aptos"/>
              </a:defRPr>
            </a:pPr>
            <a:r>
              <a:rPr sz="8700" b="1">
                <a:solidFill>
                  <a:srgbClr val="008C94"/>
                </a:solidFill>
                <a:latin typeface="Aptos"/>
                <a:ea typeface="Aptos"/>
                <a:cs typeface="Aptos"/>
              </a:rPr>
              <a:t>−4.53</a:t>
            </a:r>
          </a:p>
        </p:txBody>
      </p:sp>
      <p:sp>
        <p:nvSpPr>
          <p:cNvPr id="7" name="">
            <a:extLst xmlns:a="http://schemas.openxmlformats.org/drawingml/2006/main">
              <a:ext uri="{FF2B5EF4-FFF2-40B4-BE49-F238E27FC236}">
                <a16:creationId xmlns:a16="http://schemas.microsoft.com/office/drawing/2014/main" id="{EC2CAD2A-20C6-48A6-8EC9-4DB78CB33088}"/>
              </a:ext>
            </a:extLst>
          </p:cNvPr>
          <p:cNvSpPr>
            <a:spLocks xmlns:a="http://schemas.openxmlformats.org/drawingml/2006/main" noGrp="1"/>
          </p:cNvSpPr>
          <p:nvPr/>
        </p:nvSpPr>
        <p:spPr>
          <a:xfrm xmlns:a="http://schemas.openxmlformats.org/drawingml/2006/main">
            <a:off x="609600" y="3714750"/>
            <a:ext cx="5095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283A"/>
                </a:solidFill>
                <a:latin typeface="Aptos"/>
                <a:ea typeface="Aptos"/>
                <a:cs typeface="Aptos"/>
              </a:defRPr>
            </a:pPr>
            <a:r>
              <a:rPr sz="2400" b="0">
                <a:solidFill>
                  <a:srgbClr val="11283A"/>
                </a:solidFill>
                <a:latin typeface="Aptos"/>
                <a:ea typeface="Aptos"/>
                <a:cs typeface="Aptos"/>
              </a:rPr>
              <a:t>change in tracking error</a:t>
            </a:r>
          </a:p>
          <a:p xmlns:a="http://schemas.openxmlformats.org/drawingml/2006/main">
            <a:pPr algn="l">
              <a:defRPr sz="2400" b="0">
                <a:solidFill>
                  <a:srgbClr val="11283A"/>
                </a:solidFill>
                <a:latin typeface="Aptos"/>
                <a:ea typeface="Aptos"/>
                <a:cs typeface="Aptos"/>
              </a:defRPr>
            </a:pPr>
            <a:r>
              <a:rPr sz="2400" b="0">
                <a:solidFill>
                  <a:srgbClr val="11283A"/>
                </a:solidFill>
                <a:latin typeface="Aptos"/>
                <a:ea typeface="Aptos"/>
                <a:cs typeface="Aptos"/>
              </a:rPr>
              <a:t>when entropy was added</a:t>
            </a:r>
          </a:p>
        </p:txBody>
      </p:sp>
      <p:sp>
        <p:nvSpPr>
          <p:cNvPr id="8" name="">
            <a:extLst xmlns:a="http://schemas.openxmlformats.org/drawingml/2006/main">
              <a:ext uri="{FF2B5EF4-FFF2-40B4-BE49-F238E27FC236}">
                <a16:creationId xmlns:a16="http://schemas.microsoft.com/office/drawing/2014/main" id="{221CFE53-AABA-4817-8471-6EE07776B40D}"/>
              </a:ext>
            </a:extLst>
          </p:cNvPr>
          <p:cNvSpPr>
            <a:spLocks xmlns:a="http://schemas.openxmlformats.org/drawingml/2006/main" noGrp="1"/>
          </p:cNvSpPr>
          <p:nvPr/>
        </p:nvSpPr>
        <p:spPr>
          <a:xfrm xmlns:a="http://schemas.openxmlformats.org/drawingml/2006/main">
            <a:off x="609600" y="4943475"/>
            <a:ext cx="542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776"/>
                </a:solidFill>
                <a:latin typeface="Aptos"/>
                <a:ea typeface="Aptos"/>
                <a:cs typeface="Aptos"/>
              </a:defRPr>
            </a:pPr>
            <a:r>
              <a:rPr sz="1800" b="0">
                <a:solidFill>
                  <a:srgbClr val="526776"/>
                </a:solidFill>
                <a:latin typeface="Aptos"/>
                <a:ea typeface="Aptos"/>
                <a:cs typeface="Aptos"/>
              </a:rPr>
              <a:t>95% synthetic interval: −6.54 to −2.83</a:t>
            </a:r>
          </a:p>
        </p:txBody>
      </p:sp>
      <p:sp>
        <p:nvSpPr>
          <p:cNvPr id="9" name="">
            <a:extLst xmlns:a="http://schemas.openxmlformats.org/drawingml/2006/main">
              <a:ext uri="{FF2B5EF4-FFF2-40B4-BE49-F238E27FC236}">
                <a16:creationId xmlns:a16="http://schemas.microsoft.com/office/drawing/2014/main" id="{B75503A5-DCFD-41A1-A472-9D9DBDEC1130}"/>
              </a:ext>
            </a:extLst>
          </p:cNvPr>
          <p:cNvSpPr>
            <a:spLocks xmlns:a="http://schemas.openxmlformats.org/drawingml/2006/main" noGrp="1"/>
          </p:cNvSpPr>
          <p:nvPr/>
        </p:nvSpPr>
        <p:spPr>
          <a:xfrm xmlns:a="http://schemas.openxmlformats.org/drawingml/2006/main">
            <a:off x="6667500" y="2066925"/>
            <a:ext cx="49149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EE7C78B-3038-4989-ADEB-9E75EC106079}"/>
              </a:ext>
            </a:extLst>
          </p:cNvPr>
          <p:cNvSpPr>
            <a:spLocks xmlns:a="http://schemas.openxmlformats.org/drawingml/2006/main" noGrp="1"/>
          </p:cNvSpPr>
          <p:nvPr/>
        </p:nvSpPr>
        <p:spPr>
          <a:xfrm xmlns:a="http://schemas.openxmlformats.org/drawingml/2006/main">
            <a:off x="6667500" y="2209800"/>
            <a:ext cx="491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94"/>
                </a:solidFill>
                <a:latin typeface="Aptos"/>
                <a:ea typeface="Aptos"/>
                <a:cs typeface="Aptos"/>
              </a:defRPr>
            </a:pPr>
            <a:r>
              <a:rPr sz="2175" b="1">
                <a:solidFill>
                  <a:srgbClr val="008C94"/>
                </a:solidFill>
                <a:latin typeface="Aptos"/>
                <a:ea typeface="Aptos"/>
                <a:cs typeface="Aptos"/>
              </a:rPr>
              <a:t>81.36 → 76.83</a:t>
            </a:r>
          </a:p>
        </p:txBody>
      </p:sp>
      <p:sp>
        <p:nvSpPr>
          <p:cNvPr id="11" name="">
            <a:extLst xmlns:a="http://schemas.openxmlformats.org/drawingml/2006/main">
              <a:ext uri="{FF2B5EF4-FFF2-40B4-BE49-F238E27FC236}">
                <a16:creationId xmlns:a16="http://schemas.microsoft.com/office/drawing/2014/main" id="{A22A0E00-84C8-439F-94D8-E5FBDABE3E34}"/>
              </a:ext>
            </a:extLst>
          </p:cNvPr>
          <p:cNvSpPr>
            <a:spLocks xmlns:a="http://schemas.openxmlformats.org/drawingml/2006/main" noGrp="1"/>
          </p:cNvSpPr>
          <p:nvPr/>
        </p:nvSpPr>
        <p:spPr>
          <a:xfrm xmlns:a="http://schemas.openxmlformats.org/drawingml/2006/main">
            <a:off x="6667500" y="2676525"/>
            <a:ext cx="4914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Activity → activity + entropy</a:t>
            </a:r>
          </a:p>
        </p:txBody>
      </p:sp>
      <p:sp>
        <p:nvSpPr>
          <p:cNvPr id="12" name="">
            <a:extLst xmlns:a="http://schemas.openxmlformats.org/drawingml/2006/main">
              <a:ext uri="{FF2B5EF4-FFF2-40B4-BE49-F238E27FC236}">
                <a16:creationId xmlns:a16="http://schemas.microsoft.com/office/drawing/2014/main" id="{09B44AA4-139D-4B91-94B5-3A3D2875F26E}"/>
              </a:ext>
            </a:extLst>
          </p:cNvPr>
          <p:cNvSpPr>
            <a:spLocks xmlns:a="http://schemas.openxmlformats.org/drawingml/2006/main" noGrp="1"/>
          </p:cNvSpPr>
          <p:nvPr/>
        </p:nvSpPr>
        <p:spPr>
          <a:xfrm xmlns:a="http://schemas.openxmlformats.org/drawingml/2006/main">
            <a:off x="6667500" y="3305175"/>
            <a:ext cx="49149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ED5944-7963-476B-A2CA-BF8E91EB919D}"/>
              </a:ext>
            </a:extLst>
          </p:cNvPr>
          <p:cNvSpPr>
            <a:spLocks xmlns:a="http://schemas.openxmlformats.org/drawingml/2006/main" noGrp="1"/>
          </p:cNvSpPr>
          <p:nvPr/>
        </p:nvSpPr>
        <p:spPr>
          <a:xfrm xmlns:a="http://schemas.openxmlformats.org/drawingml/2006/main">
            <a:off x="6667500" y="3448050"/>
            <a:ext cx="491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94"/>
                </a:solidFill>
                <a:latin typeface="Aptos"/>
                <a:ea typeface="Aptos"/>
                <a:cs typeface="Aptos"/>
              </a:defRPr>
            </a:pPr>
            <a:r>
              <a:rPr sz="2175" b="1">
                <a:solidFill>
                  <a:srgbClr val="008C94"/>
                </a:solidFill>
                <a:latin typeface="Aptos"/>
                <a:ea typeface="Aptos"/>
                <a:cs typeface="Aptos"/>
              </a:rPr>
              <a:t>More input energy</a:t>
            </a:r>
          </a:p>
        </p:txBody>
      </p:sp>
      <p:sp>
        <p:nvSpPr>
          <p:cNvPr id="14" name="">
            <a:extLst xmlns:a="http://schemas.openxmlformats.org/drawingml/2006/main">
              <a:ext uri="{FF2B5EF4-FFF2-40B4-BE49-F238E27FC236}">
                <a16:creationId xmlns:a16="http://schemas.microsoft.com/office/drawing/2014/main" id="{AA5AF113-AF91-45E6-9C18-E2A9FCC08CE0}"/>
              </a:ext>
            </a:extLst>
          </p:cNvPr>
          <p:cNvSpPr>
            <a:spLocks xmlns:a="http://schemas.openxmlformats.org/drawingml/2006/main" noGrp="1"/>
          </p:cNvSpPr>
          <p:nvPr/>
        </p:nvSpPr>
        <p:spPr>
          <a:xfrm xmlns:a="http://schemas.openxmlformats.org/drawingml/2006/main">
            <a:off x="6667500" y="3914775"/>
            <a:ext cx="4914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0.0290 → 0.0465 model units</a:t>
            </a:r>
          </a:p>
        </p:txBody>
      </p:sp>
      <p:sp>
        <p:nvSpPr>
          <p:cNvPr id="15" name="">
            <a:extLst xmlns:a="http://schemas.openxmlformats.org/drawingml/2006/main">
              <a:ext uri="{FF2B5EF4-FFF2-40B4-BE49-F238E27FC236}">
                <a16:creationId xmlns:a16="http://schemas.microsoft.com/office/drawing/2014/main" id="{070CA5B7-1827-4DD9-A0EF-C2943785FE75}"/>
              </a:ext>
            </a:extLst>
          </p:cNvPr>
          <p:cNvSpPr>
            <a:spLocks xmlns:a="http://schemas.openxmlformats.org/drawingml/2006/main" noGrp="1"/>
          </p:cNvSpPr>
          <p:nvPr/>
        </p:nvSpPr>
        <p:spPr>
          <a:xfrm xmlns:a="http://schemas.openxmlformats.org/drawingml/2006/main">
            <a:off x="6667500" y="4543425"/>
            <a:ext cx="49149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9079600-F5E6-4900-8486-02FEEA6C0E64}"/>
              </a:ext>
            </a:extLst>
          </p:cNvPr>
          <p:cNvSpPr>
            <a:spLocks xmlns:a="http://schemas.openxmlformats.org/drawingml/2006/main" noGrp="1"/>
          </p:cNvSpPr>
          <p:nvPr/>
        </p:nvSpPr>
        <p:spPr>
          <a:xfrm xmlns:a="http://schemas.openxmlformats.org/drawingml/2006/main">
            <a:off x="6667500" y="4686300"/>
            <a:ext cx="4914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94"/>
                </a:solidFill>
                <a:latin typeface="Aptos"/>
                <a:ea typeface="Aptos"/>
                <a:cs typeface="Aptos"/>
              </a:defRPr>
            </a:pPr>
            <a:r>
              <a:rPr sz="2175" b="1">
                <a:solidFill>
                  <a:srgbClr val="008C94"/>
                </a:solidFill>
                <a:latin typeface="Aptos"/>
                <a:ea typeface="Aptos"/>
                <a:cs typeface="Aptos"/>
              </a:rPr>
              <a:t>Fixed input: 69.94</a:t>
            </a:r>
          </a:p>
        </p:txBody>
      </p:sp>
      <p:sp>
        <p:nvSpPr>
          <p:cNvPr id="17" name="">
            <a:extLst xmlns:a="http://schemas.openxmlformats.org/drawingml/2006/main">
              <a:ext uri="{FF2B5EF4-FFF2-40B4-BE49-F238E27FC236}">
                <a16:creationId xmlns:a16="http://schemas.microsoft.com/office/drawing/2014/main" id="{827CD8A0-535A-4EC3-84DE-9812AE27BF98}"/>
              </a:ext>
            </a:extLst>
          </p:cNvPr>
          <p:cNvSpPr>
            <a:spLocks xmlns:a="http://schemas.openxmlformats.org/drawingml/2006/main" noGrp="1"/>
          </p:cNvSpPr>
          <p:nvPr/>
        </p:nvSpPr>
        <p:spPr>
          <a:xfrm xmlns:a="http://schemas.openxmlformats.org/drawingml/2006/main">
            <a:off x="6667500" y="5153025"/>
            <a:ext cx="49149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Lower mean error; different calibration access</a:t>
            </a:r>
          </a:p>
        </p:txBody>
      </p:sp>
    </p:spTree>
    <p:extLst>
      <p:ext uri="{BB962C8B-B14F-4D97-AF65-F5344CB8AC3E}">
        <p14:creationId xmlns:p14="http://schemas.microsoft.com/office/powerpoint/2010/main" val="1704130316"/>
      </p:ext>
    </p:extLst>
  </p:cSld>
</p:sld>
</file>

<file path=ppt/slides/slide1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83187FD-1BC8-44F4-90AF-4C03DFCD6194}"/>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THE CRUCIAL SECOND OUTCOME</a:t>
            </a:r>
          </a:p>
        </p:txBody>
      </p:sp>
      <p:sp>
        <p:nvSpPr>
          <p:cNvPr id="2" name="">
            <a:extLst xmlns:a="http://schemas.openxmlformats.org/drawingml/2006/main">
              <a:ext uri="{FF2B5EF4-FFF2-40B4-BE49-F238E27FC236}">
                <a16:creationId xmlns:a16="http://schemas.microsoft.com/office/drawing/2014/main" id="{C6EB070E-FF10-441F-BF8E-944825D5EFD5}"/>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Task accuracy did not recover</a:t>
            </a:r>
          </a:p>
        </p:txBody>
      </p:sp>
      <p:sp>
        <p:nvSpPr>
          <p:cNvPr id="3" name="">
            <a:extLst xmlns:a="http://schemas.openxmlformats.org/drawingml/2006/main">
              <a:ext uri="{FF2B5EF4-FFF2-40B4-BE49-F238E27FC236}">
                <a16:creationId xmlns:a16="http://schemas.microsoft.com/office/drawing/2014/main" id="{960E872C-5DD2-455A-B627-C796C6A35867}"/>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F7BD631-78B5-445A-B7A2-B53F6A83120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11A2038C-CFF0-4E62-94A4-F96AF335CE8C}"/>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10</a:t>
            </a:r>
          </a:p>
        </p:txBody>
      </p:sp>
      <p:sp>
        <p:nvSpPr>
          <p:cNvPr id="6" name="">
            <a:extLst xmlns:a="http://schemas.openxmlformats.org/drawingml/2006/main">
              <a:ext uri="{FF2B5EF4-FFF2-40B4-BE49-F238E27FC236}">
                <a16:creationId xmlns:a16="http://schemas.microsoft.com/office/drawing/2014/main" id="{424269F8-08EF-4E80-9828-5DCF4E820E1A}"/>
              </a:ext>
            </a:extLst>
          </p:cNvPr>
          <p:cNvSpPr>
            <a:spLocks xmlns:a="http://schemas.openxmlformats.org/drawingml/2006/main" noGrp="1"/>
          </p:cNvSpPr>
          <p:nvPr/>
        </p:nvSpPr>
        <p:spPr>
          <a:xfrm xmlns:a="http://schemas.openxmlformats.org/drawingml/2006/main">
            <a:off x="609600" y="2428875"/>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Held-out reference</a:t>
            </a:r>
          </a:p>
        </p:txBody>
      </p:sp>
      <p:sp>
        <p:nvSpPr>
          <p:cNvPr id="7" name="">
            <a:extLst xmlns:a="http://schemas.openxmlformats.org/drawingml/2006/main">
              <a:ext uri="{FF2B5EF4-FFF2-40B4-BE49-F238E27FC236}">
                <a16:creationId xmlns:a16="http://schemas.microsoft.com/office/drawing/2014/main" id="{1E2A6429-FC38-4A16-8614-5D67C3742A59}"/>
              </a:ext>
            </a:extLst>
          </p:cNvPr>
          <p:cNvSpPr>
            <a:spLocks xmlns:a="http://schemas.openxmlformats.org/drawingml/2006/main" noGrp="1"/>
          </p:cNvSpPr>
          <p:nvPr/>
        </p:nvSpPr>
        <p:spPr>
          <a:xfrm xmlns:a="http://schemas.openxmlformats.org/drawingml/2006/main">
            <a:off x="3857625" y="2343150"/>
            <a:ext cx="6762750" cy="495300"/>
          </a:xfrm>
          <a:prstGeom xmlns:a="http://schemas.openxmlformats.org/drawingml/2006/main" prst="rect">
            <a:avLst/>
          </a:prstGeom>
          <a:solidFill xmlns:a="http://schemas.openxmlformats.org/drawingml/2006/main">
            <a:srgbClr val="E3E9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A611F5-C9D1-42BE-A4A7-55DE2F9EFE3E}"/>
              </a:ext>
            </a:extLst>
          </p:cNvPr>
          <p:cNvSpPr>
            <a:spLocks xmlns:a="http://schemas.openxmlformats.org/drawingml/2006/main" noGrp="1"/>
          </p:cNvSpPr>
          <p:nvPr/>
        </p:nvSpPr>
        <p:spPr>
          <a:xfrm xmlns:a="http://schemas.openxmlformats.org/drawingml/2006/main">
            <a:off x="3857625" y="2343150"/>
            <a:ext cx="5428703" cy="495300"/>
          </a:xfrm>
          <a:prstGeom xmlns:a="http://schemas.openxmlformats.org/drawingml/2006/main" prst="rect">
            <a:avLst/>
          </a:prstGeom>
          <a:solidFill xmlns:a="http://schemas.openxmlformats.org/drawingml/2006/main">
            <a:srgbClr val="819BA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77EF79C-A57E-49A9-941D-F20AA0B2EB49}"/>
              </a:ext>
            </a:extLst>
          </p:cNvPr>
          <p:cNvSpPr>
            <a:spLocks xmlns:a="http://schemas.openxmlformats.org/drawingml/2006/main" noGrp="1"/>
          </p:cNvSpPr>
          <p:nvPr/>
        </p:nvSpPr>
        <p:spPr>
          <a:xfrm xmlns:a="http://schemas.openxmlformats.org/drawingml/2006/main">
            <a:off x="10772775" y="2390775"/>
            <a:ext cx="114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80.27%</a:t>
            </a:r>
          </a:p>
        </p:txBody>
      </p:sp>
      <p:sp>
        <p:nvSpPr>
          <p:cNvPr id="10" name="">
            <a:extLst xmlns:a="http://schemas.openxmlformats.org/drawingml/2006/main">
              <a:ext uri="{FF2B5EF4-FFF2-40B4-BE49-F238E27FC236}">
                <a16:creationId xmlns:a16="http://schemas.microsoft.com/office/drawing/2014/main" id="{D61A25D3-62AC-4D3F-8321-78E110CCC07D}"/>
              </a:ext>
            </a:extLst>
          </p:cNvPr>
          <p:cNvSpPr>
            <a:spLocks xmlns:a="http://schemas.openxmlformats.org/drawingml/2006/main" noGrp="1"/>
          </p:cNvSpPr>
          <p:nvPr/>
        </p:nvSpPr>
        <p:spPr>
          <a:xfrm xmlns:a="http://schemas.openxmlformats.org/drawingml/2006/main">
            <a:off x="609600" y="3486150"/>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Activity feedback</a:t>
            </a:r>
          </a:p>
        </p:txBody>
      </p:sp>
      <p:sp>
        <p:nvSpPr>
          <p:cNvPr id="11" name="">
            <a:extLst xmlns:a="http://schemas.openxmlformats.org/drawingml/2006/main">
              <a:ext uri="{FF2B5EF4-FFF2-40B4-BE49-F238E27FC236}">
                <a16:creationId xmlns:a16="http://schemas.microsoft.com/office/drawing/2014/main" id="{E41C67E1-29B2-457D-B493-FBCE824DA5F4}"/>
              </a:ext>
            </a:extLst>
          </p:cNvPr>
          <p:cNvSpPr>
            <a:spLocks xmlns:a="http://schemas.openxmlformats.org/drawingml/2006/main" noGrp="1"/>
          </p:cNvSpPr>
          <p:nvPr/>
        </p:nvSpPr>
        <p:spPr>
          <a:xfrm xmlns:a="http://schemas.openxmlformats.org/drawingml/2006/main">
            <a:off x="3857625" y="3400425"/>
            <a:ext cx="6762750" cy="495300"/>
          </a:xfrm>
          <a:prstGeom xmlns:a="http://schemas.openxmlformats.org/drawingml/2006/main" prst="rect">
            <a:avLst/>
          </a:prstGeom>
          <a:solidFill xmlns:a="http://schemas.openxmlformats.org/drawingml/2006/main">
            <a:srgbClr val="E3E9E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2F24300-4835-4635-ADA2-591820C35EBE}"/>
              </a:ext>
            </a:extLst>
          </p:cNvPr>
          <p:cNvSpPr>
            <a:spLocks xmlns:a="http://schemas.openxmlformats.org/drawingml/2006/main" noGrp="1"/>
          </p:cNvSpPr>
          <p:nvPr/>
        </p:nvSpPr>
        <p:spPr>
          <a:xfrm xmlns:a="http://schemas.openxmlformats.org/drawingml/2006/main">
            <a:off x="3857625" y="3400425"/>
            <a:ext cx="3384195" cy="495300"/>
          </a:xfrm>
          <a:prstGeom xmlns:a="http://schemas.openxmlformats.org/drawingml/2006/main" prst="rect">
            <a:avLst/>
          </a:prstGeom>
          <a:solidFill xmlns:a="http://schemas.openxmlformats.org/drawingml/2006/main">
            <a:srgbClr val="386BA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4161CA9-C3F1-45F3-AB32-1647F847BB5D}"/>
              </a:ext>
            </a:extLst>
          </p:cNvPr>
          <p:cNvSpPr>
            <a:spLocks xmlns:a="http://schemas.openxmlformats.org/drawingml/2006/main" noGrp="1"/>
          </p:cNvSpPr>
          <p:nvPr/>
        </p:nvSpPr>
        <p:spPr>
          <a:xfrm xmlns:a="http://schemas.openxmlformats.org/drawingml/2006/main">
            <a:off x="10772775" y="3448050"/>
            <a:ext cx="114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50.04%</a:t>
            </a:r>
          </a:p>
        </p:txBody>
      </p:sp>
      <p:sp>
        <p:nvSpPr>
          <p:cNvPr id="14" name="">
            <a:extLst xmlns:a="http://schemas.openxmlformats.org/drawingml/2006/main">
              <a:ext uri="{FF2B5EF4-FFF2-40B4-BE49-F238E27FC236}">
                <a16:creationId xmlns:a16="http://schemas.microsoft.com/office/drawing/2014/main" id="{30B5DF46-B1C5-4BA4-A6EA-BBB2FE957B54}"/>
              </a:ext>
            </a:extLst>
          </p:cNvPr>
          <p:cNvSpPr>
            <a:spLocks xmlns:a="http://schemas.openxmlformats.org/drawingml/2006/main" noGrp="1"/>
          </p:cNvSpPr>
          <p:nvPr/>
        </p:nvSpPr>
        <p:spPr>
          <a:xfrm xmlns:a="http://schemas.openxmlformats.org/drawingml/2006/main">
            <a:off x="609600" y="4543425"/>
            <a:ext cx="304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Activity + entropy</a:t>
            </a:r>
          </a:p>
        </p:txBody>
      </p:sp>
      <p:sp>
        <p:nvSpPr>
          <p:cNvPr id="15" name="">
            <a:extLst xmlns:a="http://schemas.openxmlformats.org/drawingml/2006/main">
              <a:ext uri="{FF2B5EF4-FFF2-40B4-BE49-F238E27FC236}">
                <a16:creationId xmlns:a16="http://schemas.microsoft.com/office/drawing/2014/main" id="{65204F03-FA86-4A9B-8D57-DA2D85765F90}"/>
              </a:ext>
            </a:extLst>
          </p:cNvPr>
          <p:cNvSpPr>
            <a:spLocks xmlns:a="http://schemas.openxmlformats.org/drawingml/2006/main" noGrp="1"/>
          </p:cNvSpPr>
          <p:nvPr/>
        </p:nvSpPr>
        <p:spPr>
          <a:xfrm xmlns:a="http://schemas.openxmlformats.org/drawingml/2006/main">
            <a:off x="3857625" y="4457700"/>
            <a:ext cx="6762750" cy="495300"/>
          </a:xfrm>
          <a:prstGeom xmlns:a="http://schemas.openxmlformats.org/drawingml/2006/main" prst="rect">
            <a:avLst/>
          </a:prstGeom>
          <a:solidFill xmlns:a="http://schemas.openxmlformats.org/drawingml/2006/main">
            <a:srgbClr val="E3E9E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DFEB06E-732F-41FE-84BE-B605D92E3032}"/>
              </a:ext>
            </a:extLst>
          </p:cNvPr>
          <p:cNvSpPr>
            <a:spLocks xmlns:a="http://schemas.openxmlformats.org/drawingml/2006/main" noGrp="1"/>
          </p:cNvSpPr>
          <p:nvPr/>
        </p:nvSpPr>
        <p:spPr>
          <a:xfrm xmlns:a="http://schemas.openxmlformats.org/drawingml/2006/main">
            <a:off x="3857625" y="4457700"/>
            <a:ext cx="3383627" cy="495300"/>
          </a:xfrm>
          <a:prstGeom xmlns:a="http://schemas.openxmlformats.org/drawingml/2006/main" prst="rect">
            <a:avLst/>
          </a:prstGeom>
          <a:solidFill xmlns:a="http://schemas.openxmlformats.org/drawingml/2006/main">
            <a:srgbClr val="008C9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DD79C14-0A5A-47DA-B0FD-68A6DBE744A1}"/>
              </a:ext>
            </a:extLst>
          </p:cNvPr>
          <p:cNvSpPr>
            <a:spLocks xmlns:a="http://schemas.openxmlformats.org/drawingml/2006/main" noGrp="1"/>
          </p:cNvSpPr>
          <p:nvPr/>
        </p:nvSpPr>
        <p:spPr>
          <a:xfrm xmlns:a="http://schemas.openxmlformats.org/drawingml/2006/main">
            <a:off x="10772775" y="4505325"/>
            <a:ext cx="114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1283A"/>
                </a:solidFill>
                <a:latin typeface="Aptos"/>
                <a:ea typeface="Aptos"/>
                <a:cs typeface="Aptos"/>
              </a:defRPr>
            </a:pPr>
            <a:r>
              <a:rPr sz="2175" b="1">
                <a:solidFill>
                  <a:srgbClr val="11283A"/>
                </a:solidFill>
                <a:latin typeface="Aptos"/>
                <a:ea typeface="Aptos"/>
                <a:cs typeface="Aptos"/>
              </a:rPr>
              <a:t>50.03%</a:t>
            </a:r>
          </a:p>
        </p:txBody>
      </p:sp>
      <p:sp>
        <p:nvSpPr>
          <p:cNvPr id="18" name="">
            <a:extLst xmlns:a="http://schemas.openxmlformats.org/drawingml/2006/main">
              <a:ext uri="{FF2B5EF4-FFF2-40B4-BE49-F238E27FC236}">
                <a16:creationId xmlns:a16="http://schemas.microsoft.com/office/drawing/2014/main" id="{398D6F56-95F8-4F29-9A48-DAB095EBF237}"/>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776"/>
                </a:solidFill>
                <a:latin typeface="Aptos"/>
                <a:ea typeface="Aptos"/>
                <a:cs typeface="Aptos"/>
              </a:defRPr>
            </a:pPr>
            <a:r>
              <a:rPr sz="2175" b="0">
                <a:solidFill>
                  <a:srgbClr val="526776"/>
                </a:solidFill>
                <a:latin typeface="Aptos"/>
                <a:ea typeface="Aptos"/>
                <a:cs typeface="Aptos"/>
              </a:rPr>
              <a:t>The continuous score improved while useful sign discrimination remained near chance.</a:t>
            </a:r>
          </a:p>
        </p:txBody>
      </p:sp>
    </p:spTree>
    <p:extLst>
      <p:ext uri="{BB962C8B-B14F-4D97-AF65-F5344CB8AC3E}">
        <p14:creationId xmlns:p14="http://schemas.microsoft.com/office/powerpoint/2010/main" val="1827978423"/>
      </p:ext>
    </p:extLst>
  </p:cSld>
</p:sld>
</file>

<file path=ppt/slides/slide1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5F7FB1-2027-4C7B-AEA3-660A74919E7A}"/>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ROBUSTNESS</a:t>
            </a:r>
          </a:p>
        </p:txBody>
      </p:sp>
      <p:sp>
        <p:nvSpPr>
          <p:cNvPr id="2" name="">
            <a:extLst xmlns:a="http://schemas.openxmlformats.org/drawingml/2006/main">
              <a:ext uri="{FF2B5EF4-FFF2-40B4-BE49-F238E27FC236}">
                <a16:creationId xmlns:a16="http://schemas.microsoft.com/office/drawing/2014/main" id="{D4BF24B6-8170-4F80-917B-D2D5561FA5E5}"/>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Measurement noise can reverse the advantage</a:t>
            </a:r>
          </a:p>
        </p:txBody>
      </p:sp>
      <p:sp>
        <p:nvSpPr>
          <p:cNvPr id="3" name="">
            <a:extLst xmlns:a="http://schemas.openxmlformats.org/drawingml/2006/main">
              <a:ext uri="{FF2B5EF4-FFF2-40B4-BE49-F238E27FC236}">
                <a16:creationId xmlns:a16="http://schemas.microsoft.com/office/drawing/2014/main" id="{21BE8C41-55A9-4BF2-924E-CF40EA69FB82}"/>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0E471E-E918-4886-92EC-3BA860B51E1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F0BA352D-9A31-4160-801D-85F1013368B8}"/>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11</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a5facda66b14fa3"/>
          <a:stretch xmlns:a="http://schemas.openxmlformats.org/drawingml/2006/main"/>
        </p:blipFill>
        <p:spPr>
          <a:xfrm xmlns:a="http://schemas.openxmlformats.org/drawingml/2006/main">
            <a:off x="1947431" y="2028825"/>
            <a:ext cx="8297138" cy="35337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04A8D5-16E9-418E-B7B1-0B70F66EDA7E}"/>
              </a:ext>
            </a:extLst>
          </p:cNvPr>
          <p:cNvSpPr>
            <a:spLocks xmlns:a="http://schemas.openxmlformats.org/drawingml/2006/main" noGrp="1"/>
          </p:cNvSpPr>
          <p:nvPr/>
        </p:nvSpPr>
        <p:spPr>
          <a:xfrm xmlns:a="http://schemas.openxmlformats.org/drawingml/2006/main">
            <a:off x="609600" y="5753100"/>
            <a:ext cx="109728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Left of zero: lower error with entropy. Right of zero: higher error with entropy.</a:t>
            </a:r>
          </a:p>
        </p:txBody>
      </p:sp>
    </p:spTree>
    <p:extLst>
      <p:ext uri="{BB962C8B-B14F-4D97-AF65-F5344CB8AC3E}">
        <p14:creationId xmlns:p14="http://schemas.microsoft.com/office/powerpoint/2010/main" val="520094508"/>
      </p:ext>
    </p:extLst>
  </p:cSld>
</p:sld>
</file>

<file path=ppt/slides/slide1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6154D1D-D402-40C4-A47F-1A32629F56FD}"/>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PLASTICITY</a:t>
            </a:r>
          </a:p>
        </p:txBody>
      </p:sp>
      <p:sp>
        <p:nvSpPr>
          <p:cNvPr id="2" name="">
            <a:extLst xmlns:a="http://schemas.openxmlformats.org/drawingml/2006/main">
              <a:ext uri="{FF2B5EF4-FFF2-40B4-BE49-F238E27FC236}">
                <a16:creationId xmlns:a16="http://schemas.microsoft.com/office/drawing/2014/main" id="{C1681577-8C59-4592-B81B-FDAB58DE7E21}"/>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Weight changes need a separate benefit test</a:t>
            </a:r>
          </a:p>
        </p:txBody>
      </p:sp>
      <p:sp>
        <p:nvSpPr>
          <p:cNvPr id="3" name="">
            <a:extLst xmlns:a="http://schemas.openxmlformats.org/drawingml/2006/main">
              <a:ext uri="{FF2B5EF4-FFF2-40B4-BE49-F238E27FC236}">
                <a16:creationId xmlns:a16="http://schemas.microsoft.com/office/drawing/2014/main" id="{EF04439C-8915-4B3D-8C3D-7B4BA615F9EC}"/>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9344D5-BC4F-48A5-9EE9-7B8A8BF8826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63A5CDD0-20A3-4380-8B43-D44E83396BCD}"/>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12</a:t>
            </a:r>
          </a:p>
        </p:txBody>
      </p:sp>
      <p:sp>
        <p:nvSpPr>
          <p:cNvPr id="6" name="">
            <a:extLst xmlns:a="http://schemas.openxmlformats.org/drawingml/2006/main">
              <a:ext uri="{FF2B5EF4-FFF2-40B4-BE49-F238E27FC236}">
                <a16:creationId xmlns:a16="http://schemas.microsoft.com/office/drawing/2014/main" id="{8518E9A8-AC8A-4249-99B3-CFE79D1A45CA}"/>
              </a:ext>
            </a:extLst>
          </p:cNvPr>
          <p:cNvSpPr>
            <a:spLocks xmlns:a="http://schemas.openxmlformats.org/drawingml/2006/main" noGrp="1"/>
          </p:cNvSpPr>
          <p:nvPr/>
        </p:nvSpPr>
        <p:spPr>
          <a:xfrm xmlns:a="http://schemas.openxmlformats.org/drawingml/2006/main">
            <a:off x="60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8C94"/>
                </a:solidFill>
                <a:latin typeface="Aptos"/>
                <a:ea typeface="Aptos"/>
                <a:cs typeface="Aptos"/>
              </a:defRPr>
            </a:pPr>
            <a:r>
              <a:rPr sz="3600" b="0">
                <a:solidFill>
                  <a:srgbClr val="008C94"/>
                </a:solidFill>
                <a:latin typeface="Aptos"/>
                <a:ea typeface="Aptos"/>
                <a:cs typeface="Aptos"/>
              </a:rPr>
              <a:t>01</a:t>
            </a:r>
          </a:p>
        </p:txBody>
      </p:sp>
      <p:sp>
        <p:nvSpPr>
          <p:cNvPr id="7" name="">
            <a:extLst xmlns:a="http://schemas.openxmlformats.org/drawingml/2006/main">
              <a:ext uri="{FF2B5EF4-FFF2-40B4-BE49-F238E27FC236}">
                <a16:creationId xmlns:a16="http://schemas.microsoft.com/office/drawing/2014/main" id="{8822D175-7527-43C2-83D9-BA0096CAB773}"/>
              </a:ext>
            </a:extLst>
          </p:cNvPr>
          <p:cNvSpPr>
            <a:spLocks xmlns:a="http://schemas.openxmlformats.org/drawingml/2006/main" noGrp="1"/>
          </p:cNvSpPr>
          <p:nvPr/>
        </p:nvSpPr>
        <p:spPr>
          <a:xfrm xmlns:a="http://schemas.openxmlformats.org/drawingml/2006/main">
            <a:off x="609600" y="3114675"/>
            <a:ext cx="333375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46DF46-9BDA-4EB8-AB41-875ACE71E8BB}"/>
              </a:ext>
            </a:extLst>
          </p:cNvPr>
          <p:cNvSpPr>
            <a:spLocks xmlns:a="http://schemas.openxmlformats.org/drawingml/2006/main" noGrp="1"/>
          </p:cNvSpPr>
          <p:nvPr/>
        </p:nvSpPr>
        <p:spPr>
          <a:xfrm xmlns:a="http://schemas.openxmlformats.org/drawingml/2006/main">
            <a:off x="60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283A"/>
                </a:solidFill>
                <a:latin typeface="Aptos"/>
                <a:ea typeface="Aptos"/>
                <a:cs typeface="Aptos"/>
              </a:defRPr>
            </a:pPr>
            <a:r>
              <a:rPr sz="2400" b="1">
                <a:solidFill>
                  <a:srgbClr val="11283A"/>
                </a:solidFill>
                <a:latin typeface="Aptos"/>
                <a:ea typeface="Aptos"/>
                <a:cs typeface="Aptos"/>
              </a:rPr>
              <a:t>A specified rule</a:t>
            </a:r>
          </a:p>
        </p:txBody>
      </p:sp>
      <p:sp>
        <p:nvSpPr>
          <p:cNvPr id="9" name="">
            <a:extLst xmlns:a="http://schemas.openxmlformats.org/drawingml/2006/main">
              <a:ext uri="{FF2B5EF4-FFF2-40B4-BE49-F238E27FC236}">
                <a16:creationId xmlns:a16="http://schemas.microsoft.com/office/drawing/2014/main" id="{3B48BEA0-6928-4599-9537-9705A9219158}"/>
              </a:ext>
            </a:extLst>
          </p:cNvPr>
          <p:cNvSpPr>
            <a:spLocks xmlns:a="http://schemas.openxmlformats.org/drawingml/2006/main" noGrp="1"/>
          </p:cNvSpPr>
          <p:nvPr/>
        </p:nvSpPr>
        <p:spPr>
          <a:xfrm xmlns:a="http://schemas.openxmlformats.org/drawingml/2006/main">
            <a:off x="60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Weights change with activity covariance within explicit bounds.</a:t>
            </a:r>
          </a:p>
        </p:txBody>
      </p:sp>
      <p:sp>
        <p:nvSpPr>
          <p:cNvPr id="10" name="">
            <a:extLst xmlns:a="http://schemas.openxmlformats.org/drawingml/2006/main">
              <a:ext uri="{FF2B5EF4-FFF2-40B4-BE49-F238E27FC236}">
                <a16:creationId xmlns:a16="http://schemas.microsoft.com/office/drawing/2014/main" id="{71982822-0DD0-4CE1-84DF-188BDF612F0C}"/>
              </a:ext>
            </a:extLst>
          </p:cNvPr>
          <p:cNvSpPr>
            <a:spLocks xmlns:a="http://schemas.openxmlformats.org/drawingml/2006/main" noGrp="1"/>
          </p:cNvSpPr>
          <p:nvPr/>
        </p:nvSpPr>
        <p:spPr>
          <a:xfrm xmlns:a="http://schemas.openxmlformats.org/drawingml/2006/main">
            <a:off x="441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8C94"/>
                </a:solidFill>
                <a:latin typeface="Aptos"/>
                <a:ea typeface="Aptos"/>
                <a:cs typeface="Aptos"/>
              </a:defRPr>
            </a:pPr>
            <a:r>
              <a:rPr sz="3600" b="0">
                <a:solidFill>
                  <a:srgbClr val="008C94"/>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8E8A00EF-228E-4F9A-A786-B71AAA4B89B5}"/>
              </a:ext>
            </a:extLst>
          </p:cNvPr>
          <p:cNvSpPr>
            <a:spLocks xmlns:a="http://schemas.openxmlformats.org/drawingml/2006/main" noGrp="1"/>
          </p:cNvSpPr>
          <p:nvPr/>
        </p:nvSpPr>
        <p:spPr>
          <a:xfrm xmlns:a="http://schemas.openxmlformats.org/drawingml/2006/main">
            <a:off x="4419600" y="3114675"/>
            <a:ext cx="333375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2B460A4-6BAA-4896-A83A-C0E1259C8535}"/>
              </a:ext>
            </a:extLst>
          </p:cNvPr>
          <p:cNvSpPr>
            <a:spLocks xmlns:a="http://schemas.openxmlformats.org/drawingml/2006/main" noGrp="1"/>
          </p:cNvSpPr>
          <p:nvPr/>
        </p:nvSpPr>
        <p:spPr>
          <a:xfrm xmlns:a="http://schemas.openxmlformats.org/drawingml/2006/main">
            <a:off x="441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283A"/>
                </a:solidFill>
                <a:latin typeface="Aptos"/>
                <a:ea typeface="Aptos"/>
                <a:cs typeface="Aptos"/>
              </a:defRPr>
            </a:pPr>
            <a:r>
              <a:rPr sz="2400" b="1">
                <a:solidFill>
                  <a:srgbClr val="11283A"/>
                </a:solidFill>
                <a:latin typeface="Aptos"/>
                <a:ea typeface="Aptos"/>
                <a:cs typeface="Aptos"/>
              </a:rPr>
              <a:t>A specified washout</a:t>
            </a:r>
          </a:p>
        </p:txBody>
      </p:sp>
      <p:sp>
        <p:nvSpPr>
          <p:cNvPr id="13" name="">
            <a:extLst xmlns:a="http://schemas.openxmlformats.org/drawingml/2006/main">
              <a:ext uri="{FF2B5EF4-FFF2-40B4-BE49-F238E27FC236}">
                <a16:creationId xmlns:a16="http://schemas.microsoft.com/office/drawing/2014/main" id="{9AFE7938-87D3-45F5-B44B-68B5C88A84EE}"/>
              </a:ext>
            </a:extLst>
          </p:cNvPr>
          <p:cNvSpPr>
            <a:spLocks xmlns:a="http://schemas.openxmlformats.org/drawingml/2006/main" noGrp="1"/>
          </p:cNvSpPr>
          <p:nvPr/>
        </p:nvSpPr>
        <p:spPr>
          <a:xfrm xmlns:a="http://schemas.openxmlformats.org/drawingml/2006/main">
            <a:off x="441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After learning stops, changes decay with a chosen time constant.</a:t>
            </a:r>
          </a:p>
        </p:txBody>
      </p:sp>
      <p:sp>
        <p:nvSpPr>
          <p:cNvPr id="14" name="">
            <a:extLst xmlns:a="http://schemas.openxmlformats.org/drawingml/2006/main">
              <a:ext uri="{FF2B5EF4-FFF2-40B4-BE49-F238E27FC236}">
                <a16:creationId xmlns:a16="http://schemas.microsoft.com/office/drawing/2014/main" id="{521D143C-6008-45BE-BB62-2A9D2B467E5F}"/>
              </a:ext>
            </a:extLst>
          </p:cNvPr>
          <p:cNvSpPr>
            <a:spLocks xmlns:a="http://schemas.openxmlformats.org/drawingml/2006/main" noGrp="1"/>
          </p:cNvSpPr>
          <p:nvPr/>
        </p:nvSpPr>
        <p:spPr>
          <a:xfrm xmlns:a="http://schemas.openxmlformats.org/drawingml/2006/main">
            <a:off x="8229600" y="2381250"/>
            <a:ext cx="95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008C94"/>
                </a:solidFill>
                <a:latin typeface="Aptos"/>
                <a:ea typeface="Aptos"/>
                <a:cs typeface="Aptos"/>
              </a:defRPr>
            </a:pPr>
            <a:r>
              <a:rPr sz="3600" b="0">
                <a:solidFill>
                  <a:srgbClr val="008C94"/>
                </a:solidFill>
                <a:latin typeface="Aptos"/>
                <a:ea typeface="Aptos"/>
                <a:cs typeface="Aptos"/>
              </a:rPr>
              <a:t>03</a:t>
            </a:r>
          </a:p>
        </p:txBody>
      </p:sp>
      <p:sp>
        <p:nvSpPr>
          <p:cNvPr id="15" name="">
            <a:extLst xmlns:a="http://schemas.openxmlformats.org/drawingml/2006/main">
              <a:ext uri="{FF2B5EF4-FFF2-40B4-BE49-F238E27FC236}">
                <a16:creationId xmlns:a16="http://schemas.microsoft.com/office/drawing/2014/main" id="{4CA2223E-E431-4ED9-B175-A0D0D317761A}"/>
              </a:ext>
            </a:extLst>
          </p:cNvPr>
          <p:cNvSpPr>
            <a:spLocks xmlns:a="http://schemas.openxmlformats.org/drawingml/2006/main" noGrp="1"/>
          </p:cNvSpPr>
          <p:nvPr/>
        </p:nvSpPr>
        <p:spPr>
          <a:xfrm xmlns:a="http://schemas.openxmlformats.org/drawingml/2006/main">
            <a:off x="8229600" y="3114675"/>
            <a:ext cx="333375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F65C141-AFE0-4108-9453-BB6FB64316D5}"/>
              </a:ext>
            </a:extLst>
          </p:cNvPr>
          <p:cNvSpPr>
            <a:spLocks xmlns:a="http://schemas.openxmlformats.org/drawingml/2006/main" noGrp="1"/>
          </p:cNvSpPr>
          <p:nvPr/>
        </p:nvSpPr>
        <p:spPr>
          <a:xfrm xmlns:a="http://schemas.openxmlformats.org/drawingml/2006/main">
            <a:off x="8229600" y="3371850"/>
            <a:ext cx="328612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1283A"/>
                </a:solidFill>
                <a:latin typeface="Aptos"/>
                <a:ea typeface="Aptos"/>
                <a:cs typeface="Aptos"/>
              </a:defRPr>
            </a:pPr>
            <a:r>
              <a:rPr sz="2400" b="1">
                <a:solidFill>
                  <a:srgbClr val="11283A"/>
                </a:solidFill>
                <a:latin typeface="Aptos"/>
                <a:ea typeface="Aptos"/>
                <a:cs typeface="Aptos"/>
              </a:rPr>
              <a:t>A separate claim</a:t>
            </a:r>
          </a:p>
        </p:txBody>
      </p:sp>
      <p:sp>
        <p:nvSpPr>
          <p:cNvPr id="17" name="">
            <a:extLst xmlns:a="http://schemas.openxmlformats.org/drawingml/2006/main">
              <a:ext uri="{FF2B5EF4-FFF2-40B4-BE49-F238E27FC236}">
                <a16:creationId xmlns:a16="http://schemas.microsoft.com/office/drawing/2014/main" id="{49461BB6-8FC5-4761-95E1-85827FA706E5}"/>
              </a:ext>
            </a:extLst>
          </p:cNvPr>
          <p:cNvSpPr>
            <a:spLocks xmlns:a="http://schemas.openxmlformats.org/drawingml/2006/main" noGrp="1"/>
          </p:cNvSpPr>
          <p:nvPr/>
        </p:nvSpPr>
        <p:spPr>
          <a:xfrm xmlns:a="http://schemas.openxmlformats.org/drawingml/2006/main">
            <a:off x="8229600" y="4381500"/>
            <a:ext cx="32861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776"/>
                </a:solidFill>
                <a:latin typeface="Aptos"/>
                <a:ea typeface="Aptos"/>
                <a:cs typeface="Aptos"/>
              </a:defRPr>
            </a:pPr>
            <a:r>
              <a:rPr sz="1875" b="0">
                <a:solidFill>
                  <a:srgbClr val="526776"/>
                </a:solidFill>
                <a:latin typeface="Aptos"/>
                <a:ea typeface="Aptos"/>
                <a:cs typeface="Aptos"/>
              </a:rPr>
              <a:t>Durable, useful learning in people would need its own evidence.</a:t>
            </a:r>
          </a:p>
        </p:txBody>
      </p:sp>
    </p:spTree>
    <p:extLst>
      <p:ext uri="{BB962C8B-B14F-4D97-AF65-F5344CB8AC3E}">
        <p14:creationId xmlns:p14="http://schemas.microsoft.com/office/powerpoint/2010/main" val="355304653"/>
      </p:ext>
    </p:extLst>
  </p:cSld>
</p:sld>
</file>

<file path=ppt/slides/slide1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D75DEEF-B8AA-44F5-A357-702F50D29F52}"/>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INTERACTIVE MODEL</a:t>
            </a:r>
          </a:p>
        </p:txBody>
      </p:sp>
      <p:sp>
        <p:nvSpPr>
          <p:cNvPr id="2" name="">
            <a:extLst xmlns:a="http://schemas.openxmlformats.org/drawingml/2006/main">
              <a:ext uri="{FF2B5EF4-FFF2-40B4-BE49-F238E27FC236}">
                <a16:creationId xmlns:a16="http://schemas.microsoft.com/office/drawing/2014/main" id="{A4FF21ED-F152-4C85-99AE-96C2D7435940}"/>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Explore the assumptions in the brain lab</a:t>
            </a:r>
          </a:p>
        </p:txBody>
      </p:sp>
      <p:sp>
        <p:nvSpPr>
          <p:cNvPr id="3" name="">
            <a:extLst xmlns:a="http://schemas.openxmlformats.org/drawingml/2006/main">
              <a:ext uri="{FF2B5EF4-FFF2-40B4-BE49-F238E27FC236}">
                <a16:creationId xmlns:a16="http://schemas.microsoft.com/office/drawing/2014/main" id="{4F4936DD-7209-4D5F-BCAA-DD020509115F}"/>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20688BE-B24A-4CF9-9889-235AEBFB0834}"/>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2AD090D1-9791-48BE-8C28-2940CF903249}"/>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13</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1bd99c047c54724"/>
          <a:srcRect xmlns:a="http://schemas.openxmlformats.org/drawingml/2006/main" l="8333" t="0" r="8333" b="0"/>
          <a:stretch xmlns:a="http://schemas.openxmlformats.org/drawingml/2006/main">
            <a:fillRect l="0" t="0" r="0" b="0"/>
          </a:stretch>
        </p:blipFill>
        <p:spPr>
          <a:xfrm xmlns:a="http://schemas.openxmlformats.org/drawingml/2006/main">
            <a:off x="6096000" y="2066925"/>
            <a:ext cx="5486400" cy="3705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6B66782-59C6-4DE1-A706-6405989C287B}"/>
              </a:ext>
            </a:extLst>
          </p:cNvPr>
          <p:cNvSpPr>
            <a:spLocks xmlns:a="http://schemas.openxmlformats.org/drawingml/2006/main" noGrp="1"/>
          </p:cNvSpPr>
          <p:nvPr/>
        </p:nvSpPr>
        <p:spPr>
          <a:xfrm xmlns:a="http://schemas.openxmlformats.org/drawingml/2006/main">
            <a:off x="609600" y="2066925"/>
            <a:ext cx="5095875"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B0B9BC-29D7-4EED-96D6-6FF7102F195A}"/>
              </a:ext>
            </a:extLst>
          </p:cNvPr>
          <p:cNvSpPr>
            <a:spLocks xmlns:a="http://schemas.openxmlformats.org/drawingml/2006/main" noGrp="1"/>
          </p:cNvSpPr>
          <p:nvPr/>
        </p:nvSpPr>
        <p:spPr>
          <a:xfrm xmlns:a="http://schemas.openxmlformats.org/drawingml/2006/main">
            <a:off x="609600" y="2209800"/>
            <a:ext cx="5095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94"/>
                </a:solidFill>
                <a:latin typeface="Aptos"/>
                <a:ea typeface="Aptos"/>
                <a:cs typeface="Aptos"/>
              </a:defRPr>
            </a:pPr>
            <a:r>
              <a:rPr sz="2175" b="1">
                <a:solidFill>
                  <a:srgbClr val="008C94"/>
                </a:solidFill>
                <a:latin typeface="Aptos"/>
                <a:ea typeface="Aptos"/>
                <a:cs typeface="Aptos"/>
              </a:rPr>
              <a:t>Rotate and inspect</a:t>
            </a:r>
          </a:p>
        </p:txBody>
      </p:sp>
      <p:sp>
        <p:nvSpPr>
          <p:cNvPr id="9" name="">
            <a:extLst xmlns:a="http://schemas.openxmlformats.org/drawingml/2006/main">
              <a:ext uri="{FF2B5EF4-FFF2-40B4-BE49-F238E27FC236}">
                <a16:creationId xmlns:a16="http://schemas.microsoft.com/office/drawing/2014/main" id="{6943E327-5BBB-4CC6-B12F-BA7F8AB3A0B6}"/>
              </a:ext>
            </a:extLst>
          </p:cNvPr>
          <p:cNvSpPr>
            <a:spLocks xmlns:a="http://schemas.openxmlformats.org/drawingml/2006/main" noGrp="1"/>
          </p:cNvSpPr>
          <p:nvPr/>
        </p:nvSpPr>
        <p:spPr>
          <a:xfrm xmlns:a="http://schemas.openxmlformats.org/drawingml/2006/main">
            <a:off x="609600" y="2676525"/>
            <a:ext cx="50958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Folded or inflated cortical anatomy</a:t>
            </a:r>
          </a:p>
        </p:txBody>
      </p:sp>
      <p:sp>
        <p:nvSpPr>
          <p:cNvPr id="10" name="">
            <a:extLst xmlns:a="http://schemas.openxmlformats.org/drawingml/2006/main">
              <a:ext uri="{FF2B5EF4-FFF2-40B4-BE49-F238E27FC236}">
                <a16:creationId xmlns:a16="http://schemas.microsoft.com/office/drawing/2014/main" id="{5622318A-CE25-4BDA-B030-FECC650E3606}"/>
              </a:ext>
            </a:extLst>
          </p:cNvPr>
          <p:cNvSpPr>
            <a:spLocks xmlns:a="http://schemas.openxmlformats.org/drawingml/2006/main" noGrp="1"/>
          </p:cNvSpPr>
          <p:nvPr/>
        </p:nvSpPr>
        <p:spPr>
          <a:xfrm xmlns:a="http://schemas.openxmlformats.org/drawingml/2006/main">
            <a:off x="609600" y="3190875"/>
            <a:ext cx="5095875"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4BD5776-029C-4185-9520-E1B215CF3254}"/>
              </a:ext>
            </a:extLst>
          </p:cNvPr>
          <p:cNvSpPr>
            <a:spLocks xmlns:a="http://schemas.openxmlformats.org/drawingml/2006/main" noGrp="1"/>
          </p:cNvSpPr>
          <p:nvPr/>
        </p:nvSpPr>
        <p:spPr>
          <a:xfrm xmlns:a="http://schemas.openxmlformats.org/drawingml/2006/main">
            <a:off x="609600" y="3333750"/>
            <a:ext cx="5095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94"/>
                </a:solidFill>
                <a:latin typeface="Aptos"/>
                <a:ea typeface="Aptos"/>
                <a:cs typeface="Aptos"/>
              </a:defRPr>
            </a:pPr>
            <a:r>
              <a:rPr sz="2175" b="1">
                <a:solidFill>
                  <a:srgbClr val="008C94"/>
                </a:solidFill>
                <a:latin typeface="Aptos"/>
                <a:ea typeface="Aptos"/>
                <a:cs typeface="Aptos"/>
              </a:rPr>
              <a:t>Change the experiment</a:t>
            </a:r>
          </a:p>
        </p:txBody>
      </p:sp>
      <p:sp>
        <p:nvSpPr>
          <p:cNvPr id="12" name="">
            <a:extLst xmlns:a="http://schemas.openxmlformats.org/drawingml/2006/main">
              <a:ext uri="{FF2B5EF4-FFF2-40B4-BE49-F238E27FC236}">
                <a16:creationId xmlns:a16="http://schemas.microsoft.com/office/drawing/2014/main" id="{5FE16198-F8E8-4D1B-A328-A61A682AA8DF}"/>
              </a:ext>
            </a:extLst>
          </p:cNvPr>
          <p:cNvSpPr>
            <a:spLocks xmlns:a="http://schemas.openxmlformats.org/drawingml/2006/main" noGrp="1"/>
          </p:cNvSpPr>
          <p:nvPr/>
        </p:nvSpPr>
        <p:spPr>
          <a:xfrm xmlns:a="http://schemas.openxmlformats.org/drawingml/2006/main">
            <a:off x="609600" y="3800475"/>
            <a:ext cx="50958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Strategy, gain, delay, noise and plasticity</a:t>
            </a:r>
          </a:p>
        </p:txBody>
      </p:sp>
      <p:sp>
        <p:nvSpPr>
          <p:cNvPr id="13" name="">
            <a:extLst xmlns:a="http://schemas.openxmlformats.org/drawingml/2006/main">
              <a:ext uri="{FF2B5EF4-FFF2-40B4-BE49-F238E27FC236}">
                <a16:creationId xmlns:a16="http://schemas.microsoft.com/office/drawing/2014/main" id="{49B16C2F-5B19-4C2B-897B-EDF1EC809E4B}"/>
              </a:ext>
            </a:extLst>
          </p:cNvPr>
          <p:cNvSpPr>
            <a:spLocks xmlns:a="http://schemas.openxmlformats.org/drawingml/2006/main" noGrp="1"/>
          </p:cNvSpPr>
          <p:nvPr/>
        </p:nvSpPr>
        <p:spPr>
          <a:xfrm xmlns:a="http://schemas.openxmlformats.org/drawingml/2006/main">
            <a:off x="609600" y="4314825"/>
            <a:ext cx="5095875"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C9E957-C9E5-4BED-A41E-248CD6EE1BDD}"/>
              </a:ext>
            </a:extLst>
          </p:cNvPr>
          <p:cNvSpPr>
            <a:spLocks xmlns:a="http://schemas.openxmlformats.org/drawingml/2006/main" noGrp="1"/>
          </p:cNvSpPr>
          <p:nvPr/>
        </p:nvSpPr>
        <p:spPr>
          <a:xfrm xmlns:a="http://schemas.openxmlformats.org/drawingml/2006/main">
            <a:off x="609600" y="4457700"/>
            <a:ext cx="5095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8C94"/>
                </a:solidFill>
                <a:latin typeface="Aptos"/>
                <a:ea typeface="Aptos"/>
                <a:cs typeface="Aptos"/>
              </a:defRPr>
            </a:pPr>
            <a:r>
              <a:rPr sz="2175" b="1">
                <a:solidFill>
                  <a:srgbClr val="008C94"/>
                </a:solidFill>
                <a:latin typeface="Aptos"/>
                <a:ea typeface="Aptos"/>
                <a:cs typeface="Aptos"/>
              </a:rPr>
              <a:t>Check both outcomes</a:t>
            </a:r>
          </a:p>
        </p:txBody>
      </p:sp>
      <p:sp>
        <p:nvSpPr>
          <p:cNvPr id="15" name="">
            <a:extLst xmlns:a="http://schemas.openxmlformats.org/drawingml/2006/main">
              <a:ext uri="{FF2B5EF4-FFF2-40B4-BE49-F238E27FC236}">
                <a16:creationId xmlns:a16="http://schemas.microsoft.com/office/drawing/2014/main" id="{C650BF1A-547B-48C8-81D2-72F86D724C3A}"/>
              </a:ext>
            </a:extLst>
          </p:cNvPr>
          <p:cNvSpPr>
            <a:spLocks xmlns:a="http://schemas.openxmlformats.org/drawingml/2006/main" noGrp="1"/>
          </p:cNvSpPr>
          <p:nvPr/>
        </p:nvSpPr>
        <p:spPr>
          <a:xfrm xmlns:a="http://schemas.openxmlformats.org/drawingml/2006/main">
            <a:off x="609600" y="4924425"/>
            <a:ext cx="509587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83A"/>
                </a:solidFill>
                <a:latin typeface="Aptos"/>
                <a:ea typeface="Aptos"/>
                <a:cs typeface="Aptos"/>
              </a:defRPr>
            </a:pPr>
            <a:r>
              <a:rPr sz="1725" b="0">
                <a:solidFill>
                  <a:srgbClr val="11283A"/>
                </a:solidFill>
                <a:latin typeface="Aptos"/>
                <a:ea typeface="Aptos"/>
                <a:cs typeface="Aptos"/>
              </a:rPr>
              <a:t>Watch entropy alongside task performance</a:t>
            </a:r>
          </a:p>
        </p:txBody>
      </p:sp>
      <p:sp>
        <p:nvSpPr>
          <p:cNvPr id="16" name="">
            <a:extLst xmlns:a="http://schemas.openxmlformats.org/drawingml/2006/main">
              <a:ext uri="{FF2B5EF4-FFF2-40B4-BE49-F238E27FC236}">
                <a16:creationId xmlns:a16="http://schemas.microsoft.com/office/drawing/2014/main" id="{FAB670EC-9CB4-441F-A67F-2A959CF4ECF9}"/>
              </a:ext>
            </a:extLst>
          </p:cNvPr>
          <p:cNvSpPr>
            <a:spLocks xmlns:a="http://schemas.openxmlformats.org/drawingml/2006/main" noGrp="1"/>
          </p:cNvSpPr>
          <p:nvPr/>
        </p:nvSpPr>
        <p:spPr>
          <a:xfrm xmlns:a="http://schemas.openxmlformats.org/drawingml/2006/main">
            <a:off x="609600" y="5667375"/>
            <a:ext cx="8763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8C94"/>
                </a:solidFill>
                <a:latin typeface="Aptos"/>
                <a:ea typeface="Aptos"/>
                <a:cs typeface="Aptos"/>
              </a:defRPr>
            </a:pPr>
            <a:r>
              <a:rPr sz="2100" b="1">
                <a:solidFill>
                  <a:srgbClr val="008C94"/>
                </a:solidFill>
                <a:latin typeface="Aptos"/>
                <a:ea typeface="Aptos"/>
                <a:cs typeface="Aptos"/>
                <a:hlinkClick xmlns:r="http://schemas.openxmlformats.org/officeDocument/2006/relationships" r:id="R7f86f803c8bc4a6a"/>
              </a:rPr>
              <a:t>Open the interactive research lab ↗</a:t>
            </a:r>
          </a:p>
        </p:txBody>
      </p:sp>
    </p:spTree>
    <p:extLst>
      <p:ext uri="{BB962C8B-B14F-4D97-AF65-F5344CB8AC3E}">
        <p14:creationId xmlns:p14="http://schemas.microsoft.com/office/powerpoint/2010/main" val="733536322"/>
      </p:ext>
    </p:extLst>
  </p:cSld>
</p:sld>
</file>

<file path=ppt/slides/slide1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FF88F99-6B4F-4350-A55B-1D18774A7F62}"/>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TRANSLATIONAL RESEARCH</a:t>
            </a:r>
          </a:p>
        </p:txBody>
      </p:sp>
      <p:sp>
        <p:nvSpPr>
          <p:cNvPr id="2" name="">
            <a:extLst xmlns:a="http://schemas.openxmlformats.org/drawingml/2006/main">
              <a:ext uri="{FF2B5EF4-FFF2-40B4-BE49-F238E27FC236}">
                <a16:creationId xmlns:a16="http://schemas.microsoft.com/office/drawing/2014/main" id="{D1BC0204-8954-4435-8AC4-28347A08E9DE}"/>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The next study should test the measurement</a:t>
            </a:r>
          </a:p>
        </p:txBody>
      </p:sp>
      <p:sp>
        <p:nvSpPr>
          <p:cNvPr id="3" name="">
            <a:extLst xmlns:a="http://schemas.openxmlformats.org/drawingml/2006/main">
              <a:ext uri="{FF2B5EF4-FFF2-40B4-BE49-F238E27FC236}">
                <a16:creationId xmlns:a16="http://schemas.microsoft.com/office/drawing/2014/main" id="{5E9777E1-CBD8-4C23-BF54-84DD972E7D4E}"/>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3CC082-D554-4340-9255-1F0A99F7F4C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Fletcher-Watson et al., 2019 · Proposed research sequence</a:t>
            </a:r>
          </a:p>
        </p:txBody>
      </p:sp>
      <p:sp>
        <p:nvSpPr>
          <p:cNvPr id="5" name="">
            <a:extLst xmlns:a="http://schemas.openxmlformats.org/drawingml/2006/main">
              <a:ext uri="{FF2B5EF4-FFF2-40B4-BE49-F238E27FC236}">
                <a16:creationId xmlns:a16="http://schemas.microsoft.com/office/drawing/2014/main" id="{98C8A94F-A90F-4997-AA92-A235C67E16DF}"/>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14</a:t>
            </a:r>
          </a:p>
        </p:txBody>
      </p:sp>
      <p:sp>
        <p:nvSpPr>
          <p:cNvPr id="6" name="">
            <a:extLst xmlns:a="http://schemas.openxmlformats.org/drawingml/2006/main">
              <a:ext uri="{FF2B5EF4-FFF2-40B4-BE49-F238E27FC236}">
                <a16:creationId xmlns:a16="http://schemas.microsoft.com/office/drawing/2014/main" id="{500AA71D-8AB7-4215-83E4-5139E5161ADE}"/>
              </a:ext>
            </a:extLst>
          </p:cNvPr>
          <p:cNvSpPr>
            <a:spLocks xmlns:a="http://schemas.openxmlformats.org/drawingml/2006/main" noGrp="1"/>
          </p:cNvSpPr>
          <p:nvPr/>
        </p:nvSpPr>
        <p:spPr>
          <a:xfrm xmlns:a="http://schemas.openxmlformats.org/drawingml/2006/main">
            <a:off x="609600" y="205740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2032F1-7542-4AB4-A7F6-085BC1877AE7}"/>
              </a:ext>
            </a:extLst>
          </p:cNvPr>
          <p:cNvSpPr>
            <a:spLocks xmlns:a="http://schemas.openxmlformats.org/drawingml/2006/main" noGrp="1"/>
          </p:cNvSpPr>
          <p:nvPr/>
        </p:nvSpPr>
        <p:spPr>
          <a:xfrm xmlns:a="http://schemas.openxmlformats.org/drawingml/2006/main">
            <a:off x="609600" y="2200275"/>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8C94"/>
                </a:solidFill>
                <a:latin typeface="Aptos"/>
                <a:ea typeface="Aptos"/>
                <a:cs typeface="Aptos"/>
              </a:defRPr>
            </a:pPr>
            <a:r>
              <a:rPr sz="2400" b="1">
                <a:solidFill>
                  <a:srgbClr val="008C94"/>
                </a:solidFill>
                <a:latin typeface="Aptos"/>
                <a:ea typeface="Aptos"/>
                <a:cs typeface="Aptos"/>
              </a:rPr>
              <a:t>Co-design the outcome</a:t>
            </a:r>
          </a:p>
        </p:txBody>
      </p:sp>
      <p:sp>
        <p:nvSpPr>
          <p:cNvPr id="8" name="">
            <a:extLst xmlns:a="http://schemas.openxmlformats.org/drawingml/2006/main">
              <a:ext uri="{FF2B5EF4-FFF2-40B4-BE49-F238E27FC236}">
                <a16:creationId xmlns:a16="http://schemas.microsoft.com/office/drawing/2014/main" id="{AA2A6CD8-F312-4BF0-B0AD-4FAB6E603706}"/>
              </a:ext>
            </a:extLst>
          </p:cNvPr>
          <p:cNvSpPr>
            <a:spLocks xmlns:a="http://schemas.openxmlformats.org/drawingml/2006/main" noGrp="1"/>
          </p:cNvSpPr>
          <p:nvPr/>
        </p:nvSpPr>
        <p:spPr>
          <a:xfrm xmlns:a="http://schemas.openxmlformats.org/drawingml/2006/main">
            <a:off x="3848100" y="2200275"/>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83A"/>
                </a:solidFill>
                <a:latin typeface="Aptos"/>
                <a:ea typeface="Aptos"/>
                <a:cs typeface="Aptos"/>
              </a:defRPr>
            </a:pPr>
            <a:r>
              <a:rPr sz="2025" b="0">
                <a:solidFill>
                  <a:srgbClr val="11283A"/>
                </a:solidFill>
                <a:latin typeface="Aptos"/>
                <a:ea typeface="Aptos"/>
                <a:cs typeface="Aptos"/>
              </a:rPr>
              <a:t>Choose a goal and acceptable burden with autistic partners.</a:t>
            </a:r>
          </a:p>
        </p:txBody>
      </p:sp>
      <p:sp>
        <p:nvSpPr>
          <p:cNvPr id="9" name="">
            <a:extLst xmlns:a="http://schemas.openxmlformats.org/drawingml/2006/main">
              <a:ext uri="{FF2B5EF4-FFF2-40B4-BE49-F238E27FC236}">
                <a16:creationId xmlns:a16="http://schemas.microsoft.com/office/drawing/2014/main" id="{9B5C81E0-609C-449B-BF92-1EEE7E29715C}"/>
              </a:ext>
            </a:extLst>
          </p:cNvPr>
          <p:cNvSpPr>
            <a:spLocks xmlns:a="http://schemas.openxmlformats.org/drawingml/2006/main" noGrp="1"/>
          </p:cNvSpPr>
          <p:nvPr/>
        </p:nvSpPr>
        <p:spPr>
          <a:xfrm xmlns:a="http://schemas.openxmlformats.org/drawingml/2006/main">
            <a:off x="609600" y="329565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D29FE0-AFB1-4836-9188-82AFDC795A21}"/>
              </a:ext>
            </a:extLst>
          </p:cNvPr>
          <p:cNvSpPr>
            <a:spLocks xmlns:a="http://schemas.openxmlformats.org/drawingml/2006/main" noGrp="1"/>
          </p:cNvSpPr>
          <p:nvPr/>
        </p:nvSpPr>
        <p:spPr>
          <a:xfrm xmlns:a="http://schemas.openxmlformats.org/drawingml/2006/main">
            <a:off x="609600" y="3438525"/>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8C94"/>
                </a:solidFill>
                <a:latin typeface="Aptos"/>
                <a:ea typeface="Aptos"/>
                <a:cs typeface="Aptos"/>
              </a:defRPr>
            </a:pPr>
            <a:r>
              <a:rPr sz="2400" b="1">
                <a:solidFill>
                  <a:srgbClr val="008C94"/>
                </a:solidFill>
                <a:latin typeface="Aptos"/>
                <a:ea typeface="Aptos"/>
                <a:cs typeface="Aptos"/>
              </a:rPr>
              <a:t>Test repeatability</a:t>
            </a:r>
          </a:p>
        </p:txBody>
      </p:sp>
      <p:sp>
        <p:nvSpPr>
          <p:cNvPr id="11" name="">
            <a:extLst xmlns:a="http://schemas.openxmlformats.org/drawingml/2006/main">
              <a:ext uri="{FF2B5EF4-FFF2-40B4-BE49-F238E27FC236}">
                <a16:creationId xmlns:a16="http://schemas.microsoft.com/office/drawing/2014/main" id="{801A0FE6-CCD6-4227-8370-6EAF47D47707}"/>
              </a:ext>
            </a:extLst>
          </p:cNvPr>
          <p:cNvSpPr>
            <a:spLocks xmlns:a="http://schemas.openxmlformats.org/drawingml/2006/main" noGrp="1"/>
          </p:cNvSpPr>
          <p:nvPr/>
        </p:nvSpPr>
        <p:spPr>
          <a:xfrm xmlns:a="http://schemas.openxmlformats.org/drawingml/2006/main">
            <a:off x="3848100" y="3438525"/>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83A"/>
                </a:solidFill>
                <a:latin typeface="Aptos"/>
                <a:ea typeface="Aptos"/>
                <a:cs typeface="Aptos"/>
              </a:defRPr>
            </a:pPr>
            <a:r>
              <a:rPr sz="2025" b="0">
                <a:solidFill>
                  <a:srgbClr val="11283A"/>
                </a:solidFill>
                <a:latin typeface="Aptos"/>
                <a:ea typeface="Aptos"/>
                <a:cs typeface="Aptos"/>
              </a:rPr>
              <a:t>Check whether the signal predicts that goal across separate sessions.</a:t>
            </a:r>
          </a:p>
        </p:txBody>
      </p:sp>
      <p:sp>
        <p:nvSpPr>
          <p:cNvPr id="12" name="">
            <a:extLst xmlns:a="http://schemas.openxmlformats.org/drawingml/2006/main">
              <a:ext uri="{FF2B5EF4-FFF2-40B4-BE49-F238E27FC236}">
                <a16:creationId xmlns:a16="http://schemas.microsoft.com/office/drawing/2014/main" id="{5FCE22C2-47AE-40AD-B23E-4062222E993E}"/>
              </a:ext>
            </a:extLst>
          </p:cNvPr>
          <p:cNvSpPr>
            <a:spLocks xmlns:a="http://schemas.openxmlformats.org/drawingml/2006/main" noGrp="1"/>
          </p:cNvSpPr>
          <p:nvPr/>
        </p:nvSpPr>
        <p:spPr>
          <a:xfrm xmlns:a="http://schemas.openxmlformats.org/drawingml/2006/main">
            <a:off x="609600" y="4533900"/>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1308C4F-45ED-40F3-8C6F-7C8986AFD9FD}"/>
              </a:ext>
            </a:extLst>
          </p:cNvPr>
          <p:cNvSpPr>
            <a:spLocks xmlns:a="http://schemas.openxmlformats.org/drawingml/2006/main" noGrp="1"/>
          </p:cNvSpPr>
          <p:nvPr/>
        </p:nvSpPr>
        <p:spPr>
          <a:xfrm xmlns:a="http://schemas.openxmlformats.org/drawingml/2006/main">
            <a:off x="609600" y="4676775"/>
            <a:ext cx="3009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8C94"/>
                </a:solidFill>
                <a:latin typeface="Aptos"/>
                <a:ea typeface="Aptos"/>
                <a:cs typeface="Aptos"/>
              </a:defRPr>
            </a:pPr>
            <a:r>
              <a:rPr sz="2400" b="1">
                <a:solidFill>
                  <a:srgbClr val="008C94"/>
                </a:solidFill>
                <a:latin typeface="Aptos"/>
                <a:ea typeface="Aptos"/>
                <a:cs typeface="Aptos"/>
              </a:rPr>
              <a:t>Justify intervention testing</a:t>
            </a:r>
          </a:p>
        </p:txBody>
      </p:sp>
      <p:sp>
        <p:nvSpPr>
          <p:cNvPr id="14" name="">
            <a:extLst xmlns:a="http://schemas.openxmlformats.org/drawingml/2006/main">
              <a:ext uri="{FF2B5EF4-FFF2-40B4-BE49-F238E27FC236}">
                <a16:creationId xmlns:a16="http://schemas.microsoft.com/office/drawing/2014/main" id="{4C84EE86-9691-4D7A-A7E0-482C98389473}"/>
              </a:ext>
            </a:extLst>
          </p:cNvPr>
          <p:cNvSpPr>
            <a:spLocks xmlns:a="http://schemas.openxmlformats.org/drawingml/2006/main" noGrp="1"/>
          </p:cNvSpPr>
          <p:nvPr/>
        </p:nvSpPr>
        <p:spPr>
          <a:xfrm xmlns:a="http://schemas.openxmlformats.org/drawingml/2006/main">
            <a:off x="3848100" y="4676775"/>
            <a:ext cx="77343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1283A"/>
                </a:solidFill>
                <a:latin typeface="Aptos"/>
                <a:ea typeface="Aptos"/>
                <a:cs typeface="Aptos"/>
              </a:defRPr>
            </a:pPr>
            <a:r>
              <a:rPr sz="2025" b="0">
                <a:solidFill>
                  <a:srgbClr val="11283A"/>
                </a:solidFill>
                <a:latin typeface="Aptos"/>
                <a:ea typeface="Aptos"/>
                <a:cs typeface="Aptos"/>
              </a:rPr>
              <a:t>Proceed only when realistic models and simpler controls support the case.</a:t>
            </a:r>
          </a:p>
        </p:txBody>
      </p:sp>
    </p:spTree>
    <p:extLst>
      <p:ext uri="{BB962C8B-B14F-4D97-AF65-F5344CB8AC3E}">
        <p14:creationId xmlns:p14="http://schemas.microsoft.com/office/powerpoint/2010/main" val="240268385"/>
      </p:ext>
    </p:extLst>
  </p:cSld>
</p:sld>
</file>

<file path=ppt/slides/slide1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53CE4BD-C05A-4C13-A202-A3FB6EFAFE13}"/>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8C94"/>
                </a:solidFill>
                <a:latin typeface="Aptos"/>
                <a:ea typeface="Aptos"/>
                <a:cs typeface="Aptos"/>
              </a:defRPr>
            </a:pPr>
            <a:r>
              <a:rPr sz="1275" b="1">
                <a:solidFill>
                  <a:srgbClr val="008C94"/>
                </a:solidFill>
                <a:latin typeface="Aptos"/>
                <a:ea typeface="Aptos"/>
                <a:cs typeface="Aptos"/>
              </a:rPr>
              <a:t>READING</a:t>
            </a:r>
          </a:p>
        </p:txBody>
      </p:sp>
      <p:sp>
        <p:nvSpPr>
          <p:cNvPr id="2" name="">
            <a:extLst xmlns:a="http://schemas.openxmlformats.org/drawingml/2006/main">
              <a:ext uri="{FF2B5EF4-FFF2-40B4-BE49-F238E27FC236}">
                <a16:creationId xmlns:a16="http://schemas.microsoft.com/office/drawing/2014/main" id="{B45802FB-A139-4D5C-827F-209D1040870B}"/>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1283A"/>
                </a:solidFill>
                <a:latin typeface="Aptos"/>
                <a:ea typeface="Aptos"/>
                <a:cs typeface="Aptos"/>
              </a:defRPr>
            </a:pPr>
            <a:r>
              <a:rPr sz="3600" b="1">
                <a:solidFill>
                  <a:srgbClr val="11283A"/>
                </a:solidFill>
                <a:latin typeface="Aptos"/>
                <a:ea typeface="Aptos"/>
                <a:cs typeface="Aptos"/>
              </a:rPr>
              <a:t>Selected sources behind the story</a:t>
            </a:r>
          </a:p>
        </p:txBody>
      </p:sp>
      <p:sp>
        <p:nvSpPr>
          <p:cNvPr id="3" name="">
            <a:extLst xmlns:a="http://schemas.openxmlformats.org/drawingml/2006/main">
              <a:ext uri="{FF2B5EF4-FFF2-40B4-BE49-F238E27FC236}">
                <a16:creationId xmlns:a16="http://schemas.microsoft.com/office/drawing/2014/main" id="{6E2472BE-BF6B-4899-938A-F8E71981EC23}"/>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CCD8D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9D8B41-2133-489C-BAB4-7B3FFD4D6E43}"/>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26776"/>
                </a:solidFill>
                <a:latin typeface="Aptos"/>
                <a:ea typeface="Aptos"/>
                <a:cs typeface="Aptos"/>
              </a:defRPr>
            </a:pPr>
            <a:r>
              <a:rPr sz="1125" b="0">
                <a:solidFill>
                  <a:srgbClr val="526776"/>
                </a:solidFill>
                <a:latin typeface="Aptos"/>
                <a:ea typeface="Aptos"/>
                <a:cs typeface="Aptos"/>
              </a:rPr>
              <a:t>Hopkins · Exploratory computational research · September 2026</a:t>
            </a:r>
          </a:p>
        </p:txBody>
      </p:sp>
      <p:sp>
        <p:nvSpPr>
          <p:cNvPr id="5" name="">
            <a:extLst xmlns:a="http://schemas.openxmlformats.org/drawingml/2006/main">
              <a:ext uri="{FF2B5EF4-FFF2-40B4-BE49-F238E27FC236}">
                <a16:creationId xmlns:a16="http://schemas.microsoft.com/office/drawing/2014/main" id="{723B11F7-D653-4207-84D6-2558CC560F3B}"/>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26776"/>
                </a:solidFill>
                <a:latin typeface="Aptos"/>
                <a:ea typeface="Aptos"/>
                <a:cs typeface="Aptos"/>
              </a:defRPr>
            </a:pPr>
            <a:r>
              <a:rPr sz="1275" b="0">
                <a:solidFill>
                  <a:srgbClr val="526776"/>
                </a:solidFill>
                <a:latin typeface="Aptos"/>
                <a:ea typeface="Aptos"/>
                <a:cs typeface="Aptos"/>
              </a:rPr>
              <a:t>15</a:t>
            </a:r>
          </a:p>
        </p:txBody>
      </p:sp>
      <p:sp>
        <p:nvSpPr>
          <p:cNvPr id="6" name="">
            <a:extLst xmlns:a="http://schemas.openxmlformats.org/drawingml/2006/main">
              <a:ext uri="{FF2B5EF4-FFF2-40B4-BE49-F238E27FC236}">
                <a16:creationId xmlns:a16="http://schemas.microsoft.com/office/drawing/2014/main" id="{DC0AAB33-D867-4D7C-8B06-42C90B59B75A}"/>
              </a:ext>
            </a:extLst>
          </p:cNvPr>
          <p:cNvSpPr>
            <a:spLocks xmlns:a="http://schemas.openxmlformats.org/drawingml/2006/main" noGrp="1"/>
          </p:cNvSpPr>
          <p:nvPr/>
        </p:nvSpPr>
        <p:spPr>
          <a:xfrm xmlns:a="http://schemas.openxmlformats.org/drawingml/2006/main">
            <a:off x="609600" y="21145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C94"/>
                </a:solidFill>
                <a:latin typeface="Aptos"/>
                <a:ea typeface="Aptos"/>
                <a:cs typeface="Aptos"/>
              </a:defRPr>
            </a:pPr>
            <a:r>
              <a:rPr sz="1875" b="1">
                <a:solidFill>
                  <a:srgbClr val="008C94"/>
                </a:solidFill>
                <a:latin typeface="Aptos"/>
                <a:ea typeface="Aptos"/>
                <a:cs typeface="Aptos"/>
                <a:hlinkClick xmlns:r="http://schemas.openxmlformats.org/officeDocument/2006/relationships" r:id="R2e9645ea3555453d"/>
              </a:rPr>
              <a:t>Ilioska et al. (2026)</a:t>
            </a:r>
          </a:p>
        </p:txBody>
      </p:sp>
      <p:sp>
        <p:nvSpPr>
          <p:cNvPr id="7" name="">
            <a:extLst xmlns:a="http://schemas.openxmlformats.org/drawingml/2006/main">
              <a:ext uri="{FF2B5EF4-FFF2-40B4-BE49-F238E27FC236}">
                <a16:creationId xmlns:a16="http://schemas.microsoft.com/office/drawing/2014/main" id="{F41F99ED-3F9D-46E8-AF12-C07580D01303}"/>
              </a:ext>
            </a:extLst>
          </p:cNvPr>
          <p:cNvSpPr>
            <a:spLocks xmlns:a="http://schemas.openxmlformats.org/drawingml/2006/main" noGrp="1"/>
          </p:cNvSpPr>
          <p:nvPr/>
        </p:nvSpPr>
        <p:spPr>
          <a:xfrm xmlns:a="http://schemas.openxmlformats.org/drawingml/2006/main">
            <a:off x="4533900" y="2114550"/>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83A"/>
                </a:solidFill>
                <a:latin typeface="Aptos"/>
                <a:ea typeface="Aptos"/>
                <a:cs typeface="Aptos"/>
              </a:defRPr>
            </a:pPr>
            <a:r>
              <a:rPr sz="1800" b="0">
                <a:solidFill>
                  <a:srgbClr val="11283A"/>
                </a:solidFill>
                <a:latin typeface="Aptos"/>
                <a:ea typeface="Aptos"/>
                <a:cs typeface="Aptos"/>
              </a:rPr>
              <a:t>Individual connectivity · Nature Mental Health</a:t>
            </a:r>
          </a:p>
        </p:txBody>
      </p:sp>
      <p:sp>
        <p:nvSpPr>
          <p:cNvPr id="8" name="">
            <a:extLst xmlns:a="http://schemas.openxmlformats.org/drawingml/2006/main">
              <a:ext uri="{FF2B5EF4-FFF2-40B4-BE49-F238E27FC236}">
                <a16:creationId xmlns:a16="http://schemas.microsoft.com/office/drawing/2014/main" id="{57F3B65B-8C1A-4274-8362-CC107BFE7275}"/>
              </a:ext>
            </a:extLst>
          </p:cNvPr>
          <p:cNvSpPr>
            <a:spLocks xmlns:a="http://schemas.openxmlformats.org/drawingml/2006/main" noGrp="1"/>
          </p:cNvSpPr>
          <p:nvPr/>
        </p:nvSpPr>
        <p:spPr>
          <a:xfrm xmlns:a="http://schemas.openxmlformats.org/drawingml/2006/main">
            <a:off x="609600" y="2752725"/>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C94"/>
                </a:solidFill>
                <a:latin typeface="Aptos"/>
                <a:ea typeface="Aptos"/>
                <a:cs typeface="Aptos"/>
              </a:defRPr>
            </a:pPr>
            <a:r>
              <a:rPr sz="1875" b="1">
                <a:solidFill>
                  <a:srgbClr val="008C94"/>
                </a:solidFill>
                <a:latin typeface="Aptos"/>
                <a:ea typeface="Aptos"/>
                <a:cs typeface="Aptos"/>
                <a:hlinkClick xmlns:r="http://schemas.openxmlformats.org/officeDocument/2006/relationships" r:id="R57c381d68c094e53"/>
              </a:rPr>
              <a:t>Stoliker et al. (2026)</a:t>
            </a:r>
          </a:p>
        </p:txBody>
      </p:sp>
      <p:sp>
        <p:nvSpPr>
          <p:cNvPr id="9" name="">
            <a:extLst xmlns:a="http://schemas.openxmlformats.org/drawingml/2006/main">
              <a:ext uri="{FF2B5EF4-FFF2-40B4-BE49-F238E27FC236}">
                <a16:creationId xmlns:a16="http://schemas.microsoft.com/office/drawing/2014/main" id="{0AD33528-B051-4A9F-88F4-19AE5FBF8CF2}"/>
              </a:ext>
            </a:extLst>
          </p:cNvPr>
          <p:cNvSpPr>
            <a:spLocks xmlns:a="http://schemas.openxmlformats.org/drawingml/2006/main" noGrp="1"/>
          </p:cNvSpPr>
          <p:nvPr/>
        </p:nvSpPr>
        <p:spPr>
          <a:xfrm xmlns:a="http://schemas.openxmlformats.org/drawingml/2006/main">
            <a:off x="4533900" y="2752725"/>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83A"/>
                </a:solidFill>
                <a:latin typeface="Aptos"/>
                <a:ea typeface="Aptos"/>
                <a:cs typeface="Aptos"/>
              </a:defRPr>
            </a:pPr>
            <a:r>
              <a:rPr sz="1800" b="0">
                <a:solidFill>
                  <a:srgbClr val="11283A"/>
                </a:solidFill>
                <a:latin typeface="Aptos"/>
                <a:ea typeface="Aptos"/>
                <a:cs typeface="Aptos"/>
              </a:rPr>
              <a:t>Context and psychedelic dynamics · Nature</a:t>
            </a:r>
          </a:p>
        </p:txBody>
      </p:sp>
      <p:sp>
        <p:nvSpPr>
          <p:cNvPr id="10" name="">
            <a:extLst xmlns:a="http://schemas.openxmlformats.org/drawingml/2006/main">
              <a:ext uri="{FF2B5EF4-FFF2-40B4-BE49-F238E27FC236}">
                <a16:creationId xmlns:a16="http://schemas.microsoft.com/office/drawing/2014/main" id="{61360ADF-FD01-4652-A230-BF4BFDF57E4F}"/>
              </a:ext>
            </a:extLst>
          </p:cNvPr>
          <p:cNvSpPr>
            <a:spLocks xmlns:a="http://schemas.openxmlformats.org/drawingml/2006/main" noGrp="1"/>
          </p:cNvSpPr>
          <p:nvPr/>
        </p:nvSpPr>
        <p:spPr>
          <a:xfrm xmlns:a="http://schemas.openxmlformats.org/drawingml/2006/main">
            <a:off x="609600" y="33909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C94"/>
                </a:solidFill>
                <a:latin typeface="Aptos"/>
                <a:ea typeface="Aptos"/>
                <a:cs typeface="Aptos"/>
              </a:defRPr>
            </a:pPr>
            <a:r>
              <a:rPr sz="1875" b="1">
                <a:solidFill>
                  <a:srgbClr val="008C94"/>
                </a:solidFill>
                <a:latin typeface="Aptos"/>
                <a:ea typeface="Aptos"/>
                <a:cs typeface="Aptos"/>
                <a:hlinkClick xmlns:r="http://schemas.openxmlformats.org/officeDocument/2006/relationships" r:id="R2c286ecefefa4c67"/>
              </a:rPr>
              <a:t>Tan et al. (2026)</a:t>
            </a:r>
          </a:p>
        </p:txBody>
      </p:sp>
      <p:sp>
        <p:nvSpPr>
          <p:cNvPr id="11" name="">
            <a:extLst xmlns:a="http://schemas.openxmlformats.org/drawingml/2006/main">
              <a:ext uri="{FF2B5EF4-FFF2-40B4-BE49-F238E27FC236}">
                <a16:creationId xmlns:a16="http://schemas.microsoft.com/office/drawing/2014/main" id="{FA4F7CE0-0E38-4FB4-B876-B0CA0786DBEC}"/>
              </a:ext>
            </a:extLst>
          </p:cNvPr>
          <p:cNvSpPr>
            <a:spLocks xmlns:a="http://schemas.openxmlformats.org/drawingml/2006/main" noGrp="1"/>
          </p:cNvSpPr>
          <p:nvPr/>
        </p:nvSpPr>
        <p:spPr>
          <a:xfrm xmlns:a="http://schemas.openxmlformats.org/drawingml/2006/main">
            <a:off x="4533900" y="3390900"/>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83A"/>
                </a:solidFill>
                <a:latin typeface="Aptos"/>
                <a:ea typeface="Aptos"/>
                <a:cs typeface="Aptos"/>
              </a:defRPr>
            </a:pPr>
            <a:r>
              <a:rPr sz="1800" b="0">
                <a:solidFill>
                  <a:srgbClr val="11283A"/>
                </a:solidFill>
                <a:latin typeface="Aptos"/>
                <a:ea typeface="Aptos"/>
                <a:cs typeface="Aptos"/>
              </a:rPr>
              <a:t>Motor-cortex stimulation trial · BMJ</a:t>
            </a:r>
          </a:p>
        </p:txBody>
      </p:sp>
      <p:sp>
        <p:nvSpPr>
          <p:cNvPr id="12" name="">
            <a:extLst xmlns:a="http://schemas.openxmlformats.org/drawingml/2006/main">
              <a:ext uri="{FF2B5EF4-FFF2-40B4-BE49-F238E27FC236}">
                <a16:creationId xmlns:a16="http://schemas.microsoft.com/office/drawing/2014/main" id="{813E63D5-9C5F-4F80-A6D6-1CDBA47927E2}"/>
              </a:ext>
            </a:extLst>
          </p:cNvPr>
          <p:cNvSpPr>
            <a:spLocks xmlns:a="http://schemas.openxmlformats.org/drawingml/2006/main" noGrp="1"/>
          </p:cNvSpPr>
          <p:nvPr/>
        </p:nvSpPr>
        <p:spPr>
          <a:xfrm xmlns:a="http://schemas.openxmlformats.org/drawingml/2006/main">
            <a:off x="609600" y="4029075"/>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C94"/>
                </a:solidFill>
                <a:latin typeface="Aptos"/>
                <a:ea typeface="Aptos"/>
                <a:cs typeface="Aptos"/>
              </a:defRPr>
            </a:pPr>
            <a:r>
              <a:rPr sz="1875" b="1">
                <a:solidFill>
                  <a:srgbClr val="008C94"/>
                </a:solidFill>
                <a:latin typeface="Aptos"/>
                <a:ea typeface="Aptos"/>
                <a:cs typeface="Aptos"/>
                <a:hlinkClick xmlns:r="http://schemas.openxmlformats.org/officeDocument/2006/relationships" r:id="R1561ab63ae6d40a4"/>
              </a:rPr>
              <a:t>Tenev et al. (2025)</a:t>
            </a:r>
          </a:p>
        </p:txBody>
      </p:sp>
      <p:sp>
        <p:nvSpPr>
          <p:cNvPr id="13" name="">
            <a:extLst xmlns:a="http://schemas.openxmlformats.org/drawingml/2006/main">
              <a:ext uri="{FF2B5EF4-FFF2-40B4-BE49-F238E27FC236}">
                <a16:creationId xmlns:a16="http://schemas.microsoft.com/office/drawing/2014/main" id="{63C3188A-6BB3-4795-B7BA-303BC61F3DCC}"/>
              </a:ext>
            </a:extLst>
          </p:cNvPr>
          <p:cNvSpPr>
            <a:spLocks xmlns:a="http://schemas.openxmlformats.org/drawingml/2006/main" noGrp="1"/>
          </p:cNvSpPr>
          <p:nvPr/>
        </p:nvSpPr>
        <p:spPr>
          <a:xfrm xmlns:a="http://schemas.openxmlformats.org/drawingml/2006/main">
            <a:off x="4533900" y="4029075"/>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83A"/>
                </a:solidFill>
                <a:latin typeface="Aptos"/>
                <a:ea typeface="Aptos"/>
                <a:cs typeface="Aptos"/>
              </a:defRPr>
            </a:pPr>
            <a:r>
              <a:rPr sz="1800" b="0">
                <a:solidFill>
                  <a:srgbClr val="11283A"/>
                </a:solidFill>
                <a:latin typeface="Aptos"/>
                <a:ea typeface="Aptos"/>
                <a:cs typeface="Aptos"/>
              </a:rPr>
              <a:t>Different complexity measures · Front. Psychiatry</a:t>
            </a:r>
          </a:p>
        </p:txBody>
      </p:sp>
      <p:sp>
        <p:nvSpPr>
          <p:cNvPr id="14" name="">
            <a:extLst xmlns:a="http://schemas.openxmlformats.org/drawingml/2006/main">
              <a:ext uri="{FF2B5EF4-FFF2-40B4-BE49-F238E27FC236}">
                <a16:creationId xmlns:a16="http://schemas.microsoft.com/office/drawing/2014/main" id="{FCF47890-E608-4C23-8323-E3C28C6BA65C}"/>
              </a:ext>
            </a:extLst>
          </p:cNvPr>
          <p:cNvSpPr>
            <a:spLocks xmlns:a="http://schemas.openxmlformats.org/drawingml/2006/main" noGrp="1"/>
          </p:cNvSpPr>
          <p:nvPr/>
        </p:nvSpPr>
        <p:spPr>
          <a:xfrm xmlns:a="http://schemas.openxmlformats.org/drawingml/2006/main">
            <a:off x="609600" y="4667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C94"/>
                </a:solidFill>
                <a:latin typeface="Aptos"/>
                <a:ea typeface="Aptos"/>
                <a:cs typeface="Aptos"/>
              </a:defRPr>
            </a:pPr>
            <a:r>
              <a:rPr sz="1875" b="1">
                <a:solidFill>
                  <a:srgbClr val="008C94"/>
                </a:solidFill>
                <a:latin typeface="Aptos"/>
                <a:ea typeface="Aptos"/>
                <a:cs typeface="Aptos"/>
                <a:hlinkClick xmlns:r="http://schemas.openxmlformats.org/officeDocument/2006/relationships" r:id="Re2b8f7d85f09451d"/>
              </a:rPr>
              <a:t>Wilson &amp; Cowan (1972)</a:t>
            </a:r>
          </a:p>
        </p:txBody>
      </p:sp>
      <p:sp>
        <p:nvSpPr>
          <p:cNvPr id="15" name="">
            <a:extLst xmlns:a="http://schemas.openxmlformats.org/drawingml/2006/main">
              <a:ext uri="{FF2B5EF4-FFF2-40B4-BE49-F238E27FC236}">
                <a16:creationId xmlns:a16="http://schemas.microsoft.com/office/drawing/2014/main" id="{74281D56-1610-44A6-88CB-AB4C3414BFC9}"/>
              </a:ext>
            </a:extLst>
          </p:cNvPr>
          <p:cNvSpPr>
            <a:spLocks xmlns:a="http://schemas.openxmlformats.org/drawingml/2006/main" noGrp="1"/>
          </p:cNvSpPr>
          <p:nvPr/>
        </p:nvSpPr>
        <p:spPr>
          <a:xfrm xmlns:a="http://schemas.openxmlformats.org/drawingml/2006/main">
            <a:off x="4533900" y="4667250"/>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83A"/>
                </a:solidFill>
                <a:latin typeface="Aptos"/>
                <a:ea typeface="Aptos"/>
                <a:cs typeface="Aptos"/>
              </a:defRPr>
            </a:pPr>
            <a:r>
              <a:rPr sz="1800" b="0">
                <a:solidFill>
                  <a:srgbClr val="11283A"/>
                </a:solidFill>
                <a:latin typeface="Aptos"/>
                <a:ea typeface="Aptos"/>
                <a:cs typeface="Aptos"/>
              </a:rPr>
              <a:t>Population dynamics · Biophysical Journal</a:t>
            </a:r>
          </a:p>
        </p:txBody>
      </p:sp>
      <p:sp>
        <p:nvSpPr>
          <p:cNvPr id="16" name="">
            <a:extLst xmlns:a="http://schemas.openxmlformats.org/drawingml/2006/main">
              <a:ext uri="{FF2B5EF4-FFF2-40B4-BE49-F238E27FC236}">
                <a16:creationId xmlns:a16="http://schemas.microsoft.com/office/drawing/2014/main" id="{3E59BFA5-C3E1-4F92-B072-B1A96753F3AD}"/>
              </a:ext>
            </a:extLst>
          </p:cNvPr>
          <p:cNvSpPr>
            <a:spLocks xmlns:a="http://schemas.openxmlformats.org/drawingml/2006/main" noGrp="1"/>
          </p:cNvSpPr>
          <p:nvPr/>
        </p:nvSpPr>
        <p:spPr>
          <a:xfrm xmlns:a="http://schemas.openxmlformats.org/drawingml/2006/main">
            <a:off x="609600" y="5305425"/>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8C94"/>
                </a:solidFill>
                <a:latin typeface="Aptos"/>
                <a:ea typeface="Aptos"/>
                <a:cs typeface="Aptos"/>
              </a:defRPr>
            </a:pPr>
            <a:r>
              <a:rPr sz="1875" b="1">
                <a:solidFill>
                  <a:srgbClr val="008C94"/>
                </a:solidFill>
                <a:latin typeface="Aptos"/>
                <a:ea typeface="Aptos"/>
                <a:cs typeface="Aptos"/>
                <a:hlinkClick xmlns:r="http://schemas.openxmlformats.org/officeDocument/2006/relationships" r:id="R31d5d5ecaa7e468c"/>
              </a:rPr>
              <a:t>Bandt &amp; Pompe (2002)</a:t>
            </a:r>
          </a:p>
        </p:txBody>
      </p:sp>
      <p:sp>
        <p:nvSpPr>
          <p:cNvPr id="17" name="">
            <a:extLst xmlns:a="http://schemas.openxmlformats.org/drawingml/2006/main">
              <a:ext uri="{FF2B5EF4-FFF2-40B4-BE49-F238E27FC236}">
                <a16:creationId xmlns:a16="http://schemas.microsoft.com/office/drawing/2014/main" id="{F2840539-431A-49C3-9441-B09357536F74}"/>
              </a:ext>
            </a:extLst>
          </p:cNvPr>
          <p:cNvSpPr>
            <a:spLocks xmlns:a="http://schemas.openxmlformats.org/drawingml/2006/main" noGrp="1"/>
          </p:cNvSpPr>
          <p:nvPr/>
        </p:nvSpPr>
        <p:spPr>
          <a:xfrm xmlns:a="http://schemas.openxmlformats.org/drawingml/2006/main">
            <a:off x="4533900" y="5305425"/>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1283A"/>
                </a:solidFill>
                <a:latin typeface="Aptos"/>
                <a:ea typeface="Aptos"/>
                <a:cs typeface="Aptos"/>
              </a:defRPr>
            </a:pPr>
            <a:r>
              <a:rPr sz="1800" b="0">
                <a:solidFill>
                  <a:srgbClr val="11283A"/>
                </a:solidFill>
                <a:latin typeface="Aptos"/>
                <a:ea typeface="Aptos"/>
                <a:cs typeface="Aptos"/>
              </a:rPr>
              <a:t>Permutation entropy · Physical Review Letters</a:t>
            </a:r>
          </a:p>
        </p:txBody>
      </p:sp>
    </p:spTree>
    <p:extLst>
      <p:ext uri="{BB962C8B-B14F-4D97-AF65-F5344CB8AC3E}">
        <p14:creationId xmlns:p14="http://schemas.microsoft.com/office/powerpoint/2010/main" val="216119377"/>
      </p:ext>
    </p:extLst>
  </p:cSld>
</p:sld>
</file>

<file path=ppt/slides/slide1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9E08BA-14D2-491F-813F-608BBBBC46C4}"/>
              </a:ext>
            </a:extLst>
          </p:cNvPr>
          <p:cNvSpPr>
            <a:spLocks xmlns:a="http://schemas.openxmlformats.org/drawingml/2006/main" noGrp="1"/>
          </p:cNvSpPr>
          <p:nvPr/>
        </p:nvSpPr>
        <p:spPr>
          <a:xfrm xmlns:a="http://schemas.openxmlformats.org/drawingml/2006/main">
            <a:off x="609600" y="352425"/>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7BD4D7"/>
                </a:solidFill>
                <a:latin typeface="Aptos"/>
                <a:ea typeface="Aptos"/>
                <a:cs typeface="Aptos"/>
              </a:defRPr>
            </a:pPr>
            <a:r>
              <a:rPr sz="1275" b="1">
                <a:solidFill>
                  <a:srgbClr val="7BD4D7"/>
                </a:solidFill>
                <a:latin typeface="Aptos"/>
                <a:ea typeface="Aptos"/>
                <a:cs typeface="Aptos"/>
              </a:rPr>
              <a:t>THE TAKEAWAY</a:t>
            </a:r>
          </a:p>
        </p:txBody>
      </p:sp>
      <p:sp>
        <p:nvSpPr>
          <p:cNvPr id="2" name="">
            <a:extLst xmlns:a="http://schemas.openxmlformats.org/drawingml/2006/main">
              <a:ext uri="{FF2B5EF4-FFF2-40B4-BE49-F238E27FC236}">
                <a16:creationId xmlns:a16="http://schemas.microsoft.com/office/drawing/2014/main" id="{1F00E972-68BD-4544-B6C3-E8DF8ACE6F88}"/>
              </a:ext>
            </a:extLst>
          </p:cNvPr>
          <p:cNvSpPr>
            <a:spLocks xmlns:a="http://schemas.openxmlformats.org/drawingml/2006/main" noGrp="1"/>
          </p:cNvSpPr>
          <p:nvPr/>
        </p:nvSpPr>
        <p:spPr>
          <a:xfrm xmlns:a="http://schemas.openxmlformats.org/drawingml/2006/main">
            <a:off x="609600" y="866775"/>
            <a:ext cx="109728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F4F8FB"/>
                </a:solidFill>
                <a:latin typeface="Aptos"/>
                <a:ea typeface="Aptos"/>
                <a:cs typeface="Aptos"/>
              </a:defRPr>
            </a:pPr>
            <a:r>
              <a:rPr sz="3600" b="1">
                <a:solidFill>
                  <a:srgbClr val="F4F8FB"/>
                </a:solidFill>
                <a:latin typeface="Aptos"/>
                <a:ea typeface="Aptos"/>
                <a:cs typeface="Aptos"/>
              </a:rPr>
              <a:t>Useful feedback must earn its added complexity</a:t>
            </a:r>
          </a:p>
        </p:txBody>
      </p:sp>
      <p:sp>
        <p:nvSpPr>
          <p:cNvPr id="3" name="">
            <a:extLst xmlns:a="http://schemas.openxmlformats.org/drawingml/2006/main">
              <a:ext uri="{FF2B5EF4-FFF2-40B4-BE49-F238E27FC236}">
                <a16:creationId xmlns:a16="http://schemas.microsoft.com/office/drawing/2014/main" id="{C021EE70-B327-4D4C-942F-53993A04B0F6}"/>
              </a:ext>
            </a:extLst>
          </p:cNvPr>
          <p:cNvSpPr>
            <a:spLocks xmlns:a="http://schemas.openxmlformats.org/drawingml/2006/main" noGrp="1"/>
          </p:cNvSpPr>
          <p:nvPr/>
        </p:nvSpPr>
        <p:spPr>
          <a:xfrm xmlns:a="http://schemas.openxmlformats.org/drawingml/2006/main">
            <a:off x="609600" y="6296025"/>
            <a:ext cx="10972800" cy="13335"/>
          </a:xfrm>
          <a:prstGeom xmlns:a="http://schemas.openxmlformats.org/drawingml/2006/main" prst="rect">
            <a:avLst/>
          </a:prstGeom>
          <a:solidFill xmlns:a="http://schemas.openxmlformats.org/drawingml/2006/main">
            <a:srgbClr val="304456"/>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F4CCC2C-7846-49B9-BA58-220889F879E6}"/>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9AAEBB"/>
                </a:solidFill>
                <a:latin typeface="Aptos"/>
                <a:ea typeface="Aptos"/>
                <a:cs typeface="Aptos"/>
              </a:defRPr>
            </a:pPr>
            <a:r>
              <a:rPr sz="1125" b="0">
                <a:solidFill>
                  <a:srgbClr val="9AAEBB"/>
                </a:solidFill>
                <a:latin typeface="Aptos"/>
                <a:ea typeface="Aptos"/>
                <a:cs typeface="Aptos"/>
              </a:rPr>
              <a:t>Hopkins · Exploratory benchmark · 2026</a:t>
            </a:r>
          </a:p>
        </p:txBody>
      </p:sp>
      <p:sp>
        <p:nvSpPr>
          <p:cNvPr id="5" name="">
            <a:extLst xmlns:a="http://schemas.openxmlformats.org/drawingml/2006/main">
              <a:ext uri="{FF2B5EF4-FFF2-40B4-BE49-F238E27FC236}">
                <a16:creationId xmlns:a16="http://schemas.microsoft.com/office/drawing/2014/main" id="{0803468B-78A8-4856-B389-940D10EDEC68}"/>
              </a:ext>
            </a:extLst>
          </p:cNvPr>
          <p:cNvSpPr>
            <a:spLocks xmlns:a="http://schemas.openxmlformats.org/drawingml/2006/main" noGrp="1"/>
          </p:cNvSpPr>
          <p:nvPr/>
        </p:nvSpPr>
        <p:spPr>
          <a:xfrm xmlns:a="http://schemas.openxmlformats.org/drawingml/2006/main">
            <a:off x="11049000" y="6429375"/>
            <a:ext cx="533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B8CBD6"/>
                </a:solidFill>
                <a:latin typeface="Aptos"/>
                <a:ea typeface="Aptos"/>
                <a:cs typeface="Aptos"/>
              </a:defRPr>
            </a:pPr>
            <a:r>
              <a:rPr sz="1275" b="0">
                <a:solidFill>
                  <a:srgbClr val="B8CBD6"/>
                </a:solidFill>
                <a:latin typeface="Aptos"/>
                <a:ea typeface="Aptos"/>
                <a:cs typeface="Aptos"/>
              </a:rPr>
              <a:t>16</a:t>
            </a:r>
          </a:p>
        </p:txBody>
      </p:sp>
      <p:sp>
        <p:nvSpPr>
          <p:cNvPr id="6" name="">
            <a:extLst xmlns:a="http://schemas.openxmlformats.org/drawingml/2006/main">
              <a:ext uri="{FF2B5EF4-FFF2-40B4-BE49-F238E27FC236}">
                <a16:creationId xmlns:a16="http://schemas.microsoft.com/office/drawing/2014/main" id="{30A6A578-BFB7-45A6-82C7-A05C25C04167}"/>
              </a:ext>
            </a:extLst>
          </p:cNvPr>
          <p:cNvSpPr>
            <a:spLocks xmlns:a="http://schemas.openxmlformats.org/drawingml/2006/main" noGrp="1"/>
          </p:cNvSpPr>
          <p:nvPr/>
        </p:nvSpPr>
        <p:spPr>
          <a:xfrm xmlns:a="http://schemas.openxmlformats.org/drawingml/2006/main">
            <a:off x="609600" y="2257425"/>
            <a:ext cx="10763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0F6FA"/>
                </a:solidFill>
                <a:latin typeface="Aptos"/>
                <a:ea typeface="Aptos"/>
                <a:cs typeface="Aptos"/>
              </a:defRPr>
            </a:pPr>
            <a:r>
              <a:rPr sz="3975" b="1">
                <a:solidFill>
                  <a:srgbClr val="F0F6FA"/>
                </a:solidFill>
                <a:latin typeface="Aptos"/>
                <a:ea typeface="Aptos"/>
                <a:cs typeface="Aptos"/>
              </a:rPr>
              <a:t>Measure a meaningful outcome.</a:t>
            </a:r>
          </a:p>
          <a:p xmlns:a="http://schemas.openxmlformats.org/drawingml/2006/main">
            <a:pPr algn="l">
              <a:defRPr sz="3975" b="1">
                <a:solidFill>
                  <a:srgbClr val="F0F6FA"/>
                </a:solidFill>
                <a:latin typeface="Aptos"/>
                <a:ea typeface="Aptos"/>
                <a:cs typeface="Aptos"/>
              </a:defRPr>
            </a:pPr>
            <a:r>
              <a:rPr sz="3975" b="1">
                <a:solidFill>
                  <a:srgbClr val="F0F6FA"/>
                </a:solidFill>
                <a:latin typeface="Aptos"/>
                <a:ea typeface="Aptos"/>
                <a:cs typeface="Aptos"/>
              </a:rPr>
              <a:t>Challenge the controller.</a:t>
            </a:r>
          </a:p>
          <a:p xmlns:a="http://schemas.openxmlformats.org/drawingml/2006/main">
            <a:pPr algn="l">
              <a:defRPr sz="3975" b="1">
                <a:solidFill>
                  <a:srgbClr val="F0F6FA"/>
                </a:solidFill>
                <a:latin typeface="Aptos"/>
                <a:ea typeface="Aptos"/>
                <a:cs typeface="Aptos"/>
              </a:defRPr>
            </a:pPr>
            <a:r>
              <a:rPr sz="3975" b="1">
                <a:solidFill>
                  <a:srgbClr val="F0F6FA"/>
                </a:solidFill>
                <a:latin typeface="Aptos"/>
                <a:ea typeface="Aptos"/>
                <a:cs typeface="Aptos"/>
              </a:rPr>
              <a:t>Keep the result reproducible.</a:t>
            </a:r>
          </a:p>
        </p:txBody>
      </p:sp>
      <p:sp>
        <p:nvSpPr>
          <p:cNvPr id="7" name="">
            <a:extLst xmlns:a="http://schemas.openxmlformats.org/drawingml/2006/main">
              <a:ext uri="{FF2B5EF4-FFF2-40B4-BE49-F238E27FC236}">
                <a16:creationId xmlns:a16="http://schemas.microsoft.com/office/drawing/2014/main" id="{9D0A495C-31A4-4A4B-94FB-57D3D2CFA029}"/>
              </a:ext>
            </a:extLst>
          </p:cNvPr>
          <p:cNvSpPr>
            <a:spLocks xmlns:a="http://schemas.openxmlformats.org/drawingml/2006/main" noGrp="1"/>
          </p:cNvSpPr>
          <p:nvPr/>
        </p:nvSpPr>
        <p:spPr>
          <a:xfrm xmlns:a="http://schemas.openxmlformats.org/drawingml/2006/main">
            <a:off x="609600" y="5057775"/>
            <a:ext cx="106680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7CBD8"/>
                </a:solidFill>
                <a:latin typeface="Aptos"/>
                <a:ea typeface="Aptos"/>
                <a:cs typeface="Aptos"/>
              </a:defRPr>
            </a:pPr>
            <a:r>
              <a:rPr sz="2100" b="0">
                <a:solidFill>
                  <a:srgbClr val="B7CBD8"/>
                </a:solidFill>
                <a:latin typeface="Aptos"/>
                <a:ea typeface="Aptos"/>
                <a:cs typeface="Aptos"/>
              </a:rPr>
              <a:t>The current model identifies conditional gains and clear failure modes.</a:t>
            </a:r>
          </a:p>
          <a:p xmlns:a="http://schemas.openxmlformats.org/drawingml/2006/main">
            <a:pPr algn="l">
              <a:defRPr sz="2100" b="0">
                <a:solidFill>
                  <a:srgbClr val="B7CBD8"/>
                </a:solidFill>
                <a:latin typeface="Aptos"/>
                <a:ea typeface="Aptos"/>
                <a:cs typeface="Aptos"/>
              </a:defRPr>
            </a:pPr>
            <a:r>
              <a:rPr sz="2100" b="0">
                <a:solidFill>
                  <a:srgbClr val="B7CBD8"/>
                </a:solidFill>
                <a:latin typeface="Aptos"/>
                <a:ea typeface="Aptos"/>
                <a:cs typeface="Aptos"/>
              </a:rPr>
              <a:t>That is a starting point for better experiments.</a:t>
            </a:r>
          </a:p>
        </p:txBody>
      </p:sp>
    </p:spTree>
    <p:extLst>
      <p:ext uri="{BB962C8B-B14F-4D97-AF65-F5344CB8AC3E}">
        <p14:creationId xmlns:p14="http://schemas.microsoft.com/office/powerpoint/2010/main" val="13914665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2026-09-07T03:15:11.5570000Z</dcterms:created>
  <dcterms:modified xsi:type="dcterms:W3CDTF">2026-09-07T03:15:11.5570000Z</dcterms:modified>
</coreProperties>
</file>