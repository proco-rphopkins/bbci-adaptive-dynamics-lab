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9d1233477b470e" /><Relationship Type="http://schemas.openxmlformats.org/officeDocument/2006/relationships/extended-properties" Target="/docProps/app.xml" Id="R4263b9db53c345d0" /><Relationship Type="http://schemas.openxmlformats.org/officeDocument/2006/relationships/officeDocument" Target="/ppt/presentation.xml" Id="Re17e950bc439407d" /></Relationships>
</file>

<file path=ppt/presentation.xml><?xml version="1.0" encoding="utf-8"?>
<p:presentation xmlns:p="http://schemas.openxmlformats.org/presentationml/2006/main">
  <p:sldMasterIdLst>
    <p:sldMasterId xmlns:r="http://schemas.openxmlformats.org/officeDocument/2006/relationships" id="2147483648" r:id="Raca6cc24f32a4ea7"/>
  </p:sldMasterIdLst>
  <p:notesMasterIdLst>
    <p:notesMasterId xmlns:r="http://schemas.openxmlformats.org/officeDocument/2006/relationships" r:id="Rdd39891dcf7a486a"/>
  </p:notesMasterIdLst>
  <p:sldIdLst>
    <p:sldId xmlns:r="http://schemas.openxmlformats.org/officeDocument/2006/relationships" id="256" r:id="R51b60a0a8d264cc6"/>
    <p:sldId xmlns:r="http://schemas.openxmlformats.org/officeDocument/2006/relationships" id="257" r:id="R33987cf85c6a4cb9"/>
    <p:sldId xmlns:r="http://schemas.openxmlformats.org/officeDocument/2006/relationships" id="258" r:id="R7c0cc6d97f6c43eb"/>
    <p:sldId xmlns:r="http://schemas.openxmlformats.org/officeDocument/2006/relationships" id="259" r:id="R04eb104f9b6d4665"/>
    <p:sldId xmlns:r="http://schemas.openxmlformats.org/officeDocument/2006/relationships" id="260" r:id="R1911c3a5a94c435f"/>
    <p:sldId xmlns:r="http://schemas.openxmlformats.org/officeDocument/2006/relationships" id="261" r:id="Ree960289148b4a77"/>
    <p:sldId xmlns:r="http://schemas.openxmlformats.org/officeDocument/2006/relationships" id="262" r:id="R64f0c9d260874d69"/>
    <p:sldId xmlns:r="http://schemas.openxmlformats.org/officeDocument/2006/relationships" id="263" r:id="Rf97b97001c0c4f51"/>
    <p:sldId xmlns:r="http://schemas.openxmlformats.org/officeDocument/2006/relationships" id="264" r:id="R689d54e681ce4f5a"/>
    <p:sldId xmlns:r="http://schemas.openxmlformats.org/officeDocument/2006/relationships" id="265" r:id="R02db59e9295044ca"/>
    <p:sldId xmlns:r="http://schemas.openxmlformats.org/officeDocument/2006/relationships" id="266" r:id="R95a263cff62943d9"/>
    <p:sldId xmlns:r="http://schemas.openxmlformats.org/officeDocument/2006/relationships" id="267" r:id="R6ef63e9d8871415a"/>
    <p:sldId xmlns:r="http://schemas.openxmlformats.org/officeDocument/2006/relationships" id="268" r:id="Rf58ac3f03c1c49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40eecb97bf48af" /><Relationship Type="http://schemas.openxmlformats.org/officeDocument/2006/relationships/slideMaster" Target="/ppt/slideMasters/slideMaster1.xml" Id="Raca6cc24f32a4ea7" /><Relationship Type="http://schemas.openxmlformats.org/officeDocument/2006/relationships/notesMaster" Target="/ppt/notesMasters/notesMaster1.xml" Id="Rdd39891dcf7a486a" /><Relationship Type="http://schemas.openxmlformats.org/officeDocument/2006/relationships/presProps" Target="/ppt/presProps.xml" Id="R3db0912419554e0b" /><Relationship Type="http://schemas.openxmlformats.org/officeDocument/2006/relationships/tableStyles" Target="/ppt/tableStyles.xml" Id="Ra545e54d57ed4275" /><Relationship Type="http://schemas.openxmlformats.org/officeDocument/2006/relationships/slide" Target="/ppt/slides/slide1.xml" Id="R51b60a0a8d264cc6" /><Relationship Type="http://schemas.openxmlformats.org/officeDocument/2006/relationships/slide" Target="/ppt/slides/slide2.xml" Id="R33987cf85c6a4cb9" /><Relationship Type="http://schemas.openxmlformats.org/officeDocument/2006/relationships/slide" Target="/ppt/slides/slide3.xml" Id="R7c0cc6d97f6c43eb" /><Relationship Type="http://schemas.openxmlformats.org/officeDocument/2006/relationships/slide" Target="/ppt/slides/slide4.xml" Id="R04eb104f9b6d4665" /><Relationship Type="http://schemas.openxmlformats.org/officeDocument/2006/relationships/slide" Target="/ppt/slides/slide5.xml" Id="R1911c3a5a94c435f" /><Relationship Type="http://schemas.openxmlformats.org/officeDocument/2006/relationships/slide" Target="/ppt/slides/slide6.xml" Id="Ree960289148b4a77" /><Relationship Type="http://schemas.openxmlformats.org/officeDocument/2006/relationships/slide" Target="/ppt/slides/slide7.xml" Id="R64f0c9d260874d69" /><Relationship Type="http://schemas.openxmlformats.org/officeDocument/2006/relationships/slide" Target="/ppt/slides/slide8.xml" Id="Rf97b97001c0c4f51" /><Relationship Type="http://schemas.openxmlformats.org/officeDocument/2006/relationships/slide" Target="/ppt/slides/slide9.xml" Id="R689d54e681ce4f5a" /><Relationship Type="http://schemas.openxmlformats.org/officeDocument/2006/relationships/slide" Target="/ppt/slides/slide10.xml" Id="R02db59e9295044ca" /><Relationship Type="http://schemas.openxmlformats.org/officeDocument/2006/relationships/slide" Target="/ppt/slides/slide11.xml" Id="R95a263cff62943d9" /><Relationship Type="http://schemas.openxmlformats.org/officeDocument/2006/relationships/slide" Target="/ppt/slides/slide12.xml" Id="R6ef63e9d8871415a" /><Relationship Type="http://schemas.openxmlformats.org/officeDocument/2006/relationships/slide" Target="/ppt/slides/slide13.xml" Id="Rf58ac3f03c1c49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70995f126c4c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142cad05a2490e" /><Relationship Type="http://schemas.openxmlformats.org/officeDocument/2006/relationships/notesMaster" Target="/ppt/notesMasters/notesMaster1.xml" Id="R2c1dbcf3ffb047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0a1ac4936544f7" /><Relationship Type="http://schemas.openxmlformats.org/officeDocument/2006/relationships/notesMaster" Target="/ppt/notesMasters/notesMaster1.xml" Id="R6167ef96ffe24a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7cde8db3bb438e" /><Relationship Type="http://schemas.openxmlformats.org/officeDocument/2006/relationships/notesMaster" Target="/ppt/notesMasters/notesMaster1.xml" Id="R8f6cf9166ee545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a7360b7a494951" /><Relationship Type="http://schemas.openxmlformats.org/officeDocument/2006/relationships/notesMaster" Target="/ppt/notesMasters/notesMaster1.xml" Id="Rfd2320f851d042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10ea476394407e" /><Relationship Type="http://schemas.openxmlformats.org/officeDocument/2006/relationships/notesMaster" Target="/ppt/notesMasters/notesMaster1.xml" Id="R7d22d13ff88042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77b8c3d24c4f05" /><Relationship Type="http://schemas.openxmlformats.org/officeDocument/2006/relationships/notesMaster" Target="/ppt/notesMasters/notesMaster1.xml" Id="R70356057dbc549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656d8b77af4efb" /><Relationship Type="http://schemas.openxmlformats.org/officeDocument/2006/relationships/notesMaster" Target="/ppt/notesMasters/notesMaster1.xml" Id="R88aae08172c54a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db978c3f2342de" /><Relationship Type="http://schemas.openxmlformats.org/officeDocument/2006/relationships/notesMaster" Target="/ppt/notesMasters/notesMaster1.xml" Id="Rfdd93aa1458f46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5457a1b6c34b4e" /><Relationship Type="http://schemas.openxmlformats.org/officeDocument/2006/relationships/notesMaster" Target="/ppt/notesMasters/notesMaster1.xml" Id="R2e4958c609a34e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536b70102441ce" /><Relationship Type="http://schemas.openxmlformats.org/officeDocument/2006/relationships/notesMaster" Target="/ppt/notesMasters/notesMaster1.xml" Id="R36c2e6f822ad4b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3249464d1e4d3a" /><Relationship Type="http://schemas.openxmlformats.org/officeDocument/2006/relationships/notesMaster" Target="/ppt/notesMasters/notesMaster1.xml" Id="R7305979b2a2b43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72f67ec7324fe7" /><Relationship Type="http://schemas.openxmlformats.org/officeDocument/2006/relationships/notesMaster" Target="/ppt/notesMasters/notesMaster1.xml" Id="R262e50a9fc494d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5a7006658b4bc3" /><Relationship Type="http://schemas.openxmlformats.org/officeDocument/2006/relationships/notesMaster" Target="/ppt/notesMasters/notesMaster1.xml" Id="Raf3a15a58fc34e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vision for a research program that could support greater choice and lower burden for people who want that support. It is not a presentation of a proven therapy. The proposal is to study whether carefully measured brain dynamics can help a feedback system respond to a person’s context and goals. The scientific package includes a working simulation, a critical evidence update and clear failure conditions. The opportunity is to develop and test this idea with autistic partners, computational researchers and clinical experts.</a:t>
            </a:r>
          </a:p>
          <a:p xmlns:a="http://schemas.openxmlformats.org/drawingml/2006/main">
            <a:r>
              <a:t/>
            </a:r>
          </a:p>
          <a:p xmlns:a="http://schemas.openxmlformats.org/drawingml/2006/main">
            <a:r>
              <a:t>Visual: AI-generated fictional adult in a calm workspace. This is an illustration, not a patient, testimonial or depiction of a tested treatment.</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 https://doi.org/10.1177/1362361318786721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potential value of this work should be defined by participants. The examples here are possible research goals, not claims that the proposed approach improves them today. A communication task might matter to one person, while another may prioritize sensory comfort or something entirely different. Autonomy also determines whether a system is acceptable: people need an understandable purpose and the ability to decline or stop. Meaningful involvement should shape the study question and the evaluation criteria from the beginning.</a:t>
            </a:r>
          </a:p>
          <a:p xmlns:a="http://schemas.openxmlformats.org/drawingml/2006/main">
            <a:r>
              <a:t/>
            </a:r>
          </a:p>
          <a:p xmlns:a="http://schemas.openxmlformats.org/drawingml/2006/main">
            <a:r>
              <a:t>[Sources]</a:t>
            </a:r>
          </a:p>
          <a:p xmlns:a="http://schemas.openxmlformats.org/drawingml/2006/main">
            <a:r>
              <a:t>- https://doi.org/10.1177/1362361318786721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approach is a loop. It observes a signal, interprets that signal relative to an individual reference and chooses a constrained response. A future clinical version would need a validated recording method, an appropriate intervention and evidence that the overall loop benefits the participant. Our current software implements only a synthetic version. It demonstrates how the parts connect and how measurement errors can change the result. A person’s goal remains outside the signal statistic and is the reason to evaluate the system at all.</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potential benefits that make the research worth testing. Personalized feedback might become more relevant to changing needs. It might also reduce unnecessary input, but that is a hypothesis: our present combined controller actually uses more energy than rate feedback. A learning claim would require useful improvements that outlast the immediate intervention, rather than merely persistent simulated weights. Each benefit therefore needs its own outcome, comparator and follow-up. The goal is to make the vision measurable before treating it as a product promise.</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credible engineering precedents for closing a neural loop. Sensory feedback has improved robotic-arm control, and individualized adaptive stimulation has been tested against continuous stimulation in Parkinson’s disease. These examples show that measurement and response can be integrated in useful ways in specific settings. They do not supply evidence for an autism application or an entropy target. The opportunity is to learn from their careful calibration and comparative testing while developing independent evidence for a new research question.</a:t>
            </a:r>
          </a:p>
          <a:p xmlns:a="http://schemas.openxmlformats.org/drawingml/2006/main">
            <a:r>
              <a:t/>
            </a:r>
          </a:p>
          <a:p xmlns:a="http://schemas.openxmlformats.org/drawingml/2006/main">
            <a:r>
              <a:t>[Sources]</a:t>
            </a:r>
          </a:p>
          <a:p xmlns:a="http://schemas.openxmlformats.org/drawingml/2006/main">
            <a:r>
              <a:t>- https://doi.org/10.1126/science.abd0380</a:t>
            </a:r>
          </a:p>
          <a:p xmlns:a="http://schemas.openxmlformats.org/drawingml/2006/main">
            <a:r>
              <a:t>- https://doi.org/10.1038/s41591-024-03196-z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Neuralink is a visible example of the broader effort to connect neural signals with useful tools. Its official pages describe investigational digital control, the CONVOY assistive-device study and speech-restoration research. These are company descriptions of programs, not peer-reviewed evidence for our proposal. The relevance is the direction of engineering development and the need to define a specific use case. There is no claimed partnership or endorsement, and these programs should not be presented as proof of an autism therapy or an entropy-based mechanism.</a:t>
            </a:r>
          </a:p>
          <a:p xmlns:a="http://schemas.openxmlformats.org/drawingml/2006/main">
            <a:r>
              <a:t/>
            </a:r>
          </a:p>
          <a:p xmlns:a="http://schemas.openxmlformats.org/drawingml/2006/main">
            <a:r>
              <a:t>[Sources]</a:t>
            </a:r>
          </a:p>
          <a:p xmlns:a="http://schemas.openxmlformats.org/drawingml/2006/main">
            <a:r>
              <a:t>- https://neuralink.com/trials/</a:t>
            </a:r>
          </a:p>
          <a:p xmlns:a="http://schemas.openxmlformats.org/drawingml/2006/main">
            <a:r>
              <a:t>- https://neuralink.com/updates/convoy-study-launch/</a:t>
            </a:r>
          </a:p>
          <a:p xmlns:a="http://schemas.openxmlformats.org/drawingml/2006/main">
            <a:r>
              <a:t>- https://neuralink.com/trials/speech-restoration/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clinical landscape should be presented fairly. A recent motor-cortex trial reported a positive result, while two different frontal stimulation trials did not establish superiority on their primary outcomes. Population, protocol, target and follow-up matter. The positive study was not a test of entropy targeting or closed-loop control, and the proposed approach cannot borrow its benefit claim. The scientific opportunity is to identify a specific, plausible mechanism and test whether feedback adds value beyond the relevant intervention and simpler controls.</a:t>
            </a:r>
          </a:p>
          <a:p xmlns:a="http://schemas.openxmlformats.org/drawingml/2006/main">
            <a:r>
              <a:t/>
            </a:r>
          </a:p>
          <a:p xmlns:a="http://schemas.openxmlformats.org/drawingml/2006/main">
            <a:r>
              <a:t>[Sources]</a:t>
            </a:r>
          </a:p>
          <a:p xmlns:a="http://schemas.openxmlformats.org/drawingml/2006/main">
            <a:r>
              <a:t>- https://doi.org/10.1136/bmj-2025-086295</a:t>
            </a:r>
          </a:p>
          <a:p xmlns:a="http://schemas.openxmlformats.org/drawingml/2006/main">
            <a:r>
              <a:t>- https://doi.org/10.1002/aur.2954</a:t>
            </a:r>
          </a:p>
          <a:p xmlns:a="http://schemas.openxmlformats.org/drawingml/2006/main">
            <a:r>
              <a:t>- https://doi.org/10.1017/S0033291724001387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contribution is a working model that can produce unwelcome answers. It shows a conditional improvement in continuous tracking, but no recovery of the binary task under disturbance. Greater sensor noise reverses the incremental result. That means the research team has concrete assumptions to test rather than a demonstration designed to always look successful. The model’s value is in exposing when a proposed control rule works, when it fails and what evidence would be needed to make it more realistic.</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brain lab is available through the link on this slide. It combines a cortical template with the synthetic neural model and allows changes to feedback strategy, gain, measurement noise, delay and optional plasticity. It also displays task outcomes, so a visually active brain cannot be mistaken for a successful result. The artwork here is conceptual; the application itself contains a manipulable anatomical mesh. The interface is intended for research discussion and model exploration, and it does not operate a medical device.</a:t>
            </a:r>
          </a:p>
          <a:p xmlns:a="http://schemas.openxmlformats.org/drawingml/2006/main">
            <a:r>
              <a:t/>
            </a:r>
          </a:p>
          <a:p xmlns:a="http://schemas.openxmlformats.org/drawingml/2006/main">
            <a:r>
              <a:t>Visual: AI-generated conceptual brain artwork, not an application screenshot or patient scan.</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development path begins with measurement, not a treatment promise. A repeated-session study should test whether a candidate signal predicts an outcome selected with participants. Modeling should then use realistic observation and actuation and compare against optimized simpler approaches. Only a justified, clinically governed feasibility study could assess whether a specified intervention helps. Each stage can lead to revision or stopping. That is a proposed sequence, with no claim that a human protocol has been approved or that these gates have already been passed.</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 https://doi.org/10.1177/1362361318786721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Advancing this program requires several kinds of expertise. Autistic partners determine which questions are worth asking and how participation should work. Methods researchers should challenge the signal interpretation, the model and the controls. Clinical collaborators are necessary to evaluate any eventual human intervention. The current manuscript and software provide a concrete starting point for that conversation. They do not replace independent scientific review, a participant study or the professional responsibilities involved in clinical research.</a:t>
            </a:r>
          </a:p>
          <a:p xmlns:a="http://schemas.openxmlformats.org/drawingml/2006/main">
            <a:r>
              <a:t/>
            </a:r>
          </a:p>
          <a:p xmlns:a="http://schemas.openxmlformats.org/drawingml/2006/main">
            <a:r>
              <a:t>[Sources]</a:t>
            </a:r>
          </a:p>
          <a:p xmlns:a="http://schemas.openxmlformats.org/drawingml/2006/main">
            <a:r>
              <a:t>- https://doi.org/10.1177/1362361318786721</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research package contains the manuscript, references, source audit, executable Python model and recorded results. The sources listed here support distinct parts of the story and should not be combined into a claim they did not test. Peer-reviewed clinical findings are separated from company program descriptions and from our synthetic outputs. Both the positive findings and the limitations are available for review. The final invitation is to use these materials to design a stronger, participant-centered research study.</a:t>
            </a:r>
          </a:p>
          <a:p xmlns:a="http://schemas.openxmlformats.org/drawingml/2006/main">
            <a:r>
              <a:t/>
            </a:r>
          </a:p>
          <a:p xmlns:a="http://schemas.openxmlformats.org/drawingml/2006/main">
            <a:r>
              <a:t>[Sources]</a:t>
            </a:r>
          </a:p>
          <a:p xmlns:a="http://schemas.openxmlformats.org/drawingml/2006/main">
            <a:r>
              <a:t>- https://doi.org/10.1177/1362361318786721</a:t>
            </a:r>
          </a:p>
          <a:p xmlns:a="http://schemas.openxmlformats.org/drawingml/2006/main">
            <a:r>
              <a:t>- https://doi.org/10.1038/s41591-024-03196-z</a:t>
            </a:r>
          </a:p>
          <a:p xmlns:a="http://schemas.openxmlformats.org/drawingml/2006/main">
            <a:r>
              <a:t>- https://doi.org/10.1126/science.abd0380</a:t>
            </a:r>
          </a:p>
          <a:p xmlns:a="http://schemas.openxmlformats.org/drawingml/2006/main">
            <a:r>
              <a:t>- https://doi.org/10.1136/bmj-2025-086295</a:t>
            </a:r>
          </a:p>
          <a:p xmlns:a="http://schemas.openxmlformats.org/drawingml/2006/main">
            <a:r>
              <a:t>- https://neuralink.com/trials/</a:t>
            </a:r>
          </a:p>
          <a:p xmlns:a="http://schemas.openxmlformats.org/drawingml/2006/main">
            <a:r>
              <a:t>- https://bbci-entropic-research-lab.ryan-hopkins.chatgpt.site</a:t>
            </a:r>
          </a:p>
          <a:p xmlns:a="http://schemas.openxmlformats.org/drawingml/2006/main">
            <a:r>
              <a:t>- https://doi.org/10.1002/aur.2954</a:t>
            </a:r>
          </a:p>
          <a:p xmlns:a="http://schemas.openxmlformats.org/drawingml/2006/main">
            <a:r>
              <a:t>- https://doi.org/10.1017/S0033291724001387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is to develop support that people choose because it helps with something they value. The current work makes a research hypothesis concrete, with a functioning model, an updated evidence base and results that reveal both potential and failure. The next step is to test reliable measurements and plausible mechanisms with the right collaborators. A benefit claim must be earned through direct evidence on meaningful outcomes. That is the opportunity this program presents and the standard it should be held to.</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 https://doi.org/10.1177/1362361318786721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624e3f273749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9229abbc194a82" /><Relationship Type="http://schemas.openxmlformats.org/officeDocument/2006/relationships/slideLayout" Target="/ppt/slideLayouts/slideLayout1.xml" Id="R284603f7edf242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4603f7edf242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005ea5583948e3" /><Relationship Type="http://schemas.openxmlformats.org/officeDocument/2006/relationships/image" Target="/ppt/media/image.png" Id="Re3295dba4c6b4cbb" /><Relationship Type="http://schemas.openxmlformats.org/officeDocument/2006/relationships/notesSlide" Target="/ppt/notesSlides/notesSlide1.xml" Id="R243ca5f934244c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e84873b72e4e09" /><Relationship Type="http://schemas.openxmlformats.org/officeDocument/2006/relationships/notesSlide" Target="/ppt/notesSlides/notesSlide2.xml" Id="R9f267e247e6d40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52b22eec2e47f7" /><Relationship Type="http://schemas.openxmlformats.org/officeDocument/2006/relationships/notesSlide" Target="/ppt/notesSlides/notesSlide3.xml" Id="R6c8bf032ccf94f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b863251c3f486f" /><Relationship Type="http://schemas.openxmlformats.org/officeDocument/2006/relationships/notesSlide" Target="/ppt/notesSlides/notesSlide4.xml" Id="R776d53a04b1248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cc03ba9ecd4810" /><Relationship Type="http://schemas.openxmlformats.org/officeDocument/2006/relationships/notesSlide" Target="/ppt/notesSlides/notesSlide5.xml" Id="Ra52193f148654a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a1a3296f83497b" /><Relationship Type="http://schemas.openxmlformats.org/officeDocument/2006/relationships/notesSlide" Target="/ppt/notesSlides/notesSlide6.xml" Id="Re1af5b3ea6124d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56f913f5174c9f" /><Relationship Type="http://schemas.openxmlformats.org/officeDocument/2006/relationships/notesSlide" Target="/ppt/notesSlides/notesSlide7.xml" Id="Rfe395ccb387941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e83c4b852e4cf7" /><Relationship Type="http://schemas.openxmlformats.org/officeDocument/2006/relationships/notesSlide" Target="/ppt/notesSlides/notesSlide8.xml" Id="Rde25a76153a14d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5457d1be4f4606" /><Relationship Type="http://schemas.openxmlformats.org/officeDocument/2006/relationships/image" Target="/ppt/media/image2.png" Id="R5f7e365b379a4681" /><Relationship Type="http://schemas.openxmlformats.org/officeDocument/2006/relationships/hyperlink" Target="https://bbci-entropic-research-lab.ryan-hopkins.chatgpt.site" TargetMode="External" Id="R1a1d6a0441f44d0b" /><Relationship Type="http://schemas.openxmlformats.org/officeDocument/2006/relationships/notesSlide" Target="/ppt/notesSlides/notesSlide9.xml" Id="Rbc5bad12750a48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f2f8a347144df9" /><Relationship Type="http://schemas.openxmlformats.org/officeDocument/2006/relationships/notesSlide" Target="/ppt/notesSlides/notesSlide10.xml" Id="R3e63ca7877ac46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0f282245a74b32" /><Relationship Type="http://schemas.openxmlformats.org/officeDocument/2006/relationships/notesSlide" Target="/ppt/notesSlides/notesSlide11.xml" Id="Radd0e380415b48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ca612c3ea54bcf" /><Relationship Type="http://schemas.openxmlformats.org/officeDocument/2006/relationships/hyperlink" Target="https://doi.org/10.1177/1362361318786721" TargetMode="External" Id="Raa541638f33c4ed7" /><Relationship Type="http://schemas.openxmlformats.org/officeDocument/2006/relationships/hyperlink" Target="https://doi.org/10.1038/s41591-024-03196-z" TargetMode="External" Id="Rc4000d2bac244195" /><Relationship Type="http://schemas.openxmlformats.org/officeDocument/2006/relationships/hyperlink" Target="https://doi.org/10.1126/science.abd0380" TargetMode="External" Id="R1b822fcb73174870" /><Relationship Type="http://schemas.openxmlformats.org/officeDocument/2006/relationships/hyperlink" Target="https://doi.org/10.1136/bmj-2025-086295" TargetMode="External" Id="R91b368960082446c" /><Relationship Type="http://schemas.openxmlformats.org/officeDocument/2006/relationships/hyperlink" Target="https://neuralink.com/trials/" TargetMode="External" Id="R9dd56242ca8346c4" /><Relationship Type="http://schemas.openxmlformats.org/officeDocument/2006/relationships/hyperlink" Target="https://bbci-entropic-research-lab.ryan-hopkins.chatgpt.site" TargetMode="External" Id="R705fee320b1e4b4e" /><Relationship Type="http://schemas.openxmlformats.org/officeDocument/2006/relationships/notesSlide" Target="/ppt/notesSlides/notesSlide12.xml" Id="Rf03fe545c58043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19ee5801859424c" /><Relationship Type="http://schemas.openxmlformats.org/officeDocument/2006/relationships/notesSlide" Target="/ppt/notesSlides/notesSlide13.xml" Id="R5caa346f3c3f46aa" /></Relationships>
</file>

<file path=ppt/slides/slide1.xml><?xml version="1.0" encoding="utf-8"?>
<p:sld xmlns:p="http://schemas.openxmlformats.org/presentationml/2006/main">
  <p:cSld>
    <p:bg>
      <p:bgPr>
        <a:solidFill xmlns:a="http://schemas.openxmlformats.org/drawingml/2006/main">
          <a:srgbClr val="10102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3295dba4c6b4c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E4738A-9EA7-4203-A86A-D0441F59D081}"/>
              </a:ext>
            </a:extLst>
          </p:cNvPr>
          <p:cNvSpPr>
            <a:spLocks xmlns:a="http://schemas.openxmlformats.org/drawingml/2006/main" noGrp="1"/>
          </p:cNvSpPr>
          <p:nvPr/>
        </p:nvSpPr>
        <p:spPr>
          <a:xfrm xmlns:a="http://schemas.openxmlformats.org/drawingml/2006/main">
            <a:off x="609600" y="4857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9D8DB"/>
                </a:solidFill>
                <a:latin typeface="Aptos"/>
                <a:ea typeface="Aptos"/>
                <a:cs typeface="Aptos"/>
              </a:defRPr>
            </a:pPr>
            <a:r>
              <a:rPr sz="1350" b="1">
                <a:solidFill>
                  <a:srgbClr val="89D8DB"/>
                </a:solidFill>
                <a:latin typeface="Aptos"/>
                <a:ea typeface="Aptos"/>
                <a:cs typeface="Aptos"/>
              </a:rPr>
              <a:t>RYAN HOPKINS / SEPTEMBER 2026</a:t>
            </a:r>
          </a:p>
        </p:txBody>
      </p:sp>
      <p:sp>
        <p:nvSpPr>
          <p:cNvPr id="3" name="">
            <a:extLst xmlns:a="http://schemas.openxmlformats.org/drawingml/2006/main">
              <a:ext uri="{FF2B5EF4-FFF2-40B4-BE49-F238E27FC236}">
                <a16:creationId xmlns:a16="http://schemas.microsoft.com/office/drawing/2014/main" id="{E8985565-FA42-4721-B1DB-7CC89FB5DE12}"/>
              </a:ext>
            </a:extLst>
          </p:cNvPr>
          <p:cNvSpPr>
            <a:spLocks xmlns:a="http://schemas.openxmlformats.org/drawingml/2006/main" noGrp="1"/>
          </p:cNvSpPr>
          <p:nvPr/>
        </p:nvSpPr>
        <p:spPr>
          <a:xfrm xmlns:a="http://schemas.openxmlformats.org/drawingml/2006/main">
            <a:off x="609600" y="1647825"/>
            <a:ext cx="5857875"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75" b="1">
                <a:solidFill>
                  <a:srgbClr val="F8FBFF"/>
                </a:solidFill>
                <a:latin typeface="Aptos"/>
                <a:ea typeface="Aptos"/>
                <a:cs typeface="Aptos"/>
              </a:defRPr>
            </a:pPr>
            <a:r>
              <a:rPr sz="5175" b="1">
                <a:solidFill>
                  <a:srgbClr val="F8FBFF"/>
                </a:solidFill>
                <a:latin typeface="Aptos"/>
                <a:ea typeface="Aptos"/>
                <a:cs typeface="Aptos"/>
              </a:rPr>
              <a:t>More choice.</a:t>
            </a:r>
          </a:p>
          <a:p xmlns:a="http://schemas.openxmlformats.org/drawingml/2006/main">
            <a:pPr algn="l">
              <a:defRPr sz="5175" b="1">
                <a:solidFill>
                  <a:srgbClr val="F8FBFF"/>
                </a:solidFill>
                <a:latin typeface="Aptos"/>
                <a:ea typeface="Aptos"/>
                <a:cs typeface="Aptos"/>
              </a:defRPr>
            </a:pPr>
            <a:r>
              <a:rPr sz="5175" b="1">
                <a:solidFill>
                  <a:srgbClr val="F8FBFF"/>
                </a:solidFill>
                <a:latin typeface="Aptos"/>
                <a:ea typeface="Aptos"/>
                <a:cs typeface="Aptos"/>
              </a:rPr>
              <a:t>Less burden.</a:t>
            </a:r>
          </a:p>
        </p:txBody>
      </p:sp>
      <p:sp>
        <p:nvSpPr>
          <p:cNvPr id="4" name="">
            <a:extLst xmlns:a="http://schemas.openxmlformats.org/drawingml/2006/main">
              <a:ext uri="{FF2B5EF4-FFF2-40B4-BE49-F238E27FC236}">
                <a16:creationId xmlns:a16="http://schemas.microsoft.com/office/drawing/2014/main" id="{4DA45F83-55C6-486F-84EB-F18499A83132}"/>
              </a:ext>
            </a:extLst>
          </p:cNvPr>
          <p:cNvSpPr>
            <a:spLocks xmlns:a="http://schemas.openxmlformats.org/drawingml/2006/main" noGrp="1"/>
          </p:cNvSpPr>
          <p:nvPr/>
        </p:nvSpPr>
        <p:spPr>
          <a:xfrm xmlns:a="http://schemas.openxmlformats.org/drawingml/2006/main">
            <a:off x="609600" y="4572000"/>
            <a:ext cx="4953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6D7E3"/>
                </a:solidFill>
                <a:latin typeface="Aptos"/>
                <a:ea typeface="Aptos"/>
                <a:cs typeface="Aptos"/>
              </a:defRPr>
            </a:pPr>
            <a:r>
              <a:rPr sz="2025" b="0">
                <a:solidFill>
                  <a:srgbClr val="C6D7E3"/>
                </a:solidFill>
                <a:latin typeface="Aptos"/>
                <a:ea typeface="Aptos"/>
                <a:cs typeface="Aptos"/>
              </a:rPr>
              <a:t>A research vision for</a:t>
            </a:r>
          </a:p>
          <a:p xmlns:a="http://schemas.openxmlformats.org/drawingml/2006/main">
            <a:pPr algn="l">
              <a:defRPr sz="2025" b="0">
                <a:solidFill>
                  <a:srgbClr val="C6D7E3"/>
                </a:solidFill>
                <a:latin typeface="Aptos"/>
                <a:ea typeface="Aptos"/>
                <a:cs typeface="Aptos"/>
              </a:defRPr>
            </a:pPr>
            <a:r>
              <a:rPr sz="2025" b="0">
                <a:solidFill>
                  <a:srgbClr val="C6D7E3"/>
                </a:solidFill>
                <a:latin typeface="Aptos"/>
                <a:ea typeface="Aptos"/>
                <a:cs typeface="Aptos"/>
              </a:rPr>
              <a:t>person-specific neural support</a:t>
            </a:r>
          </a:p>
        </p:txBody>
      </p:sp>
      <p:sp>
        <p:nvSpPr>
          <p:cNvPr id="5" name="">
            <a:extLst xmlns:a="http://schemas.openxmlformats.org/drawingml/2006/main">
              <a:ext uri="{FF2B5EF4-FFF2-40B4-BE49-F238E27FC236}">
                <a16:creationId xmlns:a16="http://schemas.microsoft.com/office/drawing/2014/main" id="{816B9046-FEE7-4CED-BC5E-DA17E5B7A3E1}"/>
              </a:ext>
            </a:extLst>
          </p:cNvPr>
          <p:cNvSpPr>
            <a:spLocks xmlns:a="http://schemas.openxmlformats.org/drawingml/2006/main" noGrp="1"/>
          </p:cNvSpPr>
          <p:nvPr/>
        </p:nvSpPr>
        <p:spPr>
          <a:xfrm xmlns:a="http://schemas.openxmlformats.org/drawingml/2006/main">
            <a:off x="609600" y="628650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BC0CD"/>
                </a:solidFill>
                <a:latin typeface="Aptos"/>
                <a:ea typeface="Aptos"/>
                <a:cs typeface="Aptos"/>
              </a:defRPr>
            </a:pPr>
            <a:r>
              <a:rPr sz="1200" b="0">
                <a:solidFill>
                  <a:srgbClr val="ABC0CD"/>
                </a:solidFill>
                <a:latin typeface="Aptos"/>
                <a:ea typeface="Aptos"/>
                <a:cs typeface="Aptos"/>
              </a:rPr>
              <a:t>Proposed approach · Potential benefits require clinical testing</a:t>
            </a:r>
          </a:p>
        </p:txBody>
      </p:sp>
    </p:spTree>
    <p:extLst>
      <p:ext uri="{BB962C8B-B14F-4D97-AF65-F5344CB8AC3E}">
        <p14:creationId xmlns:p14="http://schemas.microsoft.com/office/powerpoint/2010/main" val="1958927124"/>
      </p:ext>
    </p:extLst>
  </p:cSld>
</p:sld>
</file>

<file path=ppt/slides/slide2.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E79190-471F-4D2C-8425-A3416077F3A1}"/>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THE HUMAN PURPOSE</a:t>
            </a:r>
          </a:p>
        </p:txBody>
      </p:sp>
      <p:sp>
        <p:nvSpPr>
          <p:cNvPr id="2" name="">
            <a:extLst xmlns:a="http://schemas.openxmlformats.org/drawingml/2006/main">
              <a:ext uri="{FF2B5EF4-FFF2-40B4-BE49-F238E27FC236}">
                <a16:creationId xmlns:a16="http://schemas.microsoft.com/office/drawing/2014/main" id="{53B0B8E3-9211-4041-AD5A-9AFC5A64146C}"/>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A valuable therapy starts with a chosen goal</a:t>
            </a:r>
          </a:p>
        </p:txBody>
      </p:sp>
      <p:sp>
        <p:nvSpPr>
          <p:cNvPr id="3" name="">
            <a:extLst xmlns:a="http://schemas.openxmlformats.org/drawingml/2006/main">
              <a:ext uri="{FF2B5EF4-FFF2-40B4-BE49-F238E27FC236}">
                <a16:creationId xmlns:a16="http://schemas.microsoft.com/office/drawing/2014/main" id="{82F80052-A145-4096-91CF-1309A14F01BE}"/>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76B0374-8494-4759-9036-0B469FE8000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Fletcher-Watson et al., 2019 · Illustrative goals, not demonstrated outcomes</a:t>
            </a:r>
          </a:p>
        </p:txBody>
      </p:sp>
      <p:sp>
        <p:nvSpPr>
          <p:cNvPr id="5" name="">
            <a:extLst xmlns:a="http://schemas.openxmlformats.org/drawingml/2006/main">
              <a:ext uri="{FF2B5EF4-FFF2-40B4-BE49-F238E27FC236}">
                <a16:creationId xmlns:a16="http://schemas.microsoft.com/office/drawing/2014/main" id="{9210FE07-75D6-48D2-9D94-196239B508BA}"/>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0F98E8AE-6E6A-40ED-B3C3-9A881E99C66A}"/>
              </a:ext>
            </a:extLst>
          </p:cNvPr>
          <p:cNvSpPr>
            <a:spLocks xmlns:a="http://schemas.openxmlformats.org/drawingml/2006/main" noGrp="1"/>
          </p:cNvSpPr>
          <p:nvPr/>
        </p:nvSpPr>
        <p:spPr>
          <a:xfrm xmlns:a="http://schemas.openxmlformats.org/drawingml/2006/main">
            <a:off x="60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7A4525E0-3EAC-4D94-9C1E-560C7BBFCE2D}"/>
              </a:ext>
            </a:extLst>
          </p:cNvPr>
          <p:cNvSpPr>
            <a:spLocks xmlns:a="http://schemas.openxmlformats.org/drawingml/2006/main" noGrp="1"/>
          </p:cNvSpPr>
          <p:nvPr/>
        </p:nvSpPr>
        <p:spPr>
          <a:xfrm xmlns:a="http://schemas.openxmlformats.org/drawingml/2006/main">
            <a:off x="60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8F90F9-DB60-4134-A910-4B518F99296A}"/>
              </a:ext>
            </a:extLst>
          </p:cNvPr>
          <p:cNvSpPr>
            <a:spLocks xmlns:a="http://schemas.openxmlformats.org/drawingml/2006/main" noGrp="1"/>
          </p:cNvSpPr>
          <p:nvPr/>
        </p:nvSpPr>
        <p:spPr>
          <a:xfrm xmlns:a="http://schemas.openxmlformats.org/drawingml/2006/main">
            <a:off x="60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Communication</a:t>
            </a:r>
          </a:p>
        </p:txBody>
      </p:sp>
      <p:sp>
        <p:nvSpPr>
          <p:cNvPr id="9" name="">
            <a:extLst xmlns:a="http://schemas.openxmlformats.org/drawingml/2006/main">
              <a:ext uri="{FF2B5EF4-FFF2-40B4-BE49-F238E27FC236}">
                <a16:creationId xmlns:a16="http://schemas.microsoft.com/office/drawing/2014/main" id="{08648318-13D8-407C-A165-4D1E00C1A087}"/>
              </a:ext>
            </a:extLst>
          </p:cNvPr>
          <p:cNvSpPr>
            <a:spLocks xmlns:a="http://schemas.openxmlformats.org/drawingml/2006/main" noGrp="1"/>
          </p:cNvSpPr>
          <p:nvPr/>
        </p:nvSpPr>
        <p:spPr>
          <a:xfrm xmlns:a="http://schemas.openxmlformats.org/drawingml/2006/main">
            <a:off x="60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Support a personally meaningful communication task.</a:t>
            </a:r>
          </a:p>
        </p:txBody>
      </p:sp>
      <p:sp>
        <p:nvSpPr>
          <p:cNvPr id="10" name="">
            <a:extLst xmlns:a="http://schemas.openxmlformats.org/drawingml/2006/main">
              <a:ext uri="{FF2B5EF4-FFF2-40B4-BE49-F238E27FC236}">
                <a16:creationId xmlns:a16="http://schemas.microsoft.com/office/drawing/2014/main" id="{68FBA4D0-B70E-4FF6-8D44-7E9C1C7452D9}"/>
              </a:ext>
            </a:extLst>
          </p:cNvPr>
          <p:cNvSpPr>
            <a:spLocks xmlns:a="http://schemas.openxmlformats.org/drawingml/2006/main" noGrp="1"/>
          </p:cNvSpPr>
          <p:nvPr/>
        </p:nvSpPr>
        <p:spPr>
          <a:xfrm xmlns:a="http://schemas.openxmlformats.org/drawingml/2006/main">
            <a:off x="441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62911FA1-1E72-4A88-B9BF-7C46AEC4AA38}"/>
              </a:ext>
            </a:extLst>
          </p:cNvPr>
          <p:cNvSpPr>
            <a:spLocks xmlns:a="http://schemas.openxmlformats.org/drawingml/2006/main" noGrp="1"/>
          </p:cNvSpPr>
          <p:nvPr/>
        </p:nvSpPr>
        <p:spPr>
          <a:xfrm xmlns:a="http://schemas.openxmlformats.org/drawingml/2006/main">
            <a:off x="441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B93E1E-3235-405F-BED2-4C558B48364D}"/>
              </a:ext>
            </a:extLst>
          </p:cNvPr>
          <p:cNvSpPr>
            <a:spLocks xmlns:a="http://schemas.openxmlformats.org/drawingml/2006/main" noGrp="1"/>
          </p:cNvSpPr>
          <p:nvPr/>
        </p:nvSpPr>
        <p:spPr>
          <a:xfrm xmlns:a="http://schemas.openxmlformats.org/drawingml/2006/main">
            <a:off x="441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Sensory comfort</a:t>
            </a:r>
          </a:p>
        </p:txBody>
      </p:sp>
      <p:sp>
        <p:nvSpPr>
          <p:cNvPr id="13" name="">
            <a:extLst xmlns:a="http://schemas.openxmlformats.org/drawingml/2006/main">
              <a:ext uri="{FF2B5EF4-FFF2-40B4-BE49-F238E27FC236}">
                <a16:creationId xmlns:a16="http://schemas.microsoft.com/office/drawing/2014/main" id="{75ABC554-CB34-42B3-A024-BCD57EB85DDB}"/>
              </a:ext>
            </a:extLst>
          </p:cNvPr>
          <p:cNvSpPr>
            <a:spLocks xmlns:a="http://schemas.openxmlformats.org/drawingml/2006/main" noGrp="1"/>
          </p:cNvSpPr>
          <p:nvPr/>
        </p:nvSpPr>
        <p:spPr>
          <a:xfrm xmlns:a="http://schemas.openxmlformats.org/drawingml/2006/main">
            <a:off x="441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Explore support for a difficulty the participant wants to address.</a:t>
            </a:r>
          </a:p>
        </p:txBody>
      </p:sp>
      <p:sp>
        <p:nvSpPr>
          <p:cNvPr id="14" name="">
            <a:extLst xmlns:a="http://schemas.openxmlformats.org/drawingml/2006/main">
              <a:ext uri="{FF2B5EF4-FFF2-40B4-BE49-F238E27FC236}">
                <a16:creationId xmlns:a16="http://schemas.microsoft.com/office/drawing/2014/main" id="{7C0A2946-933B-4604-8F07-7A19BD511BDC}"/>
              </a:ext>
            </a:extLst>
          </p:cNvPr>
          <p:cNvSpPr>
            <a:spLocks xmlns:a="http://schemas.openxmlformats.org/drawingml/2006/main" noGrp="1"/>
          </p:cNvSpPr>
          <p:nvPr/>
        </p:nvSpPr>
        <p:spPr>
          <a:xfrm xmlns:a="http://schemas.openxmlformats.org/drawingml/2006/main">
            <a:off x="822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A6640F48-5F4B-4B8C-95A0-252DDD3C5982}"/>
              </a:ext>
            </a:extLst>
          </p:cNvPr>
          <p:cNvSpPr>
            <a:spLocks xmlns:a="http://schemas.openxmlformats.org/drawingml/2006/main" noGrp="1"/>
          </p:cNvSpPr>
          <p:nvPr/>
        </p:nvSpPr>
        <p:spPr>
          <a:xfrm xmlns:a="http://schemas.openxmlformats.org/drawingml/2006/main">
            <a:off x="822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91F22AB-2670-4128-8F26-3371617F1FB5}"/>
              </a:ext>
            </a:extLst>
          </p:cNvPr>
          <p:cNvSpPr>
            <a:spLocks xmlns:a="http://schemas.openxmlformats.org/drawingml/2006/main" noGrp="1"/>
          </p:cNvSpPr>
          <p:nvPr/>
        </p:nvSpPr>
        <p:spPr>
          <a:xfrm xmlns:a="http://schemas.openxmlformats.org/drawingml/2006/main">
            <a:off x="822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Autonomy</a:t>
            </a:r>
          </a:p>
        </p:txBody>
      </p:sp>
      <p:sp>
        <p:nvSpPr>
          <p:cNvPr id="17" name="">
            <a:extLst xmlns:a="http://schemas.openxmlformats.org/drawingml/2006/main">
              <a:ext uri="{FF2B5EF4-FFF2-40B4-BE49-F238E27FC236}">
                <a16:creationId xmlns:a16="http://schemas.microsoft.com/office/drawing/2014/main" id="{3A49008A-8E91-4E19-BA32-F005E1608766}"/>
              </a:ext>
            </a:extLst>
          </p:cNvPr>
          <p:cNvSpPr>
            <a:spLocks xmlns:a="http://schemas.openxmlformats.org/drawingml/2006/main" noGrp="1"/>
          </p:cNvSpPr>
          <p:nvPr/>
        </p:nvSpPr>
        <p:spPr>
          <a:xfrm xmlns:a="http://schemas.openxmlformats.org/drawingml/2006/main">
            <a:off x="822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Preserve choice, consent and control over participation.</a:t>
            </a:r>
          </a:p>
        </p:txBody>
      </p:sp>
    </p:spTree>
    <p:extLst>
      <p:ext uri="{BB962C8B-B14F-4D97-AF65-F5344CB8AC3E}">
        <p14:creationId xmlns:p14="http://schemas.microsoft.com/office/powerpoint/2010/main" val="1501758206"/>
      </p:ext>
    </p:extLst>
  </p:cSld>
</p:sld>
</file>

<file path=ppt/slides/slide3.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8E2A16C-D175-4200-B814-207F8D63753F}"/>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THE PROPOSED APPROACH</a:t>
            </a:r>
          </a:p>
        </p:txBody>
      </p:sp>
      <p:sp>
        <p:nvSpPr>
          <p:cNvPr id="2" name="">
            <a:extLst xmlns:a="http://schemas.openxmlformats.org/drawingml/2006/main">
              <a:ext uri="{FF2B5EF4-FFF2-40B4-BE49-F238E27FC236}">
                <a16:creationId xmlns:a16="http://schemas.microsoft.com/office/drawing/2014/main" id="{6DD9025A-ABA8-49C0-A991-D487DC6D87A7}"/>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Feedback could respond as context changes</a:t>
            </a:r>
          </a:p>
        </p:txBody>
      </p:sp>
      <p:sp>
        <p:nvSpPr>
          <p:cNvPr id="3" name="">
            <a:extLst xmlns:a="http://schemas.openxmlformats.org/drawingml/2006/main">
              <a:ext uri="{FF2B5EF4-FFF2-40B4-BE49-F238E27FC236}">
                <a16:creationId xmlns:a16="http://schemas.microsoft.com/office/drawing/2014/main" id="{B01732A5-B794-4A53-86E7-FCDAA70C7119}"/>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E92EF1-3C55-4664-9153-6F222884EB6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868C3422-F73B-43A7-A22F-7B76D8579117}"/>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A7CB4A03-BECF-4AF3-9F21-C280C3078439}"/>
              </a:ext>
            </a:extLst>
          </p:cNvPr>
          <p:cNvSpPr>
            <a:spLocks xmlns:a="http://schemas.openxmlformats.org/drawingml/2006/main" noGrp="1"/>
          </p:cNvSpPr>
          <p:nvPr/>
        </p:nvSpPr>
        <p:spPr>
          <a:xfrm xmlns:a="http://schemas.openxmlformats.org/drawingml/2006/main">
            <a:off x="609600" y="2381250"/>
            <a:ext cx="3238500" cy="1066800"/>
          </a:xfrm>
          <a:prstGeom xmlns:a="http://schemas.openxmlformats.org/drawingml/2006/main" prst="rect">
            <a:avLst/>
          </a:prstGeom>
          <a:solidFill xmlns:a="http://schemas.openxmlformats.org/drawingml/2006/main">
            <a:srgbClr val="2423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12DB40-353A-4324-B14B-8338F0E5D3C3}"/>
              </a:ext>
            </a:extLst>
          </p:cNvPr>
          <p:cNvSpPr>
            <a:spLocks xmlns:a="http://schemas.openxmlformats.org/drawingml/2006/main" noGrp="1"/>
          </p:cNvSpPr>
          <p:nvPr/>
        </p:nvSpPr>
        <p:spPr>
          <a:xfrm xmlns:a="http://schemas.openxmlformats.org/drawingml/2006/main">
            <a:off x="800100" y="2524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4F2FF"/>
                </a:solidFill>
                <a:latin typeface="Aptos"/>
                <a:ea typeface="Aptos"/>
                <a:cs typeface="Aptos"/>
              </a:defRPr>
            </a:pPr>
            <a:r>
              <a:rPr sz="2175" b="1">
                <a:solidFill>
                  <a:srgbClr val="F4F2FF"/>
                </a:solidFill>
                <a:latin typeface="Aptos"/>
                <a:ea typeface="Aptos"/>
                <a:cs typeface="Aptos"/>
              </a:rPr>
              <a:t>Observe</a:t>
            </a:r>
          </a:p>
        </p:txBody>
      </p:sp>
      <p:sp>
        <p:nvSpPr>
          <p:cNvPr id="8" name="">
            <a:extLst xmlns:a="http://schemas.openxmlformats.org/drawingml/2006/main">
              <a:ext uri="{FF2B5EF4-FFF2-40B4-BE49-F238E27FC236}">
                <a16:creationId xmlns:a16="http://schemas.microsoft.com/office/drawing/2014/main" id="{99B364F4-30F0-4675-84C4-68C010DCB5C6}"/>
              </a:ext>
            </a:extLst>
          </p:cNvPr>
          <p:cNvSpPr>
            <a:spLocks xmlns:a="http://schemas.openxmlformats.org/drawingml/2006/main" noGrp="1"/>
          </p:cNvSpPr>
          <p:nvPr/>
        </p:nvSpPr>
        <p:spPr>
          <a:xfrm xmlns:a="http://schemas.openxmlformats.org/drawingml/2006/main">
            <a:off x="800100" y="2952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6B5CC"/>
                </a:solidFill>
                <a:latin typeface="Aptos"/>
                <a:ea typeface="Aptos"/>
                <a:cs typeface="Aptos"/>
              </a:defRPr>
            </a:pPr>
            <a:r>
              <a:rPr sz="1650" b="0">
                <a:solidFill>
                  <a:srgbClr val="B6B5CC"/>
                </a:solidFill>
                <a:latin typeface="Aptos"/>
                <a:ea typeface="Aptos"/>
                <a:cs typeface="Aptos"/>
              </a:rPr>
              <a:t>Measure a changing signal</a:t>
            </a:r>
          </a:p>
        </p:txBody>
      </p:sp>
      <p:sp>
        <p:nvSpPr>
          <p:cNvPr id="9" name="">
            <a:extLst xmlns:a="http://schemas.openxmlformats.org/drawingml/2006/main">
              <a:ext uri="{FF2B5EF4-FFF2-40B4-BE49-F238E27FC236}">
                <a16:creationId xmlns:a16="http://schemas.microsoft.com/office/drawing/2014/main" id="{6676E4D5-769C-471F-AF63-A2A005F8C4BD}"/>
              </a:ext>
            </a:extLst>
          </p:cNvPr>
          <p:cNvSpPr>
            <a:spLocks xmlns:a="http://schemas.openxmlformats.org/drawingml/2006/main" noGrp="1"/>
          </p:cNvSpPr>
          <p:nvPr/>
        </p:nvSpPr>
        <p:spPr>
          <a:xfrm xmlns:a="http://schemas.openxmlformats.org/drawingml/2006/main">
            <a:off x="4476750" y="2381250"/>
            <a:ext cx="3238500" cy="1066800"/>
          </a:xfrm>
          <a:prstGeom xmlns:a="http://schemas.openxmlformats.org/drawingml/2006/main" prst="rect">
            <a:avLst/>
          </a:prstGeom>
          <a:solidFill xmlns:a="http://schemas.openxmlformats.org/drawingml/2006/main">
            <a:srgbClr val="2423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1209F42-2B86-4128-9B95-1EED216E746B}"/>
              </a:ext>
            </a:extLst>
          </p:cNvPr>
          <p:cNvSpPr>
            <a:spLocks xmlns:a="http://schemas.openxmlformats.org/drawingml/2006/main" noGrp="1"/>
          </p:cNvSpPr>
          <p:nvPr/>
        </p:nvSpPr>
        <p:spPr>
          <a:xfrm xmlns:a="http://schemas.openxmlformats.org/drawingml/2006/main">
            <a:off x="4667250" y="2524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4F2FF"/>
                </a:solidFill>
                <a:latin typeface="Aptos"/>
                <a:ea typeface="Aptos"/>
                <a:cs typeface="Aptos"/>
              </a:defRPr>
            </a:pPr>
            <a:r>
              <a:rPr sz="2175" b="1">
                <a:solidFill>
                  <a:srgbClr val="F4F2FF"/>
                </a:solidFill>
                <a:latin typeface="Aptos"/>
                <a:ea typeface="Aptos"/>
                <a:cs typeface="Aptos"/>
              </a:rPr>
              <a:t>Interpret</a:t>
            </a:r>
          </a:p>
        </p:txBody>
      </p:sp>
      <p:sp>
        <p:nvSpPr>
          <p:cNvPr id="11" name="">
            <a:extLst xmlns:a="http://schemas.openxmlformats.org/drawingml/2006/main">
              <a:ext uri="{FF2B5EF4-FFF2-40B4-BE49-F238E27FC236}">
                <a16:creationId xmlns:a16="http://schemas.microsoft.com/office/drawing/2014/main" id="{E433E501-530F-4E07-8E70-9CA990ED1E95}"/>
              </a:ext>
            </a:extLst>
          </p:cNvPr>
          <p:cNvSpPr>
            <a:spLocks xmlns:a="http://schemas.openxmlformats.org/drawingml/2006/main" noGrp="1"/>
          </p:cNvSpPr>
          <p:nvPr/>
        </p:nvSpPr>
        <p:spPr>
          <a:xfrm xmlns:a="http://schemas.openxmlformats.org/drawingml/2006/main">
            <a:off x="4667250" y="2952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6B5CC"/>
                </a:solidFill>
                <a:latin typeface="Aptos"/>
                <a:ea typeface="Aptos"/>
                <a:cs typeface="Aptos"/>
              </a:defRPr>
            </a:pPr>
            <a:r>
              <a:rPr sz="1650" b="0">
                <a:solidFill>
                  <a:srgbClr val="B6B5CC"/>
                </a:solidFill>
                <a:latin typeface="Aptos"/>
                <a:ea typeface="Aptos"/>
                <a:cs typeface="Aptos"/>
              </a:rPr>
              <a:t>Use a personal reference</a:t>
            </a:r>
          </a:p>
        </p:txBody>
      </p:sp>
      <p:sp>
        <p:nvSpPr>
          <p:cNvPr id="12" name="">
            <a:extLst xmlns:a="http://schemas.openxmlformats.org/drawingml/2006/main">
              <a:ext uri="{FF2B5EF4-FFF2-40B4-BE49-F238E27FC236}">
                <a16:creationId xmlns:a16="http://schemas.microsoft.com/office/drawing/2014/main" id="{5BDCC438-037A-4080-968C-CF7532E5091B}"/>
              </a:ext>
            </a:extLst>
          </p:cNvPr>
          <p:cNvSpPr>
            <a:spLocks xmlns:a="http://schemas.openxmlformats.org/drawingml/2006/main" noGrp="1"/>
          </p:cNvSpPr>
          <p:nvPr/>
        </p:nvSpPr>
        <p:spPr>
          <a:xfrm xmlns:a="http://schemas.openxmlformats.org/drawingml/2006/main">
            <a:off x="8343900" y="2381250"/>
            <a:ext cx="3238500" cy="1066800"/>
          </a:xfrm>
          <a:prstGeom xmlns:a="http://schemas.openxmlformats.org/drawingml/2006/main" prst="rect">
            <a:avLst/>
          </a:prstGeom>
          <a:solidFill xmlns:a="http://schemas.openxmlformats.org/drawingml/2006/main">
            <a:srgbClr val="24233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E8B824D-3EA3-4470-A6C3-22F49686F011}"/>
              </a:ext>
            </a:extLst>
          </p:cNvPr>
          <p:cNvSpPr>
            <a:spLocks xmlns:a="http://schemas.openxmlformats.org/drawingml/2006/main" noGrp="1"/>
          </p:cNvSpPr>
          <p:nvPr/>
        </p:nvSpPr>
        <p:spPr>
          <a:xfrm xmlns:a="http://schemas.openxmlformats.org/drawingml/2006/main">
            <a:off x="8534400" y="2524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4F2FF"/>
                </a:solidFill>
                <a:latin typeface="Aptos"/>
                <a:ea typeface="Aptos"/>
                <a:cs typeface="Aptos"/>
              </a:defRPr>
            </a:pPr>
            <a:r>
              <a:rPr sz="2175" b="1">
                <a:solidFill>
                  <a:srgbClr val="F4F2FF"/>
                </a:solidFill>
                <a:latin typeface="Aptos"/>
                <a:ea typeface="Aptos"/>
                <a:cs typeface="Aptos"/>
              </a:rPr>
              <a:t>Decide</a:t>
            </a:r>
          </a:p>
        </p:txBody>
      </p:sp>
      <p:sp>
        <p:nvSpPr>
          <p:cNvPr id="14" name="">
            <a:extLst xmlns:a="http://schemas.openxmlformats.org/drawingml/2006/main">
              <a:ext uri="{FF2B5EF4-FFF2-40B4-BE49-F238E27FC236}">
                <a16:creationId xmlns:a16="http://schemas.microsoft.com/office/drawing/2014/main" id="{C71CB836-8842-464E-AB4E-A4E0BFA9B266}"/>
              </a:ext>
            </a:extLst>
          </p:cNvPr>
          <p:cNvSpPr>
            <a:spLocks xmlns:a="http://schemas.openxmlformats.org/drawingml/2006/main" noGrp="1"/>
          </p:cNvSpPr>
          <p:nvPr/>
        </p:nvSpPr>
        <p:spPr>
          <a:xfrm xmlns:a="http://schemas.openxmlformats.org/drawingml/2006/main">
            <a:off x="8534400" y="2952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6B5CC"/>
                </a:solidFill>
                <a:latin typeface="Aptos"/>
                <a:ea typeface="Aptos"/>
                <a:cs typeface="Aptos"/>
              </a:defRPr>
            </a:pPr>
            <a:r>
              <a:rPr sz="1650" b="0">
                <a:solidFill>
                  <a:srgbClr val="B6B5CC"/>
                </a:solidFill>
                <a:latin typeface="Aptos"/>
                <a:ea typeface="Aptos"/>
                <a:cs typeface="Aptos"/>
              </a:rPr>
              <a:t>Use a calibrated feedback rule</a:t>
            </a:r>
          </a:p>
        </p:txBody>
      </p:sp>
      <p:sp>
        <p:nvSpPr>
          <p:cNvPr id="15" name="">
            <a:extLst xmlns:a="http://schemas.openxmlformats.org/drawingml/2006/main">
              <a:ext uri="{FF2B5EF4-FFF2-40B4-BE49-F238E27FC236}">
                <a16:creationId xmlns:a16="http://schemas.microsoft.com/office/drawing/2014/main" id="{585355D2-4710-43F2-AF1B-E36631340D72}"/>
              </a:ext>
            </a:extLst>
          </p:cNvPr>
          <p:cNvSpPr>
            <a:spLocks xmlns:a="http://schemas.openxmlformats.org/drawingml/2006/main" noGrp="1"/>
          </p:cNvSpPr>
          <p:nvPr/>
        </p:nvSpPr>
        <p:spPr>
          <a:xfrm xmlns:a="http://schemas.openxmlformats.org/drawingml/2006/main">
            <a:off x="8343900" y="4267200"/>
            <a:ext cx="3238500" cy="1066800"/>
          </a:xfrm>
          <a:prstGeom xmlns:a="http://schemas.openxmlformats.org/drawingml/2006/main" prst="rect">
            <a:avLst/>
          </a:prstGeom>
          <a:solidFill xmlns:a="http://schemas.openxmlformats.org/drawingml/2006/main">
            <a:srgbClr val="2423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54F7C2E-9D94-4DF4-B137-3D6AD94C983F}"/>
              </a:ext>
            </a:extLst>
          </p:cNvPr>
          <p:cNvSpPr>
            <a:spLocks xmlns:a="http://schemas.openxmlformats.org/drawingml/2006/main" noGrp="1"/>
          </p:cNvSpPr>
          <p:nvPr/>
        </p:nvSpPr>
        <p:spPr>
          <a:xfrm xmlns:a="http://schemas.openxmlformats.org/drawingml/2006/main">
            <a:off x="8534400" y="44100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4F2FF"/>
                </a:solidFill>
                <a:latin typeface="Aptos"/>
                <a:ea typeface="Aptos"/>
                <a:cs typeface="Aptos"/>
              </a:defRPr>
            </a:pPr>
            <a:r>
              <a:rPr sz="2175" b="1">
                <a:solidFill>
                  <a:srgbClr val="F4F2FF"/>
                </a:solidFill>
                <a:latin typeface="Aptos"/>
                <a:ea typeface="Aptos"/>
                <a:cs typeface="Aptos"/>
              </a:rPr>
              <a:t>Constrain</a:t>
            </a:r>
          </a:p>
        </p:txBody>
      </p:sp>
      <p:sp>
        <p:nvSpPr>
          <p:cNvPr id="17" name="">
            <a:extLst xmlns:a="http://schemas.openxmlformats.org/drawingml/2006/main">
              <a:ext uri="{FF2B5EF4-FFF2-40B4-BE49-F238E27FC236}">
                <a16:creationId xmlns:a16="http://schemas.microsoft.com/office/drawing/2014/main" id="{CEA91B36-4FEF-4E2C-875E-D277D584B4F6}"/>
              </a:ext>
            </a:extLst>
          </p:cNvPr>
          <p:cNvSpPr>
            <a:spLocks xmlns:a="http://schemas.openxmlformats.org/drawingml/2006/main" noGrp="1"/>
          </p:cNvSpPr>
          <p:nvPr/>
        </p:nvSpPr>
        <p:spPr>
          <a:xfrm xmlns:a="http://schemas.openxmlformats.org/drawingml/2006/main">
            <a:off x="8534400" y="48387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6B5CC"/>
                </a:solidFill>
                <a:latin typeface="Aptos"/>
                <a:ea typeface="Aptos"/>
                <a:cs typeface="Aptos"/>
              </a:defRPr>
            </a:pPr>
            <a:r>
              <a:rPr sz="1650" b="0">
                <a:solidFill>
                  <a:srgbClr val="B6B5CC"/>
                </a:solidFill>
                <a:latin typeface="Aptos"/>
                <a:ea typeface="Aptos"/>
                <a:cs typeface="Aptos"/>
              </a:rPr>
              <a:t>Stay within tested limits</a:t>
            </a:r>
          </a:p>
        </p:txBody>
      </p:sp>
      <p:sp>
        <p:nvSpPr>
          <p:cNvPr id="18" name="">
            <a:extLst xmlns:a="http://schemas.openxmlformats.org/drawingml/2006/main">
              <a:ext uri="{FF2B5EF4-FFF2-40B4-BE49-F238E27FC236}">
                <a16:creationId xmlns:a16="http://schemas.microsoft.com/office/drawing/2014/main" id="{A0F0ECB2-0F7F-4D69-8C90-F3962BA0FAAD}"/>
              </a:ext>
            </a:extLst>
          </p:cNvPr>
          <p:cNvSpPr>
            <a:spLocks xmlns:a="http://schemas.openxmlformats.org/drawingml/2006/main" noGrp="1"/>
          </p:cNvSpPr>
          <p:nvPr/>
        </p:nvSpPr>
        <p:spPr>
          <a:xfrm xmlns:a="http://schemas.openxmlformats.org/drawingml/2006/main">
            <a:off x="609600" y="4267200"/>
            <a:ext cx="3238500" cy="1066800"/>
          </a:xfrm>
          <a:prstGeom xmlns:a="http://schemas.openxmlformats.org/drawingml/2006/main" prst="rect">
            <a:avLst/>
          </a:prstGeom>
          <a:solidFill xmlns:a="http://schemas.openxmlformats.org/drawingml/2006/main">
            <a:srgbClr val="2423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016A8A7-DD26-48C4-9396-F783C4971F91}"/>
              </a:ext>
            </a:extLst>
          </p:cNvPr>
          <p:cNvSpPr>
            <a:spLocks xmlns:a="http://schemas.openxmlformats.org/drawingml/2006/main" noGrp="1"/>
          </p:cNvSpPr>
          <p:nvPr/>
        </p:nvSpPr>
        <p:spPr>
          <a:xfrm xmlns:a="http://schemas.openxmlformats.org/drawingml/2006/main">
            <a:off x="800100" y="44100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4F2FF"/>
                </a:solidFill>
                <a:latin typeface="Aptos"/>
                <a:ea typeface="Aptos"/>
                <a:cs typeface="Aptos"/>
              </a:defRPr>
            </a:pPr>
            <a:r>
              <a:rPr sz="2175" b="1">
                <a:solidFill>
                  <a:srgbClr val="F4F2FF"/>
                </a:solidFill>
                <a:latin typeface="Aptos"/>
                <a:ea typeface="Aptos"/>
                <a:cs typeface="Aptos"/>
              </a:rPr>
              <a:t>Respond</a:t>
            </a:r>
          </a:p>
        </p:txBody>
      </p:sp>
      <p:sp>
        <p:nvSpPr>
          <p:cNvPr id="20" name="">
            <a:extLst xmlns:a="http://schemas.openxmlformats.org/drawingml/2006/main">
              <a:ext uri="{FF2B5EF4-FFF2-40B4-BE49-F238E27FC236}">
                <a16:creationId xmlns:a16="http://schemas.microsoft.com/office/drawing/2014/main" id="{E02D423C-5F21-4AD4-87E7-B5491EE2C7E0}"/>
              </a:ext>
            </a:extLst>
          </p:cNvPr>
          <p:cNvSpPr>
            <a:spLocks xmlns:a="http://schemas.openxmlformats.org/drawingml/2006/main" noGrp="1"/>
          </p:cNvSpPr>
          <p:nvPr/>
        </p:nvSpPr>
        <p:spPr>
          <a:xfrm xmlns:a="http://schemas.openxmlformats.org/drawingml/2006/main">
            <a:off x="800100" y="48387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6B5CC"/>
                </a:solidFill>
                <a:latin typeface="Aptos"/>
                <a:ea typeface="Aptos"/>
                <a:cs typeface="Aptos"/>
              </a:defRPr>
            </a:pPr>
            <a:r>
              <a:rPr sz="1650" b="0">
                <a:solidFill>
                  <a:srgbClr val="B6B5CC"/>
                </a:solidFill>
                <a:latin typeface="Aptos"/>
                <a:ea typeface="Aptos"/>
                <a:cs typeface="Aptos"/>
              </a:rPr>
              <a:t>Check the next observation</a:t>
            </a:r>
          </a:p>
        </p:txBody>
      </p:sp>
      <p:sp>
        <p:nvSpPr>
          <p:cNvPr id="21" name="">
            <a:extLst xmlns:a="http://schemas.openxmlformats.org/drawingml/2006/main">
              <a:ext uri="{FF2B5EF4-FFF2-40B4-BE49-F238E27FC236}">
                <a16:creationId xmlns:a16="http://schemas.microsoft.com/office/drawing/2014/main" id="{92758C46-31FE-4E31-88E9-1B075F03A5FA}"/>
              </a:ext>
            </a:extLst>
          </p:cNvPr>
          <p:cNvSpPr>
            <a:spLocks xmlns:a="http://schemas.openxmlformats.org/drawingml/2006/main" noGrp="1"/>
          </p:cNvSpPr>
          <p:nvPr/>
        </p:nvSpPr>
        <p:spPr>
          <a:xfrm xmlns:a="http://schemas.openxmlformats.org/drawingml/2006/main">
            <a:off x="3971925" y="2695575"/>
            <a:ext cx="381000" cy="266700"/>
          </a:xfrm>
          <a:prstGeom xmlns:a="http://schemas.openxmlformats.org/drawingml/2006/main" prst="rightArrow">
            <a:avLst/>
          </a:prstGeom>
          <a:solidFill xmlns:a="http://schemas.openxmlformats.org/drawingml/2006/main">
            <a:srgbClr val="76E1C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16FA16E-6BF7-4A92-B185-11A182CD8432}"/>
              </a:ext>
            </a:extLst>
          </p:cNvPr>
          <p:cNvSpPr>
            <a:spLocks xmlns:a="http://schemas.openxmlformats.org/drawingml/2006/main" noGrp="1"/>
          </p:cNvSpPr>
          <p:nvPr/>
        </p:nvSpPr>
        <p:spPr>
          <a:xfrm xmlns:a="http://schemas.openxmlformats.org/drawingml/2006/main">
            <a:off x="7839075" y="2695575"/>
            <a:ext cx="381000" cy="266700"/>
          </a:xfrm>
          <a:prstGeom xmlns:a="http://schemas.openxmlformats.org/drawingml/2006/main" prst="rightArrow">
            <a:avLst/>
          </a:prstGeom>
          <a:solidFill xmlns:a="http://schemas.openxmlformats.org/drawingml/2006/main">
            <a:srgbClr val="76E1C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72DBF65-A743-4264-8AAD-DBA11F6AB894}"/>
              </a:ext>
            </a:extLst>
          </p:cNvPr>
          <p:cNvSpPr>
            <a:spLocks xmlns:a="http://schemas.openxmlformats.org/drawingml/2006/main" noGrp="1"/>
          </p:cNvSpPr>
          <p:nvPr/>
        </p:nvSpPr>
        <p:spPr>
          <a:xfrm xmlns:a="http://schemas.openxmlformats.org/drawingml/2006/main">
            <a:off x="9763125" y="3619500"/>
            <a:ext cx="266700" cy="428625"/>
          </a:xfrm>
          <a:prstGeom xmlns:a="http://schemas.openxmlformats.org/drawingml/2006/main" prst="downArrow">
            <a:avLst/>
          </a:prstGeom>
          <a:solidFill xmlns:a="http://schemas.openxmlformats.org/drawingml/2006/main">
            <a:srgbClr val="76E1C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41E4585-4B8C-4FB9-B0A2-9196A8CC2F5F}"/>
              </a:ext>
            </a:extLst>
          </p:cNvPr>
          <p:cNvSpPr>
            <a:spLocks xmlns:a="http://schemas.openxmlformats.org/drawingml/2006/main" noGrp="1"/>
          </p:cNvSpPr>
          <p:nvPr/>
        </p:nvSpPr>
        <p:spPr>
          <a:xfrm xmlns:a="http://schemas.openxmlformats.org/drawingml/2006/main">
            <a:off x="4095750" y="4619625"/>
            <a:ext cx="4000500" cy="266700"/>
          </a:xfrm>
          <a:prstGeom xmlns:a="http://schemas.openxmlformats.org/drawingml/2006/main" prst="leftArrow">
            <a:avLst/>
          </a:prstGeom>
          <a:solidFill xmlns:a="http://schemas.openxmlformats.org/drawingml/2006/main">
            <a:srgbClr val="76E1C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C6B987C-ED81-4AD5-B533-84AFBBC9DA23}"/>
              </a:ext>
            </a:extLst>
          </p:cNvPr>
          <p:cNvSpPr>
            <a:spLocks xmlns:a="http://schemas.openxmlformats.org/drawingml/2006/main" noGrp="1"/>
          </p:cNvSpPr>
          <p:nvPr/>
        </p:nvSpPr>
        <p:spPr>
          <a:xfrm xmlns:a="http://schemas.openxmlformats.org/drawingml/2006/main">
            <a:off x="2047875" y="3619500"/>
            <a:ext cx="266700" cy="428625"/>
          </a:xfrm>
          <a:prstGeom xmlns:a="http://schemas.openxmlformats.org/drawingml/2006/main" prst="upArrow">
            <a:avLst/>
          </a:prstGeom>
          <a:solidFill xmlns:a="http://schemas.openxmlformats.org/drawingml/2006/main">
            <a:srgbClr val="76E1C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6A73146-D6AC-41BB-AD5C-003BBD75A745}"/>
              </a:ext>
            </a:extLst>
          </p:cNvPr>
          <p:cNvSpPr>
            <a:spLocks xmlns:a="http://schemas.openxmlformats.org/drawingml/2006/main" noGrp="1"/>
          </p:cNvSpPr>
          <p:nvPr/>
        </p:nvSpPr>
        <p:spPr>
          <a:xfrm xmlns:a="http://schemas.openxmlformats.org/drawingml/2006/main">
            <a:off x="4200525" y="5276850"/>
            <a:ext cx="3714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76E1CB"/>
                </a:solidFill>
                <a:latin typeface="Aptos"/>
                <a:ea typeface="Aptos"/>
                <a:cs typeface="Aptos"/>
              </a:defRPr>
            </a:pPr>
            <a:r>
              <a:rPr sz="1800" b="1">
                <a:solidFill>
                  <a:srgbClr val="76E1CB"/>
                </a:solidFill>
                <a:latin typeface="Aptos"/>
                <a:ea typeface="Aptos"/>
                <a:cs typeface="Aptos"/>
              </a:rPr>
              <a:t>A participant-valued outcome</a:t>
            </a:r>
          </a:p>
          <a:p xmlns:a="http://schemas.openxmlformats.org/drawingml/2006/main">
            <a:pPr algn="ctr">
              <a:defRPr sz="1800" b="1">
                <a:solidFill>
                  <a:srgbClr val="76E1CB"/>
                </a:solidFill>
                <a:latin typeface="Aptos"/>
                <a:ea typeface="Aptos"/>
                <a:cs typeface="Aptos"/>
              </a:defRPr>
            </a:pPr>
            <a:r>
              <a:rPr sz="1800" b="1">
                <a:solidFill>
                  <a:srgbClr val="76E1CB"/>
                </a:solidFill>
                <a:latin typeface="Aptos"/>
                <a:ea typeface="Aptos"/>
                <a:cs typeface="Aptos"/>
              </a:rPr>
              <a:t>determines whether it helps</a:t>
            </a:r>
          </a:p>
        </p:txBody>
      </p:sp>
    </p:spTree>
    <p:extLst>
      <p:ext uri="{BB962C8B-B14F-4D97-AF65-F5344CB8AC3E}">
        <p14:creationId xmlns:p14="http://schemas.microsoft.com/office/powerpoint/2010/main" val="1707284880"/>
      </p:ext>
    </p:extLst>
  </p:cSld>
</p:sld>
</file>

<file path=ppt/slides/slide4.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41DCA6F-F2C8-408E-8C3A-304EA82D5FF7}"/>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POTENTIAL VALUE</a:t>
            </a:r>
          </a:p>
        </p:txBody>
      </p:sp>
      <p:sp>
        <p:nvSpPr>
          <p:cNvPr id="2" name="">
            <a:extLst xmlns:a="http://schemas.openxmlformats.org/drawingml/2006/main">
              <a:ext uri="{FF2B5EF4-FFF2-40B4-BE49-F238E27FC236}">
                <a16:creationId xmlns:a16="http://schemas.microsoft.com/office/drawing/2014/main" id="{11B3A99E-D17F-4FE3-B8D9-6BAF09033839}"/>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The potential benefits are testable hypotheses</a:t>
            </a:r>
          </a:p>
        </p:txBody>
      </p:sp>
      <p:sp>
        <p:nvSpPr>
          <p:cNvPr id="3" name="">
            <a:extLst xmlns:a="http://schemas.openxmlformats.org/drawingml/2006/main">
              <a:ext uri="{FF2B5EF4-FFF2-40B4-BE49-F238E27FC236}">
                <a16:creationId xmlns:a16="http://schemas.microsoft.com/office/drawing/2014/main" id="{9D78E832-3015-459B-AFB7-B78F1FF765E2}"/>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BA2851-79C6-4BD1-B0F0-53F66F01171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675D1305-7290-488B-9C7C-31E2A95C86B4}"/>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105BB591-8D0F-41A0-B2E3-E689B4AFAFCB}"/>
              </a:ext>
            </a:extLst>
          </p:cNvPr>
          <p:cNvSpPr>
            <a:spLocks xmlns:a="http://schemas.openxmlformats.org/drawingml/2006/main" noGrp="1"/>
          </p:cNvSpPr>
          <p:nvPr/>
        </p:nvSpPr>
        <p:spPr>
          <a:xfrm xmlns:a="http://schemas.openxmlformats.org/drawingml/2006/main">
            <a:off x="609600" y="2390775"/>
            <a:ext cx="3867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76E1CB"/>
                </a:solidFill>
                <a:latin typeface="Aptos"/>
                <a:ea typeface="Aptos"/>
                <a:cs typeface="Aptos"/>
              </a:defRPr>
            </a:pPr>
            <a:r>
              <a:rPr sz="1650" b="1">
                <a:solidFill>
                  <a:srgbClr val="76E1CB"/>
                </a:solidFill>
                <a:latin typeface="Aptos"/>
                <a:ea typeface="Aptos"/>
                <a:cs typeface="Aptos"/>
              </a:rPr>
              <a:t>Potential benefit</a:t>
            </a:r>
          </a:p>
        </p:txBody>
      </p:sp>
      <p:sp>
        <p:nvSpPr>
          <p:cNvPr id="7" name="">
            <a:extLst xmlns:a="http://schemas.openxmlformats.org/drawingml/2006/main">
              <a:ext uri="{FF2B5EF4-FFF2-40B4-BE49-F238E27FC236}">
                <a16:creationId xmlns:a16="http://schemas.microsoft.com/office/drawing/2014/main" id="{99A0E4BE-09F6-4066-ACED-B6A80EAF5B3A}"/>
              </a:ext>
            </a:extLst>
          </p:cNvPr>
          <p:cNvSpPr>
            <a:spLocks xmlns:a="http://schemas.openxmlformats.org/drawingml/2006/main" noGrp="1"/>
          </p:cNvSpPr>
          <p:nvPr/>
        </p:nvSpPr>
        <p:spPr>
          <a:xfrm xmlns:a="http://schemas.openxmlformats.org/drawingml/2006/main">
            <a:off x="4648200" y="2390775"/>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76E1CB"/>
                </a:solidFill>
                <a:latin typeface="Aptos"/>
                <a:ea typeface="Aptos"/>
                <a:cs typeface="Aptos"/>
              </a:defRPr>
            </a:pPr>
            <a:r>
              <a:rPr sz="1650" b="1">
                <a:solidFill>
                  <a:srgbClr val="76E1CB"/>
                </a:solidFill>
                <a:latin typeface="Aptos"/>
                <a:ea typeface="Aptos"/>
                <a:cs typeface="Aptos"/>
              </a:rPr>
              <a:t>What a study would need to show</a:t>
            </a:r>
          </a:p>
        </p:txBody>
      </p:sp>
      <p:sp>
        <p:nvSpPr>
          <p:cNvPr id="8" name="">
            <a:extLst xmlns:a="http://schemas.openxmlformats.org/drawingml/2006/main">
              <a:ext uri="{FF2B5EF4-FFF2-40B4-BE49-F238E27FC236}">
                <a16:creationId xmlns:a16="http://schemas.microsoft.com/office/drawing/2014/main" id="{EC0AB31A-DE67-49AF-9552-EF735D0BE7BE}"/>
              </a:ext>
            </a:extLst>
          </p:cNvPr>
          <p:cNvSpPr>
            <a:spLocks xmlns:a="http://schemas.openxmlformats.org/drawingml/2006/main" noGrp="1"/>
          </p:cNvSpPr>
          <p:nvPr/>
        </p:nvSpPr>
        <p:spPr>
          <a:xfrm xmlns:a="http://schemas.openxmlformats.org/drawingml/2006/main">
            <a:off x="609600" y="2819400"/>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2BFA89-94B7-4B0D-8BB3-20AFE6453775}"/>
              </a:ext>
            </a:extLst>
          </p:cNvPr>
          <p:cNvSpPr>
            <a:spLocks xmlns:a="http://schemas.openxmlformats.org/drawingml/2006/main" noGrp="1"/>
          </p:cNvSpPr>
          <p:nvPr/>
        </p:nvSpPr>
        <p:spPr>
          <a:xfrm xmlns:a="http://schemas.openxmlformats.org/drawingml/2006/main">
            <a:off x="609600" y="2981325"/>
            <a:ext cx="3867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4F2FF"/>
                </a:solidFill>
                <a:latin typeface="Aptos"/>
                <a:ea typeface="Aptos"/>
                <a:cs typeface="Aptos"/>
              </a:defRPr>
            </a:pPr>
            <a:r>
              <a:rPr sz="1725" b="1">
                <a:solidFill>
                  <a:srgbClr val="F4F2FF"/>
                </a:solidFill>
                <a:latin typeface="Aptos"/>
                <a:ea typeface="Aptos"/>
                <a:cs typeface="Aptos"/>
              </a:rPr>
              <a:t>More relevant support</a:t>
            </a:r>
          </a:p>
        </p:txBody>
      </p:sp>
      <p:sp>
        <p:nvSpPr>
          <p:cNvPr id="10" name="">
            <a:extLst xmlns:a="http://schemas.openxmlformats.org/drawingml/2006/main">
              <a:ext uri="{FF2B5EF4-FFF2-40B4-BE49-F238E27FC236}">
                <a16:creationId xmlns:a16="http://schemas.microsoft.com/office/drawing/2014/main" id="{C6D2E040-0303-49D8-A75E-B39D63094A2A}"/>
              </a:ext>
            </a:extLst>
          </p:cNvPr>
          <p:cNvSpPr>
            <a:spLocks xmlns:a="http://schemas.openxmlformats.org/drawingml/2006/main" noGrp="1"/>
          </p:cNvSpPr>
          <p:nvPr/>
        </p:nvSpPr>
        <p:spPr>
          <a:xfrm xmlns:a="http://schemas.openxmlformats.org/drawingml/2006/main">
            <a:off x="4648200" y="2981325"/>
            <a:ext cx="6762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4F2FF"/>
                </a:solidFill>
                <a:latin typeface="Aptos"/>
                <a:ea typeface="Aptos"/>
                <a:cs typeface="Aptos"/>
              </a:defRPr>
            </a:pPr>
            <a:r>
              <a:rPr sz="1725" b="0">
                <a:solidFill>
                  <a:srgbClr val="F4F2FF"/>
                </a:solidFill>
                <a:latin typeface="Aptos"/>
                <a:ea typeface="Aptos"/>
                <a:cs typeface="Aptos"/>
              </a:rPr>
              <a:t>Benefit on an agreed task across changing contexts</a:t>
            </a:r>
          </a:p>
        </p:txBody>
      </p:sp>
      <p:sp>
        <p:nvSpPr>
          <p:cNvPr id="11" name="">
            <a:extLst xmlns:a="http://schemas.openxmlformats.org/drawingml/2006/main">
              <a:ext uri="{FF2B5EF4-FFF2-40B4-BE49-F238E27FC236}">
                <a16:creationId xmlns:a16="http://schemas.microsoft.com/office/drawing/2014/main" id="{2AB1404E-5C53-4199-A1C0-EAC4D525D2BE}"/>
              </a:ext>
            </a:extLst>
          </p:cNvPr>
          <p:cNvSpPr>
            <a:spLocks xmlns:a="http://schemas.openxmlformats.org/drawingml/2006/main" noGrp="1"/>
          </p:cNvSpPr>
          <p:nvPr/>
        </p:nvSpPr>
        <p:spPr>
          <a:xfrm xmlns:a="http://schemas.openxmlformats.org/drawingml/2006/main">
            <a:off x="609600" y="3905250"/>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B06C4A-6081-41DF-B88C-4328BD6F8794}"/>
              </a:ext>
            </a:extLst>
          </p:cNvPr>
          <p:cNvSpPr>
            <a:spLocks xmlns:a="http://schemas.openxmlformats.org/drawingml/2006/main" noGrp="1"/>
          </p:cNvSpPr>
          <p:nvPr/>
        </p:nvSpPr>
        <p:spPr>
          <a:xfrm xmlns:a="http://schemas.openxmlformats.org/drawingml/2006/main">
            <a:off x="609600" y="4019550"/>
            <a:ext cx="3867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4F2FF"/>
                </a:solidFill>
                <a:latin typeface="Aptos"/>
                <a:ea typeface="Aptos"/>
                <a:cs typeface="Aptos"/>
              </a:defRPr>
            </a:pPr>
            <a:r>
              <a:rPr sz="1725" b="1">
                <a:solidFill>
                  <a:srgbClr val="F4F2FF"/>
                </a:solidFill>
                <a:latin typeface="Aptos"/>
                <a:ea typeface="Aptos"/>
                <a:cs typeface="Aptos"/>
              </a:rPr>
              <a:t>Less unnecessary input</a:t>
            </a:r>
          </a:p>
        </p:txBody>
      </p:sp>
      <p:sp>
        <p:nvSpPr>
          <p:cNvPr id="13" name="">
            <a:extLst xmlns:a="http://schemas.openxmlformats.org/drawingml/2006/main">
              <a:ext uri="{FF2B5EF4-FFF2-40B4-BE49-F238E27FC236}">
                <a16:creationId xmlns:a16="http://schemas.microsoft.com/office/drawing/2014/main" id="{3684D234-7D13-4C4C-B662-A520EF7BDF98}"/>
              </a:ext>
            </a:extLst>
          </p:cNvPr>
          <p:cNvSpPr>
            <a:spLocks xmlns:a="http://schemas.openxmlformats.org/drawingml/2006/main" noGrp="1"/>
          </p:cNvSpPr>
          <p:nvPr/>
        </p:nvSpPr>
        <p:spPr>
          <a:xfrm xmlns:a="http://schemas.openxmlformats.org/drawingml/2006/main">
            <a:off x="4648200" y="4019550"/>
            <a:ext cx="6762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4F2FF"/>
                </a:solidFill>
                <a:latin typeface="Aptos"/>
                <a:ea typeface="Aptos"/>
                <a:cs typeface="Aptos"/>
              </a:defRPr>
            </a:pPr>
            <a:r>
              <a:rPr sz="1725" b="0">
                <a:solidFill>
                  <a:srgbClr val="F4F2FF"/>
                </a:solidFill>
                <a:latin typeface="Aptos"/>
                <a:ea typeface="Aptos"/>
                <a:cs typeface="Aptos"/>
              </a:rPr>
              <a:t>Equal or better outcomes with an acceptable input burden</a:t>
            </a:r>
          </a:p>
        </p:txBody>
      </p:sp>
      <p:sp>
        <p:nvSpPr>
          <p:cNvPr id="14" name="">
            <a:extLst xmlns:a="http://schemas.openxmlformats.org/drawingml/2006/main">
              <a:ext uri="{FF2B5EF4-FFF2-40B4-BE49-F238E27FC236}">
                <a16:creationId xmlns:a16="http://schemas.microsoft.com/office/drawing/2014/main" id="{14EBB29D-804F-4EEE-81F0-DAB5EA2B9707}"/>
              </a:ext>
            </a:extLst>
          </p:cNvPr>
          <p:cNvSpPr>
            <a:spLocks xmlns:a="http://schemas.openxmlformats.org/drawingml/2006/main" noGrp="1"/>
          </p:cNvSpPr>
          <p:nvPr/>
        </p:nvSpPr>
        <p:spPr>
          <a:xfrm xmlns:a="http://schemas.openxmlformats.org/drawingml/2006/main">
            <a:off x="609600" y="494347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5B73084-DC45-4880-82BA-E55658BBB38B}"/>
              </a:ext>
            </a:extLst>
          </p:cNvPr>
          <p:cNvSpPr>
            <a:spLocks xmlns:a="http://schemas.openxmlformats.org/drawingml/2006/main" noGrp="1"/>
          </p:cNvSpPr>
          <p:nvPr/>
        </p:nvSpPr>
        <p:spPr>
          <a:xfrm xmlns:a="http://schemas.openxmlformats.org/drawingml/2006/main">
            <a:off x="609600" y="5057775"/>
            <a:ext cx="3867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4F2FF"/>
                </a:solidFill>
                <a:latin typeface="Aptos"/>
                <a:ea typeface="Aptos"/>
                <a:cs typeface="Aptos"/>
              </a:defRPr>
            </a:pPr>
            <a:r>
              <a:rPr sz="1725" b="1">
                <a:solidFill>
                  <a:srgbClr val="F4F2FF"/>
                </a:solidFill>
                <a:latin typeface="Aptos"/>
                <a:ea typeface="Aptos"/>
                <a:cs typeface="Aptos"/>
              </a:rPr>
              <a:t>Useful learning</a:t>
            </a:r>
          </a:p>
        </p:txBody>
      </p:sp>
      <p:sp>
        <p:nvSpPr>
          <p:cNvPr id="16" name="">
            <a:extLst xmlns:a="http://schemas.openxmlformats.org/drawingml/2006/main">
              <a:ext uri="{FF2B5EF4-FFF2-40B4-BE49-F238E27FC236}">
                <a16:creationId xmlns:a16="http://schemas.microsoft.com/office/drawing/2014/main" id="{86E657DC-E375-426E-B8B1-1DCFEDB050DC}"/>
              </a:ext>
            </a:extLst>
          </p:cNvPr>
          <p:cNvSpPr>
            <a:spLocks xmlns:a="http://schemas.openxmlformats.org/drawingml/2006/main" noGrp="1"/>
          </p:cNvSpPr>
          <p:nvPr/>
        </p:nvSpPr>
        <p:spPr>
          <a:xfrm xmlns:a="http://schemas.openxmlformats.org/drawingml/2006/main">
            <a:off x="4648200" y="5057775"/>
            <a:ext cx="6762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4F2FF"/>
                </a:solidFill>
                <a:latin typeface="Aptos"/>
                <a:ea typeface="Aptos"/>
                <a:cs typeface="Aptos"/>
              </a:defRPr>
            </a:pPr>
            <a:r>
              <a:rPr sz="1725" b="0">
                <a:solidFill>
                  <a:srgbClr val="F4F2FF"/>
                </a:solidFill>
                <a:latin typeface="Aptos"/>
                <a:ea typeface="Aptos"/>
                <a:cs typeface="Aptos"/>
              </a:rPr>
              <a:t>Task improvements that persist beyond immediate feedback</a:t>
            </a:r>
          </a:p>
        </p:txBody>
      </p:sp>
      <p:sp>
        <p:nvSpPr>
          <p:cNvPr id="17" name="">
            <a:extLst xmlns:a="http://schemas.openxmlformats.org/drawingml/2006/main">
              <a:ext uri="{FF2B5EF4-FFF2-40B4-BE49-F238E27FC236}">
                <a16:creationId xmlns:a16="http://schemas.microsoft.com/office/drawing/2014/main" id="{6197445B-B686-4DBD-8054-A2CE3CE29C23}"/>
              </a:ext>
            </a:extLst>
          </p:cNvPr>
          <p:cNvSpPr>
            <a:spLocks xmlns:a="http://schemas.openxmlformats.org/drawingml/2006/main" noGrp="1"/>
          </p:cNvSpPr>
          <p:nvPr/>
        </p:nvSpPr>
        <p:spPr>
          <a:xfrm xmlns:a="http://schemas.openxmlformats.org/drawingml/2006/main">
            <a:off x="609600" y="5734050"/>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None of these benefits has been established for this proposed autism approach.</a:t>
            </a:r>
          </a:p>
        </p:txBody>
      </p:sp>
    </p:spTree>
    <p:extLst>
      <p:ext uri="{BB962C8B-B14F-4D97-AF65-F5344CB8AC3E}">
        <p14:creationId xmlns:p14="http://schemas.microsoft.com/office/powerpoint/2010/main" val="1905571738"/>
      </p:ext>
    </p:extLst>
  </p:cSld>
</p:sld>
</file>

<file path=ppt/slides/slide5.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03641B-B1F4-41A0-82CB-69A2E0982D7F}"/>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WHY THE TECHNOLOGY MATTERS</a:t>
            </a:r>
          </a:p>
        </p:txBody>
      </p:sp>
      <p:sp>
        <p:nvSpPr>
          <p:cNvPr id="2" name="">
            <a:extLst xmlns:a="http://schemas.openxmlformats.org/drawingml/2006/main">
              <a:ext uri="{FF2B5EF4-FFF2-40B4-BE49-F238E27FC236}">
                <a16:creationId xmlns:a16="http://schemas.microsoft.com/office/drawing/2014/main" id="{27F54B51-AB43-4874-8A12-F1AE7A485266}"/>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Brain interfaces provide engineering precedents</a:t>
            </a:r>
          </a:p>
        </p:txBody>
      </p:sp>
      <p:sp>
        <p:nvSpPr>
          <p:cNvPr id="3" name="">
            <a:extLst xmlns:a="http://schemas.openxmlformats.org/drawingml/2006/main">
              <a:ext uri="{FF2B5EF4-FFF2-40B4-BE49-F238E27FC236}">
                <a16:creationId xmlns:a16="http://schemas.microsoft.com/office/drawing/2014/main" id="{5A872814-1156-4B22-8851-CC68AFB3A65C}"/>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FE040D-0512-4B3C-9D76-C0ABC21F35B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Flesher et al., 2021 · Oehrn et al., 2024</a:t>
            </a:r>
          </a:p>
        </p:txBody>
      </p:sp>
      <p:sp>
        <p:nvSpPr>
          <p:cNvPr id="5" name="">
            <a:extLst xmlns:a="http://schemas.openxmlformats.org/drawingml/2006/main">
              <a:ext uri="{FF2B5EF4-FFF2-40B4-BE49-F238E27FC236}">
                <a16:creationId xmlns:a16="http://schemas.microsoft.com/office/drawing/2014/main" id="{5B23BACE-1BF8-468F-A994-8DB7E294117D}"/>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387DDEA7-4711-4573-AFA4-6A8144651AF8}"/>
              </a:ext>
            </a:extLst>
          </p:cNvPr>
          <p:cNvSpPr>
            <a:spLocks xmlns:a="http://schemas.openxmlformats.org/drawingml/2006/main" noGrp="1"/>
          </p:cNvSpPr>
          <p:nvPr/>
        </p:nvSpPr>
        <p:spPr>
          <a:xfrm xmlns:a="http://schemas.openxmlformats.org/drawingml/2006/main">
            <a:off x="609600" y="20669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3BCC0D-038A-4E1C-AF3E-9E501B3890BC}"/>
              </a:ext>
            </a:extLst>
          </p:cNvPr>
          <p:cNvSpPr>
            <a:spLocks xmlns:a="http://schemas.openxmlformats.org/drawingml/2006/main" noGrp="1"/>
          </p:cNvSpPr>
          <p:nvPr/>
        </p:nvSpPr>
        <p:spPr>
          <a:xfrm xmlns:a="http://schemas.openxmlformats.org/drawingml/2006/main">
            <a:off x="609600" y="22098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Return information</a:t>
            </a:r>
          </a:p>
        </p:txBody>
      </p:sp>
      <p:sp>
        <p:nvSpPr>
          <p:cNvPr id="8" name="">
            <a:extLst xmlns:a="http://schemas.openxmlformats.org/drawingml/2006/main">
              <a:ext uri="{FF2B5EF4-FFF2-40B4-BE49-F238E27FC236}">
                <a16:creationId xmlns:a16="http://schemas.microsoft.com/office/drawing/2014/main" id="{3D8B9340-8B23-4750-840E-CF1CF80ADFE2}"/>
              </a:ext>
            </a:extLst>
          </p:cNvPr>
          <p:cNvSpPr>
            <a:spLocks xmlns:a="http://schemas.openxmlformats.org/drawingml/2006/main" noGrp="1"/>
          </p:cNvSpPr>
          <p:nvPr/>
        </p:nvSpPr>
        <p:spPr>
          <a:xfrm xmlns:a="http://schemas.openxmlformats.org/drawingml/2006/main">
            <a:off x="3848100" y="220980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Tactile feedback has improved robotic-arm control in BCI research.</a:t>
            </a:r>
          </a:p>
        </p:txBody>
      </p:sp>
      <p:sp>
        <p:nvSpPr>
          <p:cNvPr id="9" name="">
            <a:extLst xmlns:a="http://schemas.openxmlformats.org/drawingml/2006/main">
              <a:ext uri="{FF2B5EF4-FFF2-40B4-BE49-F238E27FC236}">
                <a16:creationId xmlns:a16="http://schemas.microsoft.com/office/drawing/2014/main" id="{3AF81A8A-67A2-419B-A76D-F192B5EC9150}"/>
              </a:ext>
            </a:extLst>
          </p:cNvPr>
          <p:cNvSpPr>
            <a:spLocks xmlns:a="http://schemas.openxmlformats.org/drawingml/2006/main" noGrp="1"/>
          </p:cNvSpPr>
          <p:nvPr/>
        </p:nvSpPr>
        <p:spPr>
          <a:xfrm xmlns:a="http://schemas.openxmlformats.org/drawingml/2006/main">
            <a:off x="609600" y="330517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C5B678-9DD9-4A2F-88B4-F92448D49C2B}"/>
              </a:ext>
            </a:extLst>
          </p:cNvPr>
          <p:cNvSpPr>
            <a:spLocks xmlns:a="http://schemas.openxmlformats.org/drawingml/2006/main" noGrp="1"/>
          </p:cNvSpPr>
          <p:nvPr/>
        </p:nvSpPr>
        <p:spPr>
          <a:xfrm xmlns:a="http://schemas.openxmlformats.org/drawingml/2006/main">
            <a:off x="609600" y="344805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Adapt to a state</a:t>
            </a:r>
          </a:p>
        </p:txBody>
      </p:sp>
      <p:sp>
        <p:nvSpPr>
          <p:cNvPr id="11" name="">
            <a:extLst xmlns:a="http://schemas.openxmlformats.org/drawingml/2006/main">
              <a:ext uri="{FF2B5EF4-FFF2-40B4-BE49-F238E27FC236}">
                <a16:creationId xmlns:a16="http://schemas.microsoft.com/office/drawing/2014/main" id="{7C23C0B6-7728-4D1A-B98C-1838903A871C}"/>
              </a:ext>
            </a:extLst>
          </p:cNvPr>
          <p:cNvSpPr>
            <a:spLocks xmlns:a="http://schemas.openxmlformats.org/drawingml/2006/main" noGrp="1"/>
          </p:cNvSpPr>
          <p:nvPr/>
        </p:nvSpPr>
        <p:spPr>
          <a:xfrm xmlns:a="http://schemas.openxmlformats.org/drawingml/2006/main">
            <a:off x="3848100" y="344805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Personalized stimulation has shown feasibility in Parkinson’s disease.</a:t>
            </a:r>
          </a:p>
        </p:txBody>
      </p:sp>
      <p:sp>
        <p:nvSpPr>
          <p:cNvPr id="12" name="">
            <a:extLst xmlns:a="http://schemas.openxmlformats.org/drawingml/2006/main">
              <a:ext uri="{FF2B5EF4-FFF2-40B4-BE49-F238E27FC236}">
                <a16:creationId xmlns:a16="http://schemas.microsoft.com/office/drawing/2014/main" id="{D5C77CD4-76A7-4470-882E-85F23D4178AF}"/>
              </a:ext>
            </a:extLst>
          </p:cNvPr>
          <p:cNvSpPr>
            <a:spLocks xmlns:a="http://schemas.openxmlformats.org/drawingml/2006/main" noGrp="1"/>
          </p:cNvSpPr>
          <p:nvPr/>
        </p:nvSpPr>
        <p:spPr>
          <a:xfrm xmlns:a="http://schemas.openxmlformats.org/drawingml/2006/main">
            <a:off x="609600" y="45434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63A97A-7531-4EC8-ACEC-B36F9B4251E7}"/>
              </a:ext>
            </a:extLst>
          </p:cNvPr>
          <p:cNvSpPr>
            <a:spLocks xmlns:a="http://schemas.openxmlformats.org/drawingml/2006/main" noGrp="1"/>
          </p:cNvSpPr>
          <p:nvPr/>
        </p:nvSpPr>
        <p:spPr>
          <a:xfrm xmlns:a="http://schemas.openxmlformats.org/drawingml/2006/main">
            <a:off x="609600" y="46863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Test a new indication</a:t>
            </a:r>
          </a:p>
        </p:txBody>
      </p:sp>
      <p:sp>
        <p:nvSpPr>
          <p:cNvPr id="14" name="">
            <a:extLst xmlns:a="http://schemas.openxmlformats.org/drawingml/2006/main">
              <a:ext uri="{FF2B5EF4-FFF2-40B4-BE49-F238E27FC236}">
                <a16:creationId xmlns:a16="http://schemas.microsoft.com/office/drawing/2014/main" id="{BA08C1AC-2C6C-4477-899E-B15D5E11BD1B}"/>
              </a:ext>
            </a:extLst>
          </p:cNvPr>
          <p:cNvSpPr>
            <a:spLocks xmlns:a="http://schemas.openxmlformats.org/drawingml/2006/main" noGrp="1"/>
          </p:cNvSpPr>
          <p:nvPr/>
        </p:nvSpPr>
        <p:spPr>
          <a:xfrm xmlns:a="http://schemas.openxmlformats.org/drawingml/2006/main">
            <a:off x="3848100" y="468630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Autism applications require their own mechanism and outcome evidence.</a:t>
            </a:r>
          </a:p>
        </p:txBody>
      </p:sp>
    </p:spTree>
    <p:extLst>
      <p:ext uri="{BB962C8B-B14F-4D97-AF65-F5344CB8AC3E}">
        <p14:creationId xmlns:p14="http://schemas.microsoft.com/office/powerpoint/2010/main" val="1352178056"/>
      </p:ext>
    </p:extLst>
  </p:cSld>
</p:sld>
</file>

<file path=ppt/slides/slide6.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D1D8E3-A16D-4959-B1CC-876B6BE8DB35}"/>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INDUSTRY CONTEXT</a:t>
            </a:r>
          </a:p>
        </p:txBody>
      </p:sp>
      <p:sp>
        <p:nvSpPr>
          <p:cNvPr id="2" name="">
            <a:extLst xmlns:a="http://schemas.openxmlformats.org/drawingml/2006/main">
              <a:ext uri="{FF2B5EF4-FFF2-40B4-BE49-F238E27FC236}">
                <a16:creationId xmlns:a16="http://schemas.microsoft.com/office/drawing/2014/main" id="{BA9EA044-C81C-4B98-9CCA-6167DD224361}"/>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Neuralink illustrates a wider research frontier</a:t>
            </a:r>
          </a:p>
        </p:txBody>
      </p:sp>
      <p:sp>
        <p:nvSpPr>
          <p:cNvPr id="3" name="">
            <a:extLst xmlns:a="http://schemas.openxmlformats.org/drawingml/2006/main">
              <a:ext uri="{FF2B5EF4-FFF2-40B4-BE49-F238E27FC236}">
                <a16:creationId xmlns:a16="http://schemas.microsoft.com/office/drawing/2014/main" id="{8C080AC4-59EC-4D2E-9579-5AB787D0EB71}"/>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5C1E7B-0E61-4D09-8CB5-A7D3FA6E6789}"/>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Neuralink official trial and program pages · Company sources, checked September 2026</a:t>
            </a:r>
          </a:p>
        </p:txBody>
      </p:sp>
      <p:sp>
        <p:nvSpPr>
          <p:cNvPr id="5" name="">
            <a:extLst xmlns:a="http://schemas.openxmlformats.org/drawingml/2006/main">
              <a:ext uri="{FF2B5EF4-FFF2-40B4-BE49-F238E27FC236}">
                <a16:creationId xmlns:a16="http://schemas.microsoft.com/office/drawing/2014/main" id="{38225351-83CA-435B-9FDE-E1F0F57553C8}"/>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049569D2-D8D2-41F1-963E-3126F83AE006}"/>
              </a:ext>
            </a:extLst>
          </p:cNvPr>
          <p:cNvSpPr>
            <a:spLocks xmlns:a="http://schemas.openxmlformats.org/drawingml/2006/main" noGrp="1"/>
          </p:cNvSpPr>
          <p:nvPr/>
        </p:nvSpPr>
        <p:spPr>
          <a:xfrm xmlns:a="http://schemas.openxmlformats.org/drawingml/2006/main">
            <a:off x="60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3EE3F850-4E8A-4033-95DD-8D5FAACD7EB9}"/>
              </a:ext>
            </a:extLst>
          </p:cNvPr>
          <p:cNvSpPr>
            <a:spLocks xmlns:a="http://schemas.openxmlformats.org/drawingml/2006/main" noGrp="1"/>
          </p:cNvSpPr>
          <p:nvPr/>
        </p:nvSpPr>
        <p:spPr>
          <a:xfrm xmlns:a="http://schemas.openxmlformats.org/drawingml/2006/main">
            <a:off x="60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55AF9B3-DF8D-4287-9F94-9BBF4C74E3F6}"/>
              </a:ext>
            </a:extLst>
          </p:cNvPr>
          <p:cNvSpPr>
            <a:spLocks xmlns:a="http://schemas.openxmlformats.org/drawingml/2006/main" noGrp="1"/>
          </p:cNvSpPr>
          <p:nvPr/>
        </p:nvSpPr>
        <p:spPr>
          <a:xfrm xmlns:a="http://schemas.openxmlformats.org/drawingml/2006/main">
            <a:off x="60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Digital access</a:t>
            </a:r>
          </a:p>
        </p:txBody>
      </p:sp>
      <p:sp>
        <p:nvSpPr>
          <p:cNvPr id="9" name="">
            <a:extLst xmlns:a="http://schemas.openxmlformats.org/drawingml/2006/main">
              <a:ext uri="{FF2B5EF4-FFF2-40B4-BE49-F238E27FC236}">
                <a16:creationId xmlns:a16="http://schemas.microsoft.com/office/drawing/2014/main" id="{5746F431-159F-4217-8FF2-F0F835CDFE9C}"/>
              </a:ext>
            </a:extLst>
          </p:cNvPr>
          <p:cNvSpPr>
            <a:spLocks xmlns:a="http://schemas.openxmlformats.org/drawingml/2006/main" noGrp="1"/>
          </p:cNvSpPr>
          <p:nvPr/>
        </p:nvSpPr>
        <p:spPr>
          <a:xfrm xmlns:a="http://schemas.openxmlformats.org/drawingml/2006/main">
            <a:off x="60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Investigational neural interfaces for controlling computers.</a:t>
            </a:r>
          </a:p>
        </p:txBody>
      </p:sp>
      <p:sp>
        <p:nvSpPr>
          <p:cNvPr id="10" name="">
            <a:extLst xmlns:a="http://schemas.openxmlformats.org/drawingml/2006/main">
              <a:ext uri="{FF2B5EF4-FFF2-40B4-BE49-F238E27FC236}">
                <a16:creationId xmlns:a16="http://schemas.microsoft.com/office/drawing/2014/main" id="{102AD611-3B8C-4EC5-BBBE-4D1D69FA3EB8}"/>
              </a:ext>
            </a:extLst>
          </p:cNvPr>
          <p:cNvSpPr>
            <a:spLocks xmlns:a="http://schemas.openxmlformats.org/drawingml/2006/main" noGrp="1"/>
          </p:cNvSpPr>
          <p:nvPr/>
        </p:nvSpPr>
        <p:spPr>
          <a:xfrm xmlns:a="http://schemas.openxmlformats.org/drawingml/2006/main">
            <a:off x="441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DB7F3B25-8794-435A-A38A-DB2A106CEDCF}"/>
              </a:ext>
            </a:extLst>
          </p:cNvPr>
          <p:cNvSpPr>
            <a:spLocks xmlns:a="http://schemas.openxmlformats.org/drawingml/2006/main" noGrp="1"/>
          </p:cNvSpPr>
          <p:nvPr/>
        </p:nvSpPr>
        <p:spPr>
          <a:xfrm xmlns:a="http://schemas.openxmlformats.org/drawingml/2006/main">
            <a:off x="441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E793CF-2B5C-4508-802A-5E81C746F42F}"/>
              </a:ext>
            </a:extLst>
          </p:cNvPr>
          <p:cNvSpPr>
            <a:spLocks xmlns:a="http://schemas.openxmlformats.org/drawingml/2006/main" noGrp="1"/>
          </p:cNvSpPr>
          <p:nvPr/>
        </p:nvSpPr>
        <p:spPr>
          <a:xfrm xmlns:a="http://schemas.openxmlformats.org/drawingml/2006/main">
            <a:off x="441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Assistive devices</a:t>
            </a:r>
          </a:p>
        </p:txBody>
      </p:sp>
      <p:sp>
        <p:nvSpPr>
          <p:cNvPr id="13" name="">
            <a:extLst xmlns:a="http://schemas.openxmlformats.org/drawingml/2006/main">
              <a:ext uri="{FF2B5EF4-FFF2-40B4-BE49-F238E27FC236}">
                <a16:creationId xmlns:a16="http://schemas.microsoft.com/office/drawing/2014/main" id="{7A485E90-7F5D-471B-B88A-7A752C4FDED3}"/>
              </a:ext>
            </a:extLst>
          </p:cNvPr>
          <p:cNvSpPr>
            <a:spLocks xmlns:a="http://schemas.openxmlformats.org/drawingml/2006/main" noGrp="1"/>
          </p:cNvSpPr>
          <p:nvPr/>
        </p:nvSpPr>
        <p:spPr>
          <a:xfrm xmlns:a="http://schemas.openxmlformats.org/drawingml/2006/main">
            <a:off x="441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CONVOY explores control of an external assistive robotic device.</a:t>
            </a:r>
          </a:p>
        </p:txBody>
      </p:sp>
      <p:sp>
        <p:nvSpPr>
          <p:cNvPr id="14" name="">
            <a:extLst xmlns:a="http://schemas.openxmlformats.org/drawingml/2006/main">
              <a:ext uri="{FF2B5EF4-FFF2-40B4-BE49-F238E27FC236}">
                <a16:creationId xmlns:a16="http://schemas.microsoft.com/office/drawing/2014/main" id="{43D6C3BA-B638-4549-A447-ACFFC34F5BB3}"/>
              </a:ext>
            </a:extLst>
          </p:cNvPr>
          <p:cNvSpPr>
            <a:spLocks xmlns:a="http://schemas.openxmlformats.org/drawingml/2006/main" noGrp="1"/>
          </p:cNvSpPr>
          <p:nvPr/>
        </p:nvSpPr>
        <p:spPr>
          <a:xfrm xmlns:a="http://schemas.openxmlformats.org/drawingml/2006/main">
            <a:off x="822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CB304903-D91C-4C69-9C84-E85A6FC67F19}"/>
              </a:ext>
            </a:extLst>
          </p:cNvPr>
          <p:cNvSpPr>
            <a:spLocks xmlns:a="http://schemas.openxmlformats.org/drawingml/2006/main" noGrp="1"/>
          </p:cNvSpPr>
          <p:nvPr/>
        </p:nvSpPr>
        <p:spPr>
          <a:xfrm xmlns:a="http://schemas.openxmlformats.org/drawingml/2006/main">
            <a:off x="822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002949F-A889-4E20-98E7-ED664E321834}"/>
              </a:ext>
            </a:extLst>
          </p:cNvPr>
          <p:cNvSpPr>
            <a:spLocks xmlns:a="http://schemas.openxmlformats.org/drawingml/2006/main" noGrp="1"/>
          </p:cNvSpPr>
          <p:nvPr/>
        </p:nvSpPr>
        <p:spPr>
          <a:xfrm xmlns:a="http://schemas.openxmlformats.org/drawingml/2006/main">
            <a:off x="822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Communication</a:t>
            </a:r>
          </a:p>
        </p:txBody>
      </p:sp>
      <p:sp>
        <p:nvSpPr>
          <p:cNvPr id="17" name="">
            <a:extLst xmlns:a="http://schemas.openxmlformats.org/drawingml/2006/main">
              <a:ext uri="{FF2B5EF4-FFF2-40B4-BE49-F238E27FC236}">
                <a16:creationId xmlns:a16="http://schemas.microsoft.com/office/drawing/2014/main" id="{98CA81B8-8D3A-46AF-8504-A0256EC7290C}"/>
              </a:ext>
            </a:extLst>
          </p:cNvPr>
          <p:cNvSpPr>
            <a:spLocks xmlns:a="http://schemas.openxmlformats.org/drawingml/2006/main" noGrp="1"/>
          </p:cNvSpPr>
          <p:nvPr/>
        </p:nvSpPr>
        <p:spPr>
          <a:xfrm xmlns:a="http://schemas.openxmlformats.org/drawingml/2006/main">
            <a:off x="822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Publicly described speech-restoration research programs.</a:t>
            </a:r>
          </a:p>
        </p:txBody>
      </p:sp>
      <p:sp>
        <p:nvSpPr>
          <p:cNvPr id="18" name="">
            <a:extLst xmlns:a="http://schemas.openxmlformats.org/drawingml/2006/main">
              <a:ext uri="{FF2B5EF4-FFF2-40B4-BE49-F238E27FC236}">
                <a16:creationId xmlns:a16="http://schemas.microsoft.com/office/drawing/2014/main" id="{415475D0-470B-4979-BF55-60BF3FD330DC}"/>
              </a:ext>
            </a:extLst>
          </p:cNvPr>
          <p:cNvSpPr>
            <a:spLocks xmlns:a="http://schemas.openxmlformats.org/drawingml/2006/main" noGrp="1"/>
          </p:cNvSpPr>
          <p:nvPr/>
        </p:nvSpPr>
        <p:spPr>
          <a:xfrm xmlns:a="http://schemas.openxmlformats.org/drawingml/2006/main">
            <a:off x="609600" y="584835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6B5CC"/>
                </a:solidFill>
                <a:latin typeface="Aptos"/>
                <a:ea typeface="Aptos"/>
                <a:cs typeface="Aptos"/>
              </a:defRPr>
            </a:pPr>
            <a:r>
              <a:rPr sz="1800" b="0">
                <a:solidFill>
                  <a:srgbClr val="B6B5CC"/>
                </a:solidFill>
                <a:latin typeface="Aptos"/>
                <a:ea typeface="Aptos"/>
                <a:cs typeface="Aptos"/>
              </a:rPr>
              <a:t>These programs do not establish an entropy-targeted autism therapy.</a:t>
            </a:r>
          </a:p>
        </p:txBody>
      </p:sp>
    </p:spTree>
    <p:extLst>
      <p:ext uri="{BB962C8B-B14F-4D97-AF65-F5344CB8AC3E}">
        <p14:creationId xmlns:p14="http://schemas.microsoft.com/office/powerpoint/2010/main" val="1145152202"/>
      </p:ext>
    </p:extLst>
  </p:cSld>
</p:sld>
</file>

<file path=ppt/slides/slide7.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287C11-B03F-4D22-9305-FF224A9ADD93}"/>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CLINICAL CONTEXT</a:t>
            </a:r>
          </a:p>
        </p:txBody>
      </p:sp>
      <p:sp>
        <p:nvSpPr>
          <p:cNvPr id="2" name="">
            <a:extLst xmlns:a="http://schemas.openxmlformats.org/drawingml/2006/main">
              <a:ext uri="{FF2B5EF4-FFF2-40B4-BE49-F238E27FC236}">
                <a16:creationId xmlns:a16="http://schemas.microsoft.com/office/drawing/2014/main" id="{1261FE27-C203-44F7-8010-0F60CAF5CB67}"/>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Autism stimulation evidence remains specific</a:t>
            </a:r>
          </a:p>
        </p:txBody>
      </p:sp>
      <p:sp>
        <p:nvSpPr>
          <p:cNvPr id="3" name="">
            <a:extLst xmlns:a="http://schemas.openxmlformats.org/drawingml/2006/main">
              <a:ext uri="{FF2B5EF4-FFF2-40B4-BE49-F238E27FC236}">
                <a16:creationId xmlns:a16="http://schemas.microsoft.com/office/drawing/2014/main" id="{62FBA126-12BA-4375-9D76-D2AC18280CC8}"/>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F5C01C-C1C5-4777-91D7-C908CB2E3DB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Tan et al., 2026 · Ni et al., 2023, 2024</a:t>
            </a:r>
          </a:p>
        </p:txBody>
      </p:sp>
      <p:sp>
        <p:nvSpPr>
          <p:cNvPr id="5" name="">
            <a:extLst xmlns:a="http://schemas.openxmlformats.org/drawingml/2006/main">
              <a:ext uri="{FF2B5EF4-FFF2-40B4-BE49-F238E27FC236}">
                <a16:creationId xmlns:a16="http://schemas.microsoft.com/office/drawing/2014/main" id="{F28014EB-63F7-4987-B68C-FCC97B6AA2E6}"/>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1F50D5BF-5E13-40A9-A1E2-D830B9D89AF6}"/>
              </a:ext>
            </a:extLst>
          </p:cNvPr>
          <p:cNvSpPr>
            <a:spLocks xmlns:a="http://schemas.openxmlformats.org/drawingml/2006/main" noGrp="1"/>
          </p:cNvSpPr>
          <p:nvPr/>
        </p:nvSpPr>
        <p:spPr>
          <a:xfrm xmlns:a="http://schemas.openxmlformats.org/drawingml/2006/main">
            <a:off x="609600" y="233362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76E1CB"/>
                </a:solidFill>
                <a:latin typeface="Aptos"/>
                <a:ea typeface="Aptos"/>
                <a:cs typeface="Aptos"/>
              </a:defRPr>
            </a:pPr>
            <a:r>
              <a:rPr sz="3000" b="1">
                <a:solidFill>
                  <a:srgbClr val="76E1CB"/>
                </a:solidFill>
                <a:latin typeface="Aptos"/>
                <a:ea typeface="Aptos"/>
                <a:cs typeface="Aptos"/>
              </a:rPr>
              <a:t>A positive trial</a:t>
            </a:r>
          </a:p>
        </p:txBody>
      </p:sp>
      <p:sp>
        <p:nvSpPr>
          <p:cNvPr id="7" name="">
            <a:extLst xmlns:a="http://schemas.openxmlformats.org/drawingml/2006/main">
              <a:ext uri="{FF2B5EF4-FFF2-40B4-BE49-F238E27FC236}">
                <a16:creationId xmlns:a16="http://schemas.microsoft.com/office/drawing/2014/main" id="{77B78319-CA78-4054-8E0B-64E7BD4623A4}"/>
              </a:ext>
            </a:extLst>
          </p:cNvPr>
          <p:cNvSpPr>
            <a:spLocks xmlns:a="http://schemas.openxmlformats.org/drawingml/2006/main" noGrp="1"/>
          </p:cNvSpPr>
          <p:nvPr/>
        </p:nvSpPr>
        <p:spPr>
          <a:xfrm xmlns:a="http://schemas.openxmlformats.org/drawingml/2006/main">
            <a:off x="609600" y="3295650"/>
            <a:ext cx="514350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4F2FF"/>
                </a:solidFill>
                <a:latin typeface="Aptos"/>
                <a:ea typeface="Aptos"/>
                <a:cs typeface="Aptos"/>
              </a:defRPr>
            </a:pPr>
            <a:r>
              <a:rPr sz="2325" b="0">
                <a:solidFill>
                  <a:srgbClr val="F4F2FF"/>
                </a:solidFill>
                <a:latin typeface="Aptos"/>
                <a:ea typeface="Aptos"/>
                <a:cs typeface="Aptos"/>
              </a:rPr>
              <a:t>A motor-cortex protocol in</a:t>
            </a:r>
          </a:p>
          <a:p xmlns:a="http://schemas.openxmlformats.org/drawingml/2006/main">
            <a:pPr algn="l">
              <a:defRPr sz="2325" b="0">
                <a:solidFill>
                  <a:srgbClr val="F4F2FF"/>
                </a:solidFill>
                <a:latin typeface="Aptos"/>
                <a:ea typeface="Aptos"/>
                <a:cs typeface="Aptos"/>
              </a:defRPr>
            </a:pPr>
            <a:r>
              <a:rPr sz="2325" b="0">
                <a:solidFill>
                  <a:srgbClr val="F4F2FF"/>
                </a:solidFill>
                <a:latin typeface="Aptos"/>
                <a:ea typeface="Aptos"/>
                <a:cs typeface="Aptos"/>
              </a:rPr>
              <a:t>200 children reported better</a:t>
            </a:r>
          </a:p>
          <a:p xmlns:a="http://schemas.openxmlformats.org/drawingml/2006/main">
            <a:pPr algn="l">
              <a:defRPr sz="2325" b="0">
                <a:solidFill>
                  <a:srgbClr val="F4F2FF"/>
                </a:solidFill>
                <a:latin typeface="Aptos"/>
                <a:ea typeface="Aptos"/>
                <a:cs typeface="Aptos"/>
              </a:defRPr>
            </a:pPr>
            <a:r>
              <a:rPr sz="2325" b="0">
                <a:solidFill>
                  <a:srgbClr val="F4F2FF"/>
                </a:solidFill>
                <a:latin typeface="Aptos"/>
                <a:ea typeface="Aptos"/>
                <a:cs typeface="Aptos"/>
              </a:rPr>
              <a:t>social-communication scores.</a:t>
            </a:r>
          </a:p>
        </p:txBody>
      </p:sp>
      <p:sp>
        <p:nvSpPr>
          <p:cNvPr id="8" name="">
            <a:extLst xmlns:a="http://schemas.openxmlformats.org/drawingml/2006/main">
              <a:ext uri="{FF2B5EF4-FFF2-40B4-BE49-F238E27FC236}">
                <a16:creationId xmlns:a16="http://schemas.microsoft.com/office/drawing/2014/main" id="{9216FEAA-1E2B-43D6-8983-36E7C7E28873}"/>
              </a:ext>
            </a:extLst>
          </p:cNvPr>
          <p:cNvSpPr>
            <a:spLocks xmlns:a="http://schemas.openxmlformats.org/drawingml/2006/main" noGrp="1"/>
          </p:cNvSpPr>
          <p:nvPr/>
        </p:nvSpPr>
        <p:spPr>
          <a:xfrm xmlns:a="http://schemas.openxmlformats.org/drawingml/2006/main">
            <a:off x="6524625" y="2333625"/>
            <a:ext cx="504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4F2FF"/>
                </a:solidFill>
                <a:latin typeface="Aptos"/>
                <a:ea typeface="Aptos"/>
                <a:cs typeface="Aptos"/>
              </a:defRPr>
            </a:pPr>
            <a:r>
              <a:rPr sz="3000" b="1">
                <a:solidFill>
                  <a:srgbClr val="F4F2FF"/>
                </a:solidFill>
                <a:latin typeface="Aptos"/>
                <a:ea typeface="Aptos"/>
                <a:cs typeface="Aptos"/>
              </a:rPr>
              <a:t>Other trials were negative</a:t>
            </a:r>
          </a:p>
        </p:txBody>
      </p:sp>
      <p:sp>
        <p:nvSpPr>
          <p:cNvPr id="9" name="">
            <a:extLst xmlns:a="http://schemas.openxmlformats.org/drawingml/2006/main">
              <a:ext uri="{FF2B5EF4-FFF2-40B4-BE49-F238E27FC236}">
                <a16:creationId xmlns:a16="http://schemas.microsoft.com/office/drawing/2014/main" id="{21EB5BAF-786F-4E8B-BC89-1516DB9585FB}"/>
              </a:ext>
            </a:extLst>
          </p:cNvPr>
          <p:cNvSpPr>
            <a:spLocks xmlns:a="http://schemas.openxmlformats.org/drawingml/2006/main" noGrp="1"/>
          </p:cNvSpPr>
          <p:nvPr/>
        </p:nvSpPr>
        <p:spPr>
          <a:xfrm xmlns:a="http://schemas.openxmlformats.org/drawingml/2006/main">
            <a:off x="6524625" y="3295650"/>
            <a:ext cx="50482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6B5CC"/>
                </a:solidFill>
                <a:latin typeface="Aptos"/>
                <a:ea typeface="Aptos"/>
                <a:cs typeface="Aptos"/>
              </a:defRPr>
            </a:pPr>
            <a:r>
              <a:rPr sz="2325" b="0">
                <a:solidFill>
                  <a:srgbClr val="B6B5CC"/>
                </a:solidFill>
                <a:latin typeface="Aptos"/>
                <a:ea typeface="Aptos"/>
                <a:cs typeface="Aptos"/>
              </a:rPr>
              <a:t>Different frontal protocols</a:t>
            </a:r>
          </a:p>
          <a:p xmlns:a="http://schemas.openxmlformats.org/drawingml/2006/main">
            <a:pPr algn="l">
              <a:defRPr sz="2325" b="0">
                <a:solidFill>
                  <a:srgbClr val="B6B5CC"/>
                </a:solidFill>
                <a:latin typeface="Aptos"/>
                <a:ea typeface="Aptos"/>
                <a:cs typeface="Aptos"/>
              </a:defRPr>
            </a:pPr>
            <a:r>
              <a:rPr sz="2325" b="0">
                <a:solidFill>
                  <a:srgbClr val="B6B5CC"/>
                </a:solidFill>
                <a:latin typeface="Aptos"/>
                <a:ea typeface="Aptos"/>
                <a:cs typeface="Aptos"/>
              </a:rPr>
              <a:t>did not establish superiority</a:t>
            </a:r>
          </a:p>
          <a:p xmlns:a="http://schemas.openxmlformats.org/drawingml/2006/main">
            <a:pPr algn="l">
              <a:defRPr sz="2325" b="0">
                <a:solidFill>
                  <a:srgbClr val="B6B5CC"/>
                </a:solidFill>
                <a:latin typeface="Aptos"/>
                <a:ea typeface="Aptos"/>
                <a:cs typeface="Aptos"/>
              </a:defRPr>
            </a:pPr>
            <a:r>
              <a:rPr sz="2325" b="0">
                <a:solidFill>
                  <a:srgbClr val="B6B5CC"/>
                </a:solidFill>
                <a:latin typeface="Aptos"/>
                <a:ea typeface="Aptos"/>
                <a:cs typeface="Aptos"/>
              </a:rPr>
              <a:t>on their primary outcomes.</a:t>
            </a:r>
          </a:p>
        </p:txBody>
      </p:sp>
      <p:sp>
        <p:nvSpPr>
          <p:cNvPr id="10" name="">
            <a:extLst xmlns:a="http://schemas.openxmlformats.org/drawingml/2006/main">
              <a:ext uri="{FF2B5EF4-FFF2-40B4-BE49-F238E27FC236}">
                <a16:creationId xmlns:a16="http://schemas.microsoft.com/office/drawing/2014/main" id="{3779AE7C-2135-4788-9E2B-9A1D3FB72F49}"/>
              </a:ext>
            </a:extLst>
          </p:cNvPr>
          <p:cNvSpPr>
            <a:spLocks xmlns:a="http://schemas.openxmlformats.org/drawingml/2006/main" noGrp="1"/>
          </p:cNvSpPr>
          <p:nvPr/>
        </p:nvSpPr>
        <p:spPr>
          <a:xfrm xmlns:a="http://schemas.openxmlformats.org/drawingml/2006/main">
            <a:off x="609600" y="5162550"/>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6E9CE2A-2C03-469A-81F7-F40611272BF5}"/>
              </a:ext>
            </a:extLst>
          </p:cNvPr>
          <p:cNvSpPr>
            <a:spLocks xmlns:a="http://schemas.openxmlformats.org/drawingml/2006/main" noGrp="1"/>
          </p:cNvSpPr>
          <p:nvPr/>
        </p:nvSpPr>
        <p:spPr>
          <a:xfrm xmlns:a="http://schemas.openxmlformats.org/drawingml/2006/main">
            <a:off x="609600" y="55911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76E1CB"/>
                </a:solidFill>
                <a:latin typeface="Aptos"/>
                <a:ea typeface="Aptos"/>
                <a:cs typeface="Aptos"/>
              </a:defRPr>
            </a:pPr>
            <a:r>
              <a:rPr sz="2175" b="1">
                <a:solidFill>
                  <a:srgbClr val="76E1CB"/>
                </a:solidFill>
                <a:latin typeface="Aptos"/>
                <a:ea typeface="Aptos"/>
                <a:cs typeface="Aptos"/>
              </a:rPr>
              <a:t>The proposed feedback approach still needs direct clinical evidence.</a:t>
            </a:r>
          </a:p>
        </p:txBody>
      </p:sp>
    </p:spTree>
    <p:extLst>
      <p:ext uri="{BB962C8B-B14F-4D97-AF65-F5344CB8AC3E}">
        <p14:creationId xmlns:p14="http://schemas.microsoft.com/office/powerpoint/2010/main" val="159951674"/>
      </p:ext>
    </p:extLst>
  </p:cSld>
</p:sld>
</file>

<file path=ppt/slides/slide8.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2B67DD-1C00-46DB-BA43-9D8DD6086720}"/>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WHAT WE HAVE BUILT</a:t>
            </a:r>
          </a:p>
        </p:txBody>
      </p:sp>
      <p:sp>
        <p:nvSpPr>
          <p:cNvPr id="2" name="">
            <a:extLst xmlns:a="http://schemas.openxmlformats.org/drawingml/2006/main">
              <a:ext uri="{FF2B5EF4-FFF2-40B4-BE49-F238E27FC236}">
                <a16:creationId xmlns:a16="http://schemas.microsoft.com/office/drawing/2014/main" id="{EB7AD43D-C171-4B90-ADC2-157A32CB9562}"/>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The simulation makes uncertainty visible</a:t>
            </a:r>
          </a:p>
        </p:txBody>
      </p:sp>
      <p:sp>
        <p:nvSpPr>
          <p:cNvPr id="3" name="">
            <a:extLst xmlns:a="http://schemas.openxmlformats.org/drawingml/2006/main">
              <a:ext uri="{FF2B5EF4-FFF2-40B4-BE49-F238E27FC236}">
                <a16:creationId xmlns:a16="http://schemas.microsoft.com/office/drawing/2014/main" id="{350E4411-EB87-4F1B-808D-F072F8D2EF57}"/>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627FB7-2B1E-4DFA-AAD0-98D7756F8D5A}"/>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31E13D44-657C-4733-89CE-94BD8AD66619}"/>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5A48413E-A45A-4092-B797-78CF759817B5}"/>
              </a:ext>
            </a:extLst>
          </p:cNvPr>
          <p:cNvSpPr>
            <a:spLocks xmlns:a="http://schemas.openxmlformats.org/drawingml/2006/main" noGrp="1"/>
          </p:cNvSpPr>
          <p:nvPr/>
        </p:nvSpPr>
        <p:spPr>
          <a:xfrm xmlns:a="http://schemas.openxmlformats.org/drawingml/2006/main">
            <a:off x="609600" y="20669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F20486-C21D-4F02-82A8-2909181009BC}"/>
              </a:ext>
            </a:extLst>
          </p:cNvPr>
          <p:cNvSpPr>
            <a:spLocks xmlns:a="http://schemas.openxmlformats.org/drawingml/2006/main" noGrp="1"/>
          </p:cNvSpPr>
          <p:nvPr/>
        </p:nvSpPr>
        <p:spPr>
          <a:xfrm xmlns:a="http://schemas.openxmlformats.org/drawingml/2006/main">
            <a:off x="609600" y="22098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Conditional improvement</a:t>
            </a:r>
          </a:p>
        </p:txBody>
      </p:sp>
      <p:sp>
        <p:nvSpPr>
          <p:cNvPr id="8" name="">
            <a:extLst xmlns:a="http://schemas.openxmlformats.org/drawingml/2006/main">
              <a:ext uri="{FF2B5EF4-FFF2-40B4-BE49-F238E27FC236}">
                <a16:creationId xmlns:a16="http://schemas.microsoft.com/office/drawing/2014/main" id="{F6B563F3-AC95-4149-8475-5C231A4D9E44}"/>
              </a:ext>
            </a:extLst>
          </p:cNvPr>
          <p:cNvSpPr>
            <a:spLocks xmlns:a="http://schemas.openxmlformats.org/drawingml/2006/main" noGrp="1"/>
          </p:cNvSpPr>
          <p:nvPr/>
        </p:nvSpPr>
        <p:spPr>
          <a:xfrm xmlns:a="http://schemas.openxmlformats.org/drawingml/2006/main">
            <a:off x="3848100" y="220980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A cleaner tracking score under favorable measurement conditions.</a:t>
            </a:r>
          </a:p>
        </p:txBody>
      </p:sp>
      <p:sp>
        <p:nvSpPr>
          <p:cNvPr id="9" name="">
            <a:extLst xmlns:a="http://schemas.openxmlformats.org/drawingml/2006/main">
              <a:ext uri="{FF2B5EF4-FFF2-40B4-BE49-F238E27FC236}">
                <a16:creationId xmlns:a16="http://schemas.microsoft.com/office/drawing/2014/main" id="{299CE8B0-8253-417B-AF48-E1892F518854}"/>
              </a:ext>
            </a:extLst>
          </p:cNvPr>
          <p:cNvSpPr>
            <a:spLocks xmlns:a="http://schemas.openxmlformats.org/drawingml/2006/main" noGrp="1"/>
          </p:cNvSpPr>
          <p:nvPr/>
        </p:nvSpPr>
        <p:spPr>
          <a:xfrm xmlns:a="http://schemas.openxmlformats.org/drawingml/2006/main">
            <a:off x="609600" y="330517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9B9E78-B8D3-4460-8C38-D02230C2CE17}"/>
              </a:ext>
            </a:extLst>
          </p:cNvPr>
          <p:cNvSpPr>
            <a:spLocks xmlns:a="http://schemas.openxmlformats.org/drawingml/2006/main" noGrp="1"/>
          </p:cNvSpPr>
          <p:nvPr/>
        </p:nvSpPr>
        <p:spPr>
          <a:xfrm xmlns:a="http://schemas.openxmlformats.org/drawingml/2006/main">
            <a:off x="609600" y="344805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A meaningful limitation</a:t>
            </a:r>
          </a:p>
        </p:txBody>
      </p:sp>
      <p:sp>
        <p:nvSpPr>
          <p:cNvPr id="11" name="">
            <a:extLst xmlns:a="http://schemas.openxmlformats.org/drawingml/2006/main">
              <a:ext uri="{FF2B5EF4-FFF2-40B4-BE49-F238E27FC236}">
                <a16:creationId xmlns:a16="http://schemas.microsoft.com/office/drawing/2014/main" id="{A1DBE929-241C-4B86-806F-D4FAD161E747}"/>
              </a:ext>
            </a:extLst>
          </p:cNvPr>
          <p:cNvSpPr>
            <a:spLocks xmlns:a="http://schemas.openxmlformats.org/drawingml/2006/main" noGrp="1"/>
          </p:cNvSpPr>
          <p:nvPr/>
        </p:nvSpPr>
        <p:spPr>
          <a:xfrm xmlns:a="http://schemas.openxmlformats.org/drawingml/2006/main">
            <a:off x="3848100" y="344805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Task accuracy remained near chance under disturbance.</a:t>
            </a:r>
          </a:p>
        </p:txBody>
      </p:sp>
      <p:sp>
        <p:nvSpPr>
          <p:cNvPr id="12" name="">
            <a:extLst xmlns:a="http://schemas.openxmlformats.org/drawingml/2006/main">
              <a:ext uri="{FF2B5EF4-FFF2-40B4-BE49-F238E27FC236}">
                <a16:creationId xmlns:a16="http://schemas.microsoft.com/office/drawing/2014/main" id="{ACAE07B2-6EC5-415A-8B1D-AAF2FA794170}"/>
              </a:ext>
            </a:extLst>
          </p:cNvPr>
          <p:cNvSpPr>
            <a:spLocks xmlns:a="http://schemas.openxmlformats.org/drawingml/2006/main" noGrp="1"/>
          </p:cNvSpPr>
          <p:nvPr/>
        </p:nvSpPr>
        <p:spPr>
          <a:xfrm xmlns:a="http://schemas.openxmlformats.org/drawingml/2006/main">
            <a:off x="609600" y="45434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B90851-F0BC-45AF-8FC5-1A636866EA51}"/>
              </a:ext>
            </a:extLst>
          </p:cNvPr>
          <p:cNvSpPr>
            <a:spLocks xmlns:a="http://schemas.openxmlformats.org/drawingml/2006/main" noGrp="1"/>
          </p:cNvSpPr>
          <p:nvPr/>
        </p:nvSpPr>
        <p:spPr>
          <a:xfrm xmlns:a="http://schemas.openxmlformats.org/drawingml/2006/main">
            <a:off x="609600" y="46863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A clear failure mode</a:t>
            </a:r>
          </a:p>
        </p:txBody>
      </p:sp>
      <p:sp>
        <p:nvSpPr>
          <p:cNvPr id="14" name="">
            <a:extLst xmlns:a="http://schemas.openxmlformats.org/drawingml/2006/main">
              <a:ext uri="{FF2B5EF4-FFF2-40B4-BE49-F238E27FC236}">
                <a16:creationId xmlns:a16="http://schemas.microsoft.com/office/drawing/2014/main" id="{8A7A2A5B-E15E-4CE5-B4D3-CA14B6558D9B}"/>
              </a:ext>
            </a:extLst>
          </p:cNvPr>
          <p:cNvSpPr>
            <a:spLocks xmlns:a="http://schemas.openxmlformats.org/drawingml/2006/main" noGrp="1"/>
          </p:cNvSpPr>
          <p:nvPr/>
        </p:nvSpPr>
        <p:spPr>
          <a:xfrm xmlns:a="http://schemas.openxmlformats.org/drawingml/2006/main">
            <a:off x="3848100" y="468630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More sensor noise reversed the added entropy term’s advantage.</a:t>
            </a:r>
          </a:p>
        </p:txBody>
      </p:sp>
    </p:spTree>
    <p:extLst>
      <p:ext uri="{BB962C8B-B14F-4D97-AF65-F5344CB8AC3E}">
        <p14:creationId xmlns:p14="http://schemas.microsoft.com/office/powerpoint/2010/main" val="200120716"/>
      </p:ext>
    </p:extLst>
  </p:cSld>
</p:sld>
</file>

<file path=ppt/slides/slide9.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EC044B-FBCA-4BCE-A68C-E2F47FDCE763}"/>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INTERACTIVE EXPERIENCE</a:t>
            </a:r>
          </a:p>
        </p:txBody>
      </p:sp>
      <p:sp>
        <p:nvSpPr>
          <p:cNvPr id="2" name="">
            <a:extLst xmlns:a="http://schemas.openxmlformats.org/drawingml/2006/main">
              <a:ext uri="{FF2B5EF4-FFF2-40B4-BE49-F238E27FC236}">
                <a16:creationId xmlns:a16="http://schemas.microsoft.com/office/drawing/2014/main" id="{AFEC2B14-160E-4BCC-AA01-43AD9806B321}"/>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Explore the working research model</a:t>
            </a:r>
          </a:p>
        </p:txBody>
      </p:sp>
      <p:sp>
        <p:nvSpPr>
          <p:cNvPr id="3" name="">
            <a:extLst xmlns:a="http://schemas.openxmlformats.org/drawingml/2006/main">
              <a:ext uri="{FF2B5EF4-FFF2-40B4-BE49-F238E27FC236}">
                <a16:creationId xmlns:a16="http://schemas.microsoft.com/office/drawing/2014/main" id="{B88C5378-F7A5-4F38-8CF2-BDFA3CFC8892}"/>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8C0D5-E688-4348-8079-44AD39BB8D2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A17AC11C-9E54-433A-9770-19CEE54073D7}"/>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09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7e365b379a4681"/>
          <a:srcRect xmlns:a="http://schemas.openxmlformats.org/drawingml/2006/main" l="5640" t="0" r="5640" b="0"/>
          <a:stretch xmlns:a="http://schemas.openxmlformats.org/drawingml/2006/main">
            <a:fillRect l="0" t="0" r="0" b="0"/>
          </a:stretch>
        </p:blipFill>
        <p:spPr>
          <a:xfrm xmlns:a="http://schemas.openxmlformats.org/drawingml/2006/main">
            <a:off x="5981700" y="2095500"/>
            <a:ext cx="5600700" cy="3552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963E7E9-0272-464A-8A9B-FDDAB87A4ED0}"/>
              </a:ext>
            </a:extLst>
          </p:cNvPr>
          <p:cNvSpPr>
            <a:spLocks xmlns:a="http://schemas.openxmlformats.org/drawingml/2006/main" noGrp="1"/>
          </p:cNvSpPr>
          <p:nvPr/>
        </p:nvSpPr>
        <p:spPr>
          <a:xfrm xmlns:a="http://schemas.openxmlformats.org/drawingml/2006/main">
            <a:off x="609600" y="2409825"/>
            <a:ext cx="528637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4F2FF"/>
                </a:solidFill>
                <a:latin typeface="Aptos"/>
                <a:ea typeface="Aptos"/>
                <a:cs typeface="Aptos"/>
              </a:defRPr>
            </a:pPr>
            <a:r>
              <a:rPr sz="3225" b="1">
                <a:solidFill>
                  <a:srgbClr val="F4F2FF"/>
                </a:solidFill>
                <a:latin typeface="Aptos"/>
                <a:ea typeface="Aptos"/>
                <a:cs typeface="Aptos"/>
              </a:rPr>
              <a:t>Rotate the cortex.</a:t>
            </a:r>
          </a:p>
          <a:p xmlns:a="http://schemas.openxmlformats.org/drawingml/2006/main">
            <a:pPr algn="l">
              <a:defRPr sz="3225" b="1">
                <a:solidFill>
                  <a:srgbClr val="F4F2FF"/>
                </a:solidFill>
                <a:latin typeface="Aptos"/>
                <a:ea typeface="Aptos"/>
                <a:cs typeface="Aptos"/>
              </a:defRPr>
            </a:pPr>
            <a:r>
              <a:rPr sz="3225" b="1">
                <a:solidFill>
                  <a:srgbClr val="F4F2FF"/>
                </a:solidFill>
                <a:latin typeface="Aptos"/>
                <a:ea typeface="Aptos"/>
                <a:cs typeface="Aptos"/>
              </a:rPr>
              <a:t>Change the conditions.</a:t>
            </a:r>
          </a:p>
          <a:p xmlns:a="http://schemas.openxmlformats.org/drawingml/2006/main">
            <a:pPr algn="l">
              <a:defRPr sz="3225" b="1">
                <a:solidFill>
                  <a:srgbClr val="F4F2FF"/>
                </a:solidFill>
                <a:latin typeface="Aptos"/>
                <a:ea typeface="Aptos"/>
                <a:cs typeface="Aptos"/>
              </a:defRPr>
            </a:pPr>
            <a:r>
              <a:rPr sz="3225" b="1">
                <a:solidFill>
                  <a:srgbClr val="F4F2FF"/>
                </a:solidFill>
                <a:latin typeface="Aptos"/>
                <a:ea typeface="Aptos"/>
                <a:cs typeface="Aptos"/>
              </a:rPr>
              <a:t>Inspect the outcome.</a:t>
            </a:r>
          </a:p>
        </p:txBody>
      </p:sp>
      <p:sp>
        <p:nvSpPr>
          <p:cNvPr id="8" name="">
            <a:extLst xmlns:a="http://schemas.openxmlformats.org/drawingml/2006/main">
              <a:ext uri="{FF2B5EF4-FFF2-40B4-BE49-F238E27FC236}">
                <a16:creationId xmlns:a16="http://schemas.microsoft.com/office/drawing/2014/main" id="{8A602119-73A9-4580-842A-01EEFC4AE246}"/>
              </a:ext>
            </a:extLst>
          </p:cNvPr>
          <p:cNvSpPr>
            <a:spLocks xmlns:a="http://schemas.openxmlformats.org/drawingml/2006/main" noGrp="1"/>
          </p:cNvSpPr>
          <p:nvPr/>
        </p:nvSpPr>
        <p:spPr>
          <a:xfrm xmlns:a="http://schemas.openxmlformats.org/drawingml/2006/main">
            <a:off x="609600" y="5210175"/>
            <a:ext cx="5238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76E1CB"/>
                </a:solidFill>
                <a:latin typeface="Aptos"/>
                <a:ea typeface="Aptos"/>
                <a:cs typeface="Aptos"/>
              </a:defRPr>
            </a:pPr>
            <a:r>
              <a:rPr sz="2475" b="1">
                <a:solidFill>
                  <a:srgbClr val="76E1CB"/>
                </a:solidFill>
                <a:latin typeface="Aptos"/>
                <a:ea typeface="Aptos"/>
                <a:cs typeface="Aptos"/>
                <a:hlinkClick xmlns:r="http://schemas.openxmlformats.org/officeDocument/2006/relationships" r:id="R1a1d6a0441f44d0b"/>
              </a:rPr>
              <a:t>Open the brain lab ↗</a:t>
            </a:r>
          </a:p>
        </p:txBody>
      </p:sp>
    </p:spTree>
    <p:extLst>
      <p:ext uri="{BB962C8B-B14F-4D97-AF65-F5344CB8AC3E}">
        <p14:creationId xmlns:p14="http://schemas.microsoft.com/office/powerpoint/2010/main" val="1202679179"/>
      </p:ext>
    </p:extLst>
  </p:cSld>
</p:sld>
</file>

<file path=ppt/slides/slide10.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E44B47-9F2D-4832-ACD8-082893469F22}"/>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THE RESEARCH PATH</a:t>
            </a:r>
          </a:p>
        </p:txBody>
      </p:sp>
      <p:sp>
        <p:nvSpPr>
          <p:cNvPr id="2" name="">
            <a:extLst xmlns:a="http://schemas.openxmlformats.org/drawingml/2006/main">
              <a:ext uri="{FF2B5EF4-FFF2-40B4-BE49-F238E27FC236}">
                <a16:creationId xmlns:a16="http://schemas.microsoft.com/office/drawing/2014/main" id="{EAAF245C-ACF5-438A-BC34-6B3C2AD8CA91}"/>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Each development stage has a decision gate</a:t>
            </a:r>
          </a:p>
        </p:txBody>
      </p:sp>
      <p:sp>
        <p:nvSpPr>
          <p:cNvPr id="3" name="">
            <a:extLst xmlns:a="http://schemas.openxmlformats.org/drawingml/2006/main">
              <a:ext uri="{FF2B5EF4-FFF2-40B4-BE49-F238E27FC236}">
                <a16:creationId xmlns:a16="http://schemas.microsoft.com/office/drawing/2014/main" id="{F9431F1C-88E6-435D-B028-5599AC0B21B3}"/>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630C7F-3F9F-440B-B3C1-BFEC16923A0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C0B0B7F3-E862-4D37-9518-8B9FCF93B3C3}"/>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974E13F4-903E-4455-8A8D-3DD7A9C35AC2}"/>
              </a:ext>
            </a:extLst>
          </p:cNvPr>
          <p:cNvSpPr>
            <a:spLocks xmlns:a="http://schemas.openxmlformats.org/drawingml/2006/main" noGrp="1"/>
          </p:cNvSpPr>
          <p:nvPr/>
        </p:nvSpPr>
        <p:spPr>
          <a:xfrm xmlns:a="http://schemas.openxmlformats.org/drawingml/2006/main">
            <a:off x="609600" y="20669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21F6488-56BC-4D4B-A824-149E00919FC0}"/>
              </a:ext>
            </a:extLst>
          </p:cNvPr>
          <p:cNvSpPr>
            <a:spLocks xmlns:a="http://schemas.openxmlformats.org/drawingml/2006/main" noGrp="1"/>
          </p:cNvSpPr>
          <p:nvPr/>
        </p:nvSpPr>
        <p:spPr>
          <a:xfrm xmlns:a="http://schemas.openxmlformats.org/drawingml/2006/main">
            <a:off x="609600" y="22098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Measurement study</a:t>
            </a:r>
          </a:p>
        </p:txBody>
      </p:sp>
      <p:sp>
        <p:nvSpPr>
          <p:cNvPr id="8" name="">
            <a:extLst xmlns:a="http://schemas.openxmlformats.org/drawingml/2006/main">
              <a:ext uri="{FF2B5EF4-FFF2-40B4-BE49-F238E27FC236}">
                <a16:creationId xmlns:a16="http://schemas.microsoft.com/office/drawing/2014/main" id="{A940D3CD-E344-48B7-A91D-AC7BDFDB7196}"/>
              </a:ext>
            </a:extLst>
          </p:cNvPr>
          <p:cNvSpPr>
            <a:spLocks xmlns:a="http://schemas.openxmlformats.org/drawingml/2006/main" noGrp="1"/>
          </p:cNvSpPr>
          <p:nvPr/>
        </p:nvSpPr>
        <p:spPr>
          <a:xfrm xmlns:a="http://schemas.openxmlformats.org/drawingml/2006/main">
            <a:off x="3848100" y="220980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Can the signal reliably predict an agreed within-person outcome?</a:t>
            </a:r>
          </a:p>
        </p:txBody>
      </p:sp>
      <p:sp>
        <p:nvSpPr>
          <p:cNvPr id="9" name="">
            <a:extLst xmlns:a="http://schemas.openxmlformats.org/drawingml/2006/main">
              <a:ext uri="{FF2B5EF4-FFF2-40B4-BE49-F238E27FC236}">
                <a16:creationId xmlns:a16="http://schemas.microsoft.com/office/drawing/2014/main" id="{7416EFA3-292D-4B55-882A-E0607D5E0448}"/>
              </a:ext>
            </a:extLst>
          </p:cNvPr>
          <p:cNvSpPr>
            <a:spLocks xmlns:a="http://schemas.openxmlformats.org/drawingml/2006/main" noGrp="1"/>
          </p:cNvSpPr>
          <p:nvPr/>
        </p:nvSpPr>
        <p:spPr>
          <a:xfrm xmlns:a="http://schemas.openxmlformats.org/drawingml/2006/main">
            <a:off x="609600" y="330517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11A990F-3450-4497-9CA5-604B6EE3C6F0}"/>
              </a:ext>
            </a:extLst>
          </p:cNvPr>
          <p:cNvSpPr>
            <a:spLocks xmlns:a="http://schemas.openxmlformats.org/drawingml/2006/main" noGrp="1"/>
          </p:cNvSpPr>
          <p:nvPr/>
        </p:nvSpPr>
        <p:spPr>
          <a:xfrm xmlns:a="http://schemas.openxmlformats.org/drawingml/2006/main">
            <a:off x="609600" y="344805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Realistic modeling</a:t>
            </a:r>
          </a:p>
        </p:txBody>
      </p:sp>
      <p:sp>
        <p:nvSpPr>
          <p:cNvPr id="11" name="">
            <a:extLst xmlns:a="http://schemas.openxmlformats.org/drawingml/2006/main">
              <a:ext uri="{FF2B5EF4-FFF2-40B4-BE49-F238E27FC236}">
                <a16:creationId xmlns:a16="http://schemas.microsoft.com/office/drawing/2014/main" id="{82AC57B9-05CC-4D4F-B976-8F316BA77F56}"/>
              </a:ext>
            </a:extLst>
          </p:cNvPr>
          <p:cNvSpPr>
            <a:spLocks xmlns:a="http://schemas.openxmlformats.org/drawingml/2006/main" noGrp="1"/>
          </p:cNvSpPr>
          <p:nvPr/>
        </p:nvSpPr>
        <p:spPr>
          <a:xfrm xmlns:a="http://schemas.openxmlformats.org/drawingml/2006/main">
            <a:off x="3848100" y="344805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Does feedback beat simpler controls with credible sensing and actuation?</a:t>
            </a:r>
          </a:p>
        </p:txBody>
      </p:sp>
      <p:sp>
        <p:nvSpPr>
          <p:cNvPr id="12" name="">
            <a:extLst xmlns:a="http://schemas.openxmlformats.org/drawingml/2006/main">
              <a:ext uri="{FF2B5EF4-FFF2-40B4-BE49-F238E27FC236}">
                <a16:creationId xmlns:a16="http://schemas.microsoft.com/office/drawing/2014/main" id="{BC4B812E-3ED4-4B5B-A120-D11519B5FE5A}"/>
              </a:ext>
            </a:extLst>
          </p:cNvPr>
          <p:cNvSpPr>
            <a:spLocks xmlns:a="http://schemas.openxmlformats.org/drawingml/2006/main" noGrp="1"/>
          </p:cNvSpPr>
          <p:nvPr/>
        </p:nvSpPr>
        <p:spPr>
          <a:xfrm xmlns:a="http://schemas.openxmlformats.org/drawingml/2006/main">
            <a:off x="609600" y="45434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0FD9DF6-3633-4A1C-9C81-5808B752D4C8}"/>
              </a:ext>
            </a:extLst>
          </p:cNvPr>
          <p:cNvSpPr>
            <a:spLocks xmlns:a="http://schemas.openxmlformats.org/drawingml/2006/main" noGrp="1"/>
          </p:cNvSpPr>
          <p:nvPr/>
        </p:nvSpPr>
        <p:spPr>
          <a:xfrm xmlns:a="http://schemas.openxmlformats.org/drawingml/2006/main">
            <a:off x="609600" y="4686300"/>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76E1CB"/>
                </a:solidFill>
                <a:latin typeface="Aptos"/>
                <a:ea typeface="Aptos"/>
                <a:cs typeface="Aptos"/>
              </a:defRPr>
            </a:pPr>
            <a:r>
              <a:rPr sz="2400" b="1">
                <a:solidFill>
                  <a:srgbClr val="76E1CB"/>
                </a:solidFill>
                <a:latin typeface="Aptos"/>
                <a:ea typeface="Aptos"/>
                <a:cs typeface="Aptos"/>
              </a:rPr>
              <a:t>Clinical feasibility</a:t>
            </a:r>
          </a:p>
        </p:txBody>
      </p:sp>
      <p:sp>
        <p:nvSpPr>
          <p:cNvPr id="14" name="">
            <a:extLst xmlns:a="http://schemas.openxmlformats.org/drawingml/2006/main">
              <a:ext uri="{FF2B5EF4-FFF2-40B4-BE49-F238E27FC236}">
                <a16:creationId xmlns:a16="http://schemas.microsoft.com/office/drawing/2014/main" id="{A84D7EAA-98E5-42D0-9B66-1998B7D9822D}"/>
              </a:ext>
            </a:extLst>
          </p:cNvPr>
          <p:cNvSpPr>
            <a:spLocks xmlns:a="http://schemas.openxmlformats.org/drawingml/2006/main" noGrp="1"/>
          </p:cNvSpPr>
          <p:nvPr/>
        </p:nvSpPr>
        <p:spPr>
          <a:xfrm xmlns:a="http://schemas.openxmlformats.org/drawingml/2006/main">
            <a:off x="3848100" y="4686300"/>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4F2FF"/>
                </a:solidFill>
                <a:latin typeface="Aptos"/>
                <a:ea typeface="Aptos"/>
                <a:cs typeface="Aptos"/>
              </a:defRPr>
            </a:pPr>
            <a:r>
              <a:rPr sz="2025" b="0">
                <a:solidFill>
                  <a:srgbClr val="F4F2FF"/>
                </a:solidFill>
                <a:latin typeface="Aptos"/>
                <a:ea typeface="Aptos"/>
                <a:cs typeface="Aptos"/>
              </a:rPr>
              <a:t>Does a specified intervention add benefit with acceptable burden?</a:t>
            </a:r>
          </a:p>
        </p:txBody>
      </p:sp>
    </p:spTree>
    <p:extLst>
      <p:ext uri="{BB962C8B-B14F-4D97-AF65-F5344CB8AC3E}">
        <p14:creationId xmlns:p14="http://schemas.microsoft.com/office/powerpoint/2010/main" val="796555974"/>
      </p:ext>
    </p:extLst>
  </p:cSld>
</p:sld>
</file>

<file path=ppt/slides/slide11.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91342B3-D1A1-4A18-B39F-034B0F9DE88F}"/>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A SHARED RESEARCH PROGRAM</a:t>
            </a:r>
          </a:p>
        </p:txBody>
      </p:sp>
      <p:sp>
        <p:nvSpPr>
          <p:cNvPr id="2" name="">
            <a:extLst xmlns:a="http://schemas.openxmlformats.org/drawingml/2006/main">
              <a:ext uri="{FF2B5EF4-FFF2-40B4-BE49-F238E27FC236}">
                <a16:creationId xmlns:a16="http://schemas.microsoft.com/office/drawing/2014/main" id="{B29F3A6D-7257-46DA-BA0A-50DB8F546506}"/>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Collaboration is the next concrete step</a:t>
            </a:r>
          </a:p>
        </p:txBody>
      </p:sp>
      <p:sp>
        <p:nvSpPr>
          <p:cNvPr id="3" name="">
            <a:extLst xmlns:a="http://schemas.openxmlformats.org/drawingml/2006/main">
              <a:ext uri="{FF2B5EF4-FFF2-40B4-BE49-F238E27FC236}">
                <a16:creationId xmlns:a16="http://schemas.microsoft.com/office/drawing/2014/main" id="{BA321095-5BB7-4824-A84D-F040FD8EAD97}"/>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159AD5-66D8-430E-A402-F1E40492029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46C55827-3948-4E49-84F8-5AE8D5070D3A}"/>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36E3E97F-9894-43B2-A9D8-6044206DD3F0}"/>
              </a:ext>
            </a:extLst>
          </p:cNvPr>
          <p:cNvSpPr>
            <a:spLocks xmlns:a="http://schemas.openxmlformats.org/drawingml/2006/main" noGrp="1"/>
          </p:cNvSpPr>
          <p:nvPr/>
        </p:nvSpPr>
        <p:spPr>
          <a:xfrm xmlns:a="http://schemas.openxmlformats.org/drawingml/2006/main">
            <a:off x="60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AB5333B7-704B-405F-99D7-35B5D4524326}"/>
              </a:ext>
            </a:extLst>
          </p:cNvPr>
          <p:cNvSpPr>
            <a:spLocks xmlns:a="http://schemas.openxmlformats.org/drawingml/2006/main" noGrp="1"/>
          </p:cNvSpPr>
          <p:nvPr/>
        </p:nvSpPr>
        <p:spPr>
          <a:xfrm xmlns:a="http://schemas.openxmlformats.org/drawingml/2006/main">
            <a:off x="60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D7DE47-C8E2-4578-844B-BA9C14DC6787}"/>
              </a:ext>
            </a:extLst>
          </p:cNvPr>
          <p:cNvSpPr>
            <a:spLocks xmlns:a="http://schemas.openxmlformats.org/drawingml/2006/main" noGrp="1"/>
          </p:cNvSpPr>
          <p:nvPr/>
        </p:nvSpPr>
        <p:spPr>
          <a:xfrm xmlns:a="http://schemas.openxmlformats.org/drawingml/2006/main">
            <a:off x="60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Autistic partners</a:t>
            </a:r>
          </a:p>
        </p:txBody>
      </p:sp>
      <p:sp>
        <p:nvSpPr>
          <p:cNvPr id="9" name="">
            <a:extLst xmlns:a="http://schemas.openxmlformats.org/drawingml/2006/main">
              <a:ext uri="{FF2B5EF4-FFF2-40B4-BE49-F238E27FC236}">
                <a16:creationId xmlns:a16="http://schemas.microsoft.com/office/drawing/2014/main" id="{EFF65D10-EC9A-4748-B296-A9F0E5440976}"/>
              </a:ext>
            </a:extLst>
          </p:cNvPr>
          <p:cNvSpPr>
            <a:spLocks xmlns:a="http://schemas.openxmlformats.org/drawingml/2006/main" noGrp="1"/>
          </p:cNvSpPr>
          <p:nvPr/>
        </p:nvSpPr>
        <p:spPr>
          <a:xfrm xmlns:a="http://schemas.openxmlformats.org/drawingml/2006/main">
            <a:off x="60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Define priorities, acceptable burden and meaningful success.</a:t>
            </a:r>
          </a:p>
        </p:txBody>
      </p:sp>
      <p:sp>
        <p:nvSpPr>
          <p:cNvPr id="10" name="">
            <a:extLst xmlns:a="http://schemas.openxmlformats.org/drawingml/2006/main">
              <a:ext uri="{FF2B5EF4-FFF2-40B4-BE49-F238E27FC236}">
                <a16:creationId xmlns:a16="http://schemas.microsoft.com/office/drawing/2014/main" id="{1AD350FF-63D7-4D4B-97EC-FE40FFF9E24A}"/>
              </a:ext>
            </a:extLst>
          </p:cNvPr>
          <p:cNvSpPr>
            <a:spLocks xmlns:a="http://schemas.openxmlformats.org/drawingml/2006/main" noGrp="1"/>
          </p:cNvSpPr>
          <p:nvPr/>
        </p:nvSpPr>
        <p:spPr>
          <a:xfrm xmlns:a="http://schemas.openxmlformats.org/drawingml/2006/main">
            <a:off x="441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F43020A6-C0B0-4262-9A75-E1744D2C8453}"/>
              </a:ext>
            </a:extLst>
          </p:cNvPr>
          <p:cNvSpPr>
            <a:spLocks xmlns:a="http://schemas.openxmlformats.org/drawingml/2006/main" noGrp="1"/>
          </p:cNvSpPr>
          <p:nvPr/>
        </p:nvSpPr>
        <p:spPr>
          <a:xfrm xmlns:a="http://schemas.openxmlformats.org/drawingml/2006/main">
            <a:off x="441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37F4639-DC9C-4C3F-BD5C-52BE4074304F}"/>
              </a:ext>
            </a:extLst>
          </p:cNvPr>
          <p:cNvSpPr>
            <a:spLocks xmlns:a="http://schemas.openxmlformats.org/drawingml/2006/main" noGrp="1"/>
          </p:cNvSpPr>
          <p:nvPr/>
        </p:nvSpPr>
        <p:spPr>
          <a:xfrm xmlns:a="http://schemas.openxmlformats.org/drawingml/2006/main">
            <a:off x="441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Methods researchers</a:t>
            </a:r>
          </a:p>
        </p:txBody>
      </p:sp>
      <p:sp>
        <p:nvSpPr>
          <p:cNvPr id="13" name="">
            <a:extLst xmlns:a="http://schemas.openxmlformats.org/drawingml/2006/main">
              <a:ext uri="{FF2B5EF4-FFF2-40B4-BE49-F238E27FC236}">
                <a16:creationId xmlns:a16="http://schemas.microsoft.com/office/drawing/2014/main" id="{1C8842CF-50B4-4136-901B-9F3B591231E6}"/>
              </a:ext>
            </a:extLst>
          </p:cNvPr>
          <p:cNvSpPr>
            <a:spLocks xmlns:a="http://schemas.openxmlformats.org/drawingml/2006/main" noGrp="1"/>
          </p:cNvSpPr>
          <p:nvPr/>
        </p:nvSpPr>
        <p:spPr>
          <a:xfrm xmlns:a="http://schemas.openxmlformats.org/drawingml/2006/main">
            <a:off x="441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Challenge measurements, models, controls and reproducibility.</a:t>
            </a:r>
          </a:p>
        </p:txBody>
      </p:sp>
      <p:sp>
        <p:nvSpPr>
          <p:cNvPr id="14" name="">
            <a:extLst xmlns:a="http://schemas.openxmlformats.org/drawingml/2006/main">
              <a:ext uri="{FF2B5EF4-FFF2-40B4-BE49-F238E27FC236}">
                <a16:creationId xmlns:a16="http://schemas.microsoft.com/office/drawing/2014/main" id="{4EC5D788-54D2-4958-9C58-951450DBCE02}"/>
              </a:ext>
            </a:extLst>
          </p:cNvPr>
          <p:cNvSpPr>
            <a:spLocks xmlns:a="http://schemas.openxmlformats.org/drawingml/2006/main" noGrp="1"/>
          </p:cNvSpPr>
          <p:nvPr/>
        </p:nvSpPr>
        <p:spPr>
          <a:xfrm xmlns:a="http://schemas.openxmlformats.org/drawingml/2006/main">
            <a:off x="822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76E1CB"/>
                </a:solidFill>
                <a:latin typeface="Aptos"/>
                <a:ea typeface="Aptos"/>
                <a:cs typeface="Aptos"/>
              </a:defRPr>
            </a:pPr>
            <a:r>
              <a:rPr sz="3600" b="0">
                <a:solidFill>
                  <a:srgbClr val="76E1CB"/>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17D9BA29-9077-49EE-A1A8-EB6D0860A6F3}"/>
              </a:ext>
            </a:extLst>
          </p:cNvPr>
          <p:cNvSpPr>
            <a:spLocks xmlns:a="http://schemas.openxmlformats.org/drawingml/2006/main" noGrp="1"/>
          </p:cNvSpPr>
          <p:nvPr/>
        </p:nvSpPr>
        <p:spPr>
          <a:xfrm xmlns:a="http://schemas.openxmlformats.org/drawingml/2006/main">
            <a:off x="8229600" y="3114675"/>
            <a:ext cx="333375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DC88489-490C-4ADC-AACC-87529FB33E6C}"/>
              </a:ext>
            </a:extLst>
          </p:cNvPr>
          <p:cNvSpPr>
            <a:spLocks xmlns:a="http://schemas.openxmlformats.org/drawingml/2006/main" noGrp="1"/>
          </p:cNvSpPr>
          <p:nvPr/>
        </p:nvSpPr>
        <p:spPr>
          <a:xfrm xmlns:a="http://schemas.openxmlformats.org/drawingml/2006/main">
            <a:off x="822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4F2FF"/>
                </a:solidFill>
                <a:latin typeface="Aptos"/>
                <a:ea typeface="Aptos"/>
                <a:cs typeface="Aptos"/>
              </a:defRPr>
            </a:pPr>
            <a:r>
              <a:rPr sz="2400" b="1">
                <a:solidFill>
                  <a:srgbClr val="F4F2FF"/>
                </a:solidFill>
                <a:latin typeface="Aptos"/>
                <a:ea typeface="Aptos"/>
                <a:cs typeface="Aptos"/>
              </a:rPr>
              <a:t>Clinical collaborators</a:t>
            </a:r>
          </a:p>
        </p:txBody>
      </p:sp>
      <p:sp>
        <p:nvSpPr>
          <p:cNvPr id="17" name="">
            <a:extLst xmlns:a="http://schemas.openxmlformats.org/drawingml/2006/main">
              <a:ext uri="{FF2B5EF4-FFF2-40B4-BE49-F238E27FC236}">
                <a16:creationId xmlns:a16="http://schemas.microsoft.com/office/drawing/2014/main" id="{58F31C34-94EA-4B9E-A573-CF87D7244BB3}"/>
              </a:ext>
            </a:extLst>
          </p:cNvPr>
          <p:cNvSpPr>
            <a:spLocks xmlns:a="http://schemas.openxmlformats.org/drawingml/2006/main" noGrp="1"/>
          </p:cNvSpPr>
          <p:nvPr/>
        </p:nvSpPr>
        <p:spPr>
          <a:xfrm xmlns:a="http://schemas.openxmlformats.org/drawingml/2006/main">
            <a:off x="822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6B5CC"/>
                </a:solidFill>
                <a:latin typeface="Aptos"/>
                <a:ea typeface="Aptos"/>
                <a:cs typeface="Aptos"/>
              </a:defRPr>
            </a:pPr>
            <a:r>
              <a:rPr sz="1875" b="0">
                <a:solidFill>
                  <a:srgbClr val="B6B5CC"/>
                </a:solidFill>
                <a:latin typeface="Aptos"/>
                <a:ea typeface="Aptos"/>
                <a:cs typeface="Aptos"/>
              </a:rPr>
              <a:t>Assess feasibility, study governance and participant protection.</a:t>
            </a:r>
          </a:p>
        </p:txBody>
      </p:sp>
    </p:spTree>
    <p:extLst>
      <p:ext uri="{BB962C8B-B14F-4D97-AF65-F5344CB8AC3E}">
        <p14:creationId xmlns:p14="http://schemas.microsoft.com/office/powerpoint/2010/main" val="966980002"/>
      </p:ext>
    </p:extLst>
  </p:cSld>
</p:sld>
</file>

<file path=ppt/slides/slide12.xml><?xml version="1.0" encoding="utf-8"?>
<p:sld xmlns:p="http://schemas.openxmlformats.org/presentationml/2006/main">
  <p:cSld>
    <p:bg>
      <p:bgPr>
        <a:solidFill xmlns:a="http://schemas.openxmlformats.org/drawingml/2006/main">
          <a:srgbClr val="1516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CD17EA-FA3B-4C2B-98B8-1080806AE11F}"/>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6E1CB"/>
                </a:solidFill>
                <a:latin typeface="Aptos"/>
                <a:ea typeface="Aptos"/>
                <a:cs typeface="Aptos"/>
              </a:defRPr>
            </a:pPr>
            <a:r>
              <a:rPr sz="1275" b="1">
                <a:solidFill>
                  <a:srgbClr val="76E1CB"/>
                </a:solidFill>
                <a:latin typeface="Aptos"/>
                <a:ea typeface="Aptos"/>
                <a:cs typeface="Aptos"/>
              </a:rPr>
              <a:t>SELECTED SOURCES</a:t>
            </a:r>
          </a:p>
        </p:txBody>
      </p:sp>
      <p:sp>
        <p:nvSpPr>
          <p:cNvPr id="2" name="">
            <a:extLst xmlns:a="http://schemas.openxmlformats.org/drawingml/2006/main">
              <a:ext uri="{FF2B5EF4-FFF2-40B4-BE49-F238E27FC236}">
                <a16:creationId xmlns:a16="http://schemas.microsoft.com/office/drawing/2014/main" id="{83C1C1C5-DF50-403D-B1D4-A9849CDA1822}"/>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2FF"/>
                </a:solidFill>
                <a:latin typeface="Aptos"/>
                <a:ea typeface="Aptos"/>
                <a:cs typeface="Aptos"/>
              </a:defRPr>
            </a:pPr>
            <a:r>
              <a:rPr sz="3600" b="1">
                <a:solidFill>
                  <a:srgbClr val="F4F2FF"/>
                </a:solidFill>
                <a:latin typeface="Aptos"/>
                <a:ea typeface="Aptos"/>
                <a:cs typeface="Aptos"/>
              </a:rPr>
              <a:t>Evidence and materials are available to inspect</a:t>
            </a:r>
          </a:p>
        </p:txBody>
      </p:sp>
      <p:sp>
        <p:nvSpPr>
          <p:cNvPr id="3" name="">
            <a:extLst xmlns:a="http://schemas.openxmlformats.org/drawingml/2006/main">
              <a:ext uri="{FF2B5EF4-FFF2-40B4-BE49-F238E27FC236}">
                <a16:creationId xmlns:a16="http://schemas.microsoft.com/office/drawing/2014/main" id="{1B84D84E-AF3C-4137-9225-3FD2FCB5EFAC}"/>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E405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0D7F0D-AD08-4C0B-9F9B-A505D142C3C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B6B5CC"/>
                </a:solidFill>
                <a:latin typeface="Aptos"/>
                <a:ea typeface="Aptos"/>
                <a:cs typeface="Aptos"/>
              </a:defRPr>
            </a:pPr>
            <a:r>
              <a:rPr sz="1125" b="0">
                <a:solidFill>
                  <a:srgbClr val="B6B5CC"/>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2761BF46-0E81-4F1F-8709-01A0D3B4E358}"/>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6B5CC"/>
                </a:solidFill>
                <a:latin typeface="Aptos"/>
                <a:ea typeface="Aptos"/>
                <a:cs typeface="Aptos"/>
              </a:defRPr>
            </a:pPr>
            <a:r>
              <a:rPr sz="1275" b="0">
                <a:solidFill>
                  <a:srgbClr val="B6B5CC"/>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6DD79983-C9FE-4A7F-8171-E37A98D8CB2E}"/>
              </a:ext>
            </a:extLst>
          </p:cNvPr>
          <p:cNvSpPr>
            <a:spLocks xmlns:a="http://schemas.openxmlformats.org/drawingml/2006/main" noGrp="1"/>
          </p:cNvSpPr>
          <p:nvPr/>
        </p:nvSpPr>
        <p:spPr>
          <a:xfrm xmlns:a="http://schemas.openxmlformats.org/drawingml/2006/main">
            <a:off x="609600" y="2114550"/>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6E1CB"/>
                </a:solidFill>
                <a:latin typeface="Aptos"/>
                <a:ea typeface="Aptos"/>
                <a:cs typeface="Aptos"/>
              </a:defRPr>
            </a:pPr>
            <a:r>
              <a:rPr sz="1875" b="1">
                <a:solidFill>
                  <a:srgbClr val="76E1CB"/>
                </a:solidFill>
                <a:latin typeface="Aptos"/>
                <a:ea typeface="Aptos"/>
                <a:cs typeface="Aptos"/>
              </a:rPr>
              <a:t>Participation</a:t>
            </a:r>
          </a:p>
        </p:txBody>
      </p:sp>
      <p:sp>
        <p:nvSpPr>
          <p:cNvPr id="7" name="">
            <a:extLst xmlns:a="http://schemas.openxmlformats.org/drawingml/2006/main">
              <a:ext uri="{FF2B5EF4-FFF2-40B4-BE49-F238E27FC236}">
                <a16:creationId xmlns:a16="http://schemas.microsoft.com/office/drawing/2014/main" id="{D049368D-5F5B-4F44-9F97-6E255913E76C}"/>
              </a:ext>
            </a:extLst>
          </p:cNvPr>
          <p:cNvSpPr>
            <a:spLocks xmlns:a="http://schemas.openxmlformats.org/drawingml/2006/main" noGrp="1"/>
          </p:cNvSpPr>
          <p:nvPr/>
        </p:nvSpPr>
        <p:spPr>
          <a:xfrm xmlns:a="http://schemas.openxmlformats.org/drawingml/2006/main">
            <a:off x="4429125" y="2114550"/>
            <a:ext cx="714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4F2FF"/>
                </a:solidFill>
                <a:latin typeface="Aptos"/>
                <a:ea typeface="Aptos"/>
                <a:cs typeface="Aptos"/>
              </a:defRPr>
            </a:pPr>
            <a:r>
              <a:rPr sz="1875" b="0">
                <a:solidFill>
                  <a:srgbClr val="F4F2FF"/>
                </a:solidFill>
                <a:latin typeface="Aptos"/>
                <a:ea typeface="Aptos"/>
                <a:cs typeface="Aptos"/>
                <a:hlinkClick xmlns:r="http://schemas.openxmlformats.org/officeDocument/2006/relationships" r:id="Raa541638f33c4ed7"/>
              </a:rPr>
              <a:t>Fletcher-Watson et al. (2019)</a:t>
            </a:r>
          </a:p>
        </p:txBody>
      </p:sp>
      <p:sp>
        <p:nvSpPr>
          <p:cNvPr id="8" name="">
            <a:extLst xmlns:a="http://schemas.openxmlformats.org/drawingml/2006/main">
              <a:ext uri="{FF2B5EF4-FFF2-40B4-BE49-F238E27FC236}">
                <a16:creationId xmlns:a16="http://schemas.microsoft.com/office/drawing/2014/main" id="{2750E278-AB95-4CBA-905C-5C6E5EA11B7C}"/>
              </a:ext>
            </a:extLst>
          </p:cNvPr>
          <p:cNvSpPr>
            <a:spLocks xmlns:a="http://schemas.openxmlformats.org/drawingml/2006/main" noGrp="1"/>
          </p:cNvSpPr>
          <p:nvPr/>
        </p:nvSpPr>
        <p:spPr>
          <a:xfrm xmlns:a="http://schemas.openxmlformats.org/drawingml/2006/main">
            <a:off x="609600" y="2752725"/>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6E1CB"/>
                </a:solidFill>
                <a:latin typeface="Aptos"/>
                <a:ea typeface="Aptos"/>
                <a:cs typeface="Aptos"/>
              </a:defRPr>
            </a:pPr>
            <a:r>
              <a:rPr sz="1875" b="1">
                <a:solidFill>
                  <a:srgbClr val="76E1CB"/>
                </a:solidFill>
                <a:latin typeface="Aptos"/>
                <a:ea typeface="Aptos"/>
                <a:cs typeface="Aptos"/>
              </a:rPr>
              <a:t>Adaptive stimulation</a:t>
            </a:r>
          </a:p>
        </p:txBody>
      </p:sp>
      <p:sp>
        <p:nvSpPr>
          <p:cNvPr id="9" name="">
            <a:extLst xmlns:a="http://schemas.openxmlformats.org/drawingml/2006/main">
              <a:ext uri="{FF2B5EF4-FFF2-40B4-BE49-F238E27FC236}">
                <a16:creationId xmlns:a16="http://schemas.microsoft.com/office/drawing/2014/main" id="{0BB2FD5D-45FC-4DE9-B8AE-5947263ED3BA}"/>
              </a:ext>
            </a:extLst>
          </p:cNvPr>
          <p:cNvSpPr>
            <a:spLocks xmlns:a="http://schemas.openxmlformats.org/drawingml/2006/main" noGrp="1"/>
          </p:cNvSpPr>
          <p:nvPr/>
        </p:nvSpPr>
        <p:spPr>
          <a:xfrm xmlns:a="http://schemas.openxmlformats.org/drawingml/2006/main">
            <a:off x="4429125" y="2752725"/>
            <a:ext cx="714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4F2FF"/>
                </a:solidFill>
                <a:latin typeface="Aptos"/>
                <a:ea typeface="Aptos"/>
                <a:cs typeface="Aptos"/>
              </a:defRPr>
            </a:pPr>
            <a:r>
              <a:rPr sz="1875" b="0">
                <a:solidFill>
                  <a:srgbClr val="F4F2FF"/>
                </a:solidFill>
                <a:latin typeface="Aptos"/>
                <a:ea typeface="Aptos"/>
                <a:cs typeface="Aptos"/>
                <a:hlinkClick xmlns:r="http://schemas.openxmlformats.org/officeDocument/2006/relationships" r:id="Rc4000d2bac244195"/>
              </a:rPr>
              <a:t>Oehrn et al. (2024)</a:t>
            </a:r>
          </a:p>
        </p:txBody>
      </p:sp>
      <p:sp>
        <p:nvSpPr>
          <p:cNvPr id="10" name="">
            <a:extLst xmlns:a="http://schemas.openxmlformats.org/drawingml/2006/main">
              <a:ext uri="{FF2B5EF4-FFF2-40B4-BE49-F238E27FC236}">
                <a16:creationId xmlns:a16="http://schemas.microsoft.com/office/drawing/2014/main" id="{1E2F190B-9076-4136-B5F1-3A9D7A3A4543}"/>
              </a:ext>
            </a:extLst>
          </p:cNvPr>
          <p:cNvSpPr>
            <a:spLocks xmlns:a="http://schemas.openxmlformats.org/drawingml/2006/main" noGrp="1"/>
          </p:cNvSpPr>
          <p:nvPr/>
        </p:nvSpPr>
        <p:spPr>
          <a:xfrm xmlns:a="http://schemas.openxmlformats.org/drawingml/2006/main">
            <a:off x="609600" y="3390900"/>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6E1CB"/>
                </a:solidFill>
                <a:latin typeface="Aptos"/>
                <a:ea typeface="Aptos"/>
                <a:cs typeface="Aptos"/>
              </a:defRPr>
            </a:pPr>
            <a:r>
              <a:rPr sz="1875" b="1">
                <a:solidFill>
                  <a:srgbClr val="76E1CB"/>
                </a:solidFill>
                <a:latin typeface="Aptos"/>
                <a:ea typeface="Aptos"/>
                <a:cs typeface="Aptos"/>
              </a:rPr>
              <a:t>Bidirectional BCI</a:t>
            </a:r>
          </a:p>
        </p:txBody>
      </p:sp>
      <p:sp>
        <p:nvSpPr>
          <p:cNvPr id="11" name="">
            <a:extLst xmlns:a="http://schemas.openxmlformats.org/drawingml/2006/main">
              <a:ext uri="{FF2B5EF4-FFF2-40B4-BE49-F238E27FC236}">
                <a16:creationId xmlns:a16="http://schemas.microsoft.com/office/drawing/2014/main" id="{8C26BE3B-35EE-499E-8577-BBC87829C4D6}"/>
              </a:ext>
            </a:extLst>
          </p:cNvPr>
          <p:cNvSpPr>
            <a:spLocks xmlns:a="http://schemas.openxmlformats.org/drawingml/2006/main" noGrp="1"/>
          </p:cNvSpPr>
          <p:nvPr/>
        </p:nvSpPr>
        <p:spPr>
          <a:xfrm xmlns:a="http://schemas.openxmlformats.org/drawingml/2006/main">
            <a:off x="4429125" y="3390900"/>
            <a:ext cx="714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4F2FF"/>
                </a:solidFill>
                <a:latin typeface="Aptos"/>
                <a:ea typeface="Aptos"/>
                <a:cs typeface="Aptos"/>
              </a:defRPr>
            </a:pPr>
            <a:r>
              <a:rPr sz="1875" b="0">
                <a:solidFill>
                  <a:srgbClr val="F4F2FF"/>
                </a:solidFill>
                <a:latin typeface="Aptos"/>
                <a:ea typeface="Aptos"/>
                <a:cs typeface="Aptos"/>
                <a:hlinkClick xmlns:r="http://schemas.openxmlformats.org/officeDocument/2006/relationships" r:id="R1b822fcb73174870"/>
              </a:rPr>
              <a:t>Flesher et al. (2021)</a:t>
            </a:r>
          </a:p>
        </p:txBody>
      </p:sp>
      <p:sp>
        <p:nvSpPr>
          <p:cNvPr id="12" name="">
            <a:extLst xmlns:a="http://schemas.openxmlformats.org/drawingml/2006/main">
              <a:ext uri="{FF2B5EF4-FFF2-40B4-BE49-F238E27FC236}">
                <a16:creationId xmlns:a16="http://schemas.microsoft.com/office/drawing/2014/main" id="{5619A24C-9DE2-4A78-B1BC-CDED7D582399}"/>
              </a:ext>
            </a:extLst>
          </p:cNvPr>
          <p:cNvSpPr>
            <a:spLocks xmlns:a="http://schemas.openxmlformats.org/drawingml/2006/main" noGrp="1"/>
          </p:cNvSpPr>
          <p:nvPr/>
        </p:nvSpPr>
        <p:spPr>
          <a:xfrm xmlns:a="http://schemas.openxmlformats.org/drawingml/2006/main">
            <a:off x="609600" y="4029075"/>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6E1CB"/>
                </a:solidFill>
                <a:latin typeface="Aptos"/>
                <a:ea typeface="Aptos"/>
                <a:cs typeface="Aptos"/>
              </a:defRPr>
            </a:pPr>
            <a:r>
              <a:rPr sz="1875" b="1">
                <a:solidFill>
                  <a:srgbClr val="76E1CB"/>
                </a:solidFill>
                <a:latin typeface="Aptos"/>
                <a:ea typeface="Aptos"/>
                <a:cs typeface="Aptos"/>
              </a:rPr>
              <a:t>Autism stimulation</a:t>
            </a:r>
          </a:p>
        </p:txBody>
      </p:sp>
      <p:sp>
        <p:nvSpPr>
          <p:cNvPr id="13" name="">
            <a:extLst xmlns:a="http://schemas.openxmlformats.org/drawingml/2006/main">
              <a:ext uri="{FF2B5EF4-FFF2-40B4-BE49-F238E27FC236}">
                <a16:creationId xmlns:a16="http://schemas.microsoft.com/office/drawing/2014/main" id="{C5EC2413-D513-4358-9879-5EA6F6A88464}"/>
              </a:ext>
            </a:extLst>
          </p:cNvPr>
          <p:cNvSpPr>
            <a:spLocks xmlns:a="http://schemas.openxmlformats.org/drawingml/2006/main" noGrp="1"/>
          </p:cNvSpPr>
          <p:nvPr/>
        </p:nvSpPr>
        <p:spPr>
          <a:xfrm xmlns:a="http://schemas.openxmlformats.org/drawingml/2006/main">
            <a:off x="4429125" y="4029075"/>
            <a:ext cx="714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4F2FF"/>
                </a:solidFill>
                <a:latin typeface="Aptos"/>
                <a:ea typeface="Aptos"/>
                <a:cs typeface="Aptos"/>
              </a:defRPr>
            </a:pPr>
            <a:r>
              <a:rPr sz="1875" b="0">
                <a:solidFill>
                  <a:srgbClr val="F4F2FF"/>
                </a:solidFill>
                <a:latin typeface="Aptos"/>
                <a:ea typeface="Aptos"/>
                <a:cs typeface="Aptos"/>
                <a:hlinkClick xmlns:r="http://schemas.openxmlformats.org/officeDocument/2006/relationships" r:id="R91b368960082446c"/>
              </a:rPr>
              <a:t>Tan et al. (2026); Ni et al. (2023, 2024)</a:t>
            </a:r>
          </a:p>
        </p:txBody>
      </p:sp>
      <p:sp>
        <p:nvSpPr>
          <p:cNvPr id="14" name="">
            <a:extLst xmlns:a="http://schemas.openxmlformats.org/drawingml/2006/main">
              <a:ext uri="{FF2B5EF4-FFF2-40B4-BE49-F238E27FC236}">
                <a16:creationId xmlns:a16="http://schemas.microsoft.com/office/drawing/2014/main" id="{6840C809-C587-41FA-A1C8-D3D25742C08D}"/>
              </a:ext>
            </a:extLst>
          </p:cNvPr>
          <p:cNvSpPr>
            <a:spLocks xmlns:a="http://schemas.openxmlformats.org/drawingml/2006/main" noGrp="1"/>
          </p:cNvSpPr>
          <p:nvPr/>
        </p:nvSpPr>
        <p:spPr>
          <a:xfrm xmlns:a="http://schemas.openxmlformats.org/drawingml/2006/main">
            <a:off x="609600" y="4667250"/>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6E1CB"/>
                </a:solidFill>
                <a:latin typeface="Aptos"/>
                <a:ea typeface="Aptos"/>
                <a:cs typeface="Aptos"/>
              </a:defRPr>
            </a:pPr>
            <a:r>
              <a:rPr sz="1875" b="1">
                <a:solidFill>
                  <a:srgbClr val="76E1CB"/>
                </a:solidFill>
                <a:latin typeface="Aptos"/>
                <a:ea typeface="Aptos"/>
                <a:cs typeface="Aptos"/>
              </a:rPr>
              <a:t>Industry programs</a:t>
            </a:r>
          </a:p>
        </p:txBody>
      </p:sp>
      <p:sp>
        <p:nvSpPr>
          <p:cNvPr id="15" name="">
            <a:extLst xmlns:a="http://schemas.openxmlformats.org/drawingml/2006/main">
              <a:ext uri="{FF2B5EF4-FFF2-40B4-BE49-F238E27FC236}">
                <a16:creationId xmlns:a16="http://schemas.microsoft.com/office/drawing/2014/main" id="{11ACE676-6F35-4A08-A1D8-2D31B535974C}"/>
              </a:ext>
            </a:extLst>
          </p:cNvPr>
          <p:cNvSpPr>
            <a:spLocks xmlns:a="http://schemas.openxmlformats.org/drawingml/2006/main" noGrp="1"/>
          </p:cNvSpPr>
          <p:nvPr/>
        </p:nvSpPr>
        <p:spPr>
          <a:xfrm xmlns:a="http://schemas.openxmlformats.org/drawingml/2006/main">
            <a:off x="4429125" y="4667250"/>
            <a:ext cx="714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4F2FF"/>
                </a:solidFill>
                <a:latin typeface="Aptos"/>
                <a:ea typeface="Aptos"/>
                <a:cs typeface="Aptos"/>
              </a:defRPr>
            </a:pPr>
            <a:r>
              <a:rPr sz="1875" b="0">
                <a:solidFill>
                  <a:srgbClr val="F4F2FF"/>
                </a:solidFill>
                <a:latin typeface="Aptos"/>
                <a:ea typeface="Aptos"/>
                <a:cs typeface="Aptos"/>
                <a:hlinkClick xmlns:r="http://schemas.openxmlformats.org/officeDocument/2006/relationships" r:id="R9dd56242ca8346c4"/>
              </a:rPr>
              <a:t>Neuralink official trial pages</a:t>
            </a:r>
          </a:p>
        </p:txBody>
      </p:sp>
      <p:sp>
        <p:nvSpPr>
          <p:cNvPr id="16" name="">
            <a:extLst xmlns:a="http://schemas.openxmlformats.org/drawingml/2006/main">
              <a:ext uri="{FF2B5EF4-FFF2-40B4-BE49-F238E27FC236}">
                <a16:creationId xmlns:a16="http://schemas.microsoft.com/office/drawing/2014/main" id="{F65C976B-05DF-41BA-90A1-075B57BEDAD4}"/>
              </a:ext>
            </a:extLst>
          </p:cNvPr>
          <p:cNvSpPr>
            <a:spLocks xmlns:a="http://schemas.openxmlformats.org/drawingml/2006/main" noGrp="1"/>
          </p:cNvSpPr>
          <p:nvPr/>
        </p:nvSpPr>
        <p:spPr>
          <a:xfrm xmlns:a="http://schemas.openxmlformats.org/drawingml/2006/main">
            <a:off x="609600" y="5305425"/>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76E1CB"/>
                </a:solidFill>
                <a:latin typeface="Aptos"/>
                <a:ea typeface="Aptos"/>
                <a:cs typeface="Aptos"/>
              </a:defRPr>
            </a:pPr>
            <a:r>
              <a:rPr sz="1875" b="1">
                <a:solidFill>
                  <a:srgbClr val="76E1CB"/>
                </a:solidFill>
                <a:latin typeface="Aptos"/>
                <a:ea typeface="Aptos"/>
                <a:cs typeface="Aptos"/>
              </a:rPr>
              <a:t>Our research</a:t>
            </a:r>
          </a:p>
        </p:txBody>
      </p:sp>
      <p:sp>
        <p:nvSpPr>
          <p:cNvPr id="17" name="">
            <a:extLst xmlns:a="http://schemas.openxmlformats.org/drawingml/2006/main">
              <a:ext uri="{FF2B5EF4-FFF2-40B4-BE49-F238E27FC236}">
                <a16:creationId xmlns:a16="http://schemas.microsoft.com/office/drawing/2014/main" id="{A350F7F3-9F55-4C9C-91B1-A4227A3668F9}"/>
              </a:ext>
            </a:extLst>
          </p:cNvPr>
          <p:cNvSpPr>
            <a:spLocks xmlns:a="http://schemas.openxmlformats.org/drawingml/2006/main" noGrp="1"/>
          </p:cNvSpPr>
          <p:nvPr/>
        </p:nvSpPr>
        <p:spPr>
          <a:xfrm xmlns:a="http://schemas.openxmlformats.org/drawingml/2006/main">
            <a:off x="4429125" y="5305425"/>
            <a:ext cx="714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4F2FF"/>
                </a:solidFill>
                <a:latin typeface="Aptos"/>
                <a:ea typeface="Aptos"/>
                <a:cs typeface="Aptos"/>
              </a:defRPr>
            </a:pPr>
            <a:r>
              <a:rPr sz="1875" b="0">
                <a:solidFill>
                  <a:srgbClr val="F4F2FF"/>
                </a:solidFill>
                <a:latin typeface="Aptos"/>
                <a:ea typeface="Aptos"/>
                <a:cs typeface="Aptos"/>
                <a:hlinkClick xmlns:r="http://schemas.openxmlformats.org/officeDocument/2006/relationships" r:id="R705fee320b1e4b4e"/>
              </a:rPr>
              <a:t>Manuscript, simulation and interactive lab</a:t>
            </a:r>
          </a:p>
        </p:txBody>
      </p:sp>
    </p:spTree>
    <p:extLst>
      <p:ext uri="{BB962C8B-B14F-4D97-AF65-F5344CB8AC3E}">
        <p14:creationId xmlns:p14="http://schemas.microsoft.com/office/powerpoint/2010/main" val="1725015519"/>
      </p:ext>
    </p:extLst>
  </p:cSld>
</p:sld>
</file>

<file path=ppt/slides/slide13.xml><?xml version="1.0" encoding="utf-8"?>
<p:sld xmlns:p="http://schemas.openxmlformats.org/presentationml/2006/main">
  <p:cSld>
    <p:bg>
      <p:bgPr>
        <a:solidFill xmlns:a="http://schemas.openxmlformats.org/drawingml/2006/main">
          <a:srgbClr val="10102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9B1FB2-E675-40A3-80BF-233BB54998D6}"/>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BD4D7"/>
                </a:solidFill>
                <a:latin typeface="Aptos"/>
                <a:ea typeface="Aptos"/>
                <a:cs typeface="Aptos"/>
              </a:defRPr>
            </a:pPr>
            <a:r>
              <a:rPr sz="1275" b="1">
                <a:solidFill>
                  <a:srgbClr val="7BD4D7"/>
                </a:solidFill>
                <a:latin typeface="Aptos"/>
                <a:ea typeface="Aptos"/>
                <a:cs typeface="Aptos"/>
              </a:rPr>
              <a:t>THE INVITATION</a:t>
            </a:r>
          </a:p>
        </p:txBody>
      </p:sp>
      <p:sp>
        <p:nvSpPr>
          <p:cNvPr id="2" name="">
            <a:extLst xmlns:a="http://schemas.openxmlformats.org/drawingml/2006/main">
              <a:ext uri="{FF2B5EF4-FFF2-40B4-BE49-F238E27FC236}">
                <a16:creationId xmlns:a16="http://schemas.microsoft.com/office/drawing/2014/main" id="{42860DCB-42B8-47AC-8187-B9CFBE8310AE}"/>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8FB"/>
                </a:solidFill>
                <a:latin typeface="Aptos"/>
                <a:ea typeface="Aptos"/>
                <a:cs typeface="Aptos"/>
              </a:defRPr>
            </a:pPr>
            <a:r>
              <a:rPr sz="3600" b="1">
                <a:solidFill>
                  <a:srgbClr val="F4F8FB"/>
                </a:solidFill>
                <a:latin typeface="Aptos"/>
                <a:ea typeface="Aptos"/>
                <a:cs typeface="Aptos"/>
              </a:rPr>
              <a:t>Build support that people choose.</a:t>
            </a:r>
          </a:p>
        </p:txBody>
      </p:sp>
      <p:sp>
        <p:nvSpPr>
          <p:cNvPr id="3" name="">
            <a:extLst xmlns:a="http://schemas.openxmlformats.org/drawingml/2006/main">
              <a:ext uri="{FF2B5EF4-FFF2-40B4-BE49-F238E27FC236}">
                <a16:creationId xmlns:a16="http://schemas.microsoft.com/office/drawing/2014/main" id="{990F47B8-9A20-4CD6-A2E0-EF6BA6A43448}"/>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0445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797285-12FB-43C8-90FD-93453C005525}"/>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9AAEBB"/>
                </a:solidFill>
                <a:latin typeface="Aptos"/>
                <a:ea typeface="Aptos"/>
                <a:cs typeface="Aptos"/>
              </a:defRPr>
            </a:pPr>
            <a:r>
              <a:rPr sz="1125" b="0">
                <a:solidFill>
                  <a:srgbClr val="9AAEBB"/>
                </a:solidFill>
                <a:latin typeface="Aptos"/>
                <a:ea typeface="Aptos"/>
                <a:cs typeface="Aptos"/>
              </a:rPr>
              <a:t>Proposed research program · Clinical benefits remain to be established</a:t>
            </a:r>
          </a:p>
        </p:txBody>
      </p:sp>
      <p:sp>
        <p:nvSpPr>
          <p:cNvPr id="5" name="">
            <a:extLst xmlns:a="http://schemas.openxmlformats.org/drawingml/2006/main">
              <a:ext uri="{FF2B5EF4-FFF2-40B4-BE49-F238E27FC236}">
                <a16:creationId xmlns:a16="http://schemas.microsoft.com/office/drawing/2014/main" id="{6DBB0E08-7030-4D65-8D63-B9EE07DE9160}"/>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8CBD6"/>
                </a:solidFill>
                <a:latin typeface="Aptos"/>
                <a:ea typeface="Aptos"/>
                <a:cs typeface="Aptos"/>
              </a:defRPr>
            </a:pPr>
            <a:r>
              <a:rPr sz="1275" b="0">
                <a:solidFill>
                  <a:srgbClr val="B8CBD6"/>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E5F1409A-AF9F-451E-BA60-1F9EF9BAFEA9}"/>
              </a:ext>
            </a:extLst>
          </p:cNvPr>
          <p:cNvSpPr>
            <a:spLocks xmlns:a="http://schemas.openxmlformats.org/drawingml/2006/main" noGrp="1"/>
          </p:cNvSpPr>
          <p:nvPr/>
        </p:nvSpPr>
        <p:spPr>
          <a:xfrm xmlns:a="http://schemas.openxmlformats.org/drawingml/2006/main">
            <a:off x="609600" y="2305050"/>
            <a:ext cx="10572750" cy="2390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F6F4FF"/>
                </a:solidFill>
                <a:latin typeface="Aptos"/>
                <a:ea typeface="Aptos"/>
                <a:cs typeface="Aptos"/>
              </a:defRPr>
            </a:pPr>
            <a:r>
              <a:rPr sz="4425" b="1">
                <a:solidFill>
                  <a:srgbClr val="F6F4FF"/>
                </a:solidFill>
                <a:latin typeface="Aptos"/>
                <a:ea typeface="Aptos"/>
                <a:cs typeface="Aptos"/>
              </a:rPr>
              <a:t>Start with their goals.</a:t>
            </a:r>
          </a:p>
          <a:p xmlns:a="http://schemas.openxmlformats.org/drawingml/2006/main">
            <a:pPr algn="l">
              <a:defRPr sz="4425" b="1">
                <a:solidFill>
                  <a:srgbClr val="F6F4FF"/>
                </a:solidFill>
                <a:latin typeface="Aptos"/>
                <a:ea typeface="Aptos"/>
                <a:cs typeface="Aptos"/>
              </a:defRPr>
            </a:pPr>
            <a:r>
              <a:rPr sz="4425" b="1">
                <a:solidFill>
                  <a:srgbClr val="F6F4FF"/>
                </a:solidFill>
                <a:latin typeface="Aptos"/>
                <a:ea typeface="Aptos"/>
                <a:cs typeface="Aptos"/>
              </a:rPr>
              <a:t>Test the mechanism.</a:t>
            </a:r>
          </a:p>
          <a:p xmlns:a="http://schemas.openxmlformats.org/drawingml/2006/main">
            <a:pPr algn="l">
              <a:defRPr sz="4425" b="1">
                <a:solidFill>
                  <a:srgbClr val="F6F4FF"/>
                </a:solidFill>
                <a:latin typeface="Aptos"/>
                <a:ea typeface="Aptos"/>
                <a:cs typeface="Aptos"/>
              </a:defRPr>
            </a:pPr>
            <a:r>
              <a:rPr sz="4425" b="1">
                <a:solidFill>
                  <a:srgbClr val="F6F4FF"/>
                </a:solidFill>
                <a:latin typeface="Aptos"/>
                <a:ea typeface="Aptos"/>
                <a:cs typeface="Aptos"/>
              </a:rPr>
              <a:t>Earn the benefit claim.</a:t>
            </a:r>
          </a:p>
        </p:txBody>
      </p:sp>
      <p:sp>
        <p:nvSpPr>
          <p:cNvPr id="7" name="">
            <a:extLst xmlns:a="http://schemas.openxmlformats.org/drawingml/2006/main">
              <a:ext uri="{FF2B5EF4-FFF2-40B4-BE49-F238E27FC236}">
                <a16:creationId xmlns:a16="http://schemas.microsoft.com/office/drawing/2014/main" id="{ECB55B48-8C0A-4988-AFCD-16CE225A8135}"/>
              </a:ext>
            </a:extLst>
          </p:cNvPr>
          <p:cNvSpPr>
            <a:spLocks xmlns:a="http://schemas.openxmlformats.org/drawingml/2006/main" noGrp="1"/>
          </p:cNvSpPr>
          <p:nvPr/>
        </p:nvSpPr>
        <p:spPr>
          <a:xfrm xmlns:a="http://schemas.openxmlformats.org/drawingml/2006/main">
            <a:off x="609600" y="53911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9DE3D4"/>
                </a:solidFill>
                <a:latin typeface="Aptos"/>
                <a:ea typeface="Aptos"/>
                <a:cs typeface="Aptos"/>
              </a:defRPr>
            </a:pPr>
            <a:r>
              <a:rPr sz="2325" b="0">
                <a:solidFill>
                  <a:srgbClr val="9DE3D4"/>
                </a:solidFill>
                <a:latin typeface="Aptos"/>
                <a:ea typeface="Aptos"/>
                <a:cs typeface="Aptos"/>
              </a:rPr>
              <a:t>A responsible path toward person-specific neural support.</a:t>
            </a:r>
          </a:p>
        </p:txBody>
      </p:sp>
    </p:spTree>
    <p:extLst>
      <p:ext uri="{BB962C8B-B14F-4D97-AF65-F5344CB8AC3E}">
        <p14:creationId xmlns:p14="http://schemas.microsoft.com/office/powerpoint/2010/main" val="452329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2026-09-07T03:15:16.7620000Z</dcterms:created>
  <dcterms:modified xsi:type="dcterms:W3CDTF">2026-09-07T03:15:16.7620000Z</dcterms:modified>
</coreProperties>
</file>